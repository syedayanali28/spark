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slideLayouts/slideLayout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0" r:id="rId4"/>
    <p:sldMasterId id="2147483672" r:id="rId5"/>
    <p:sldMasterId id="2147483693" r:id="rId6"/>
  </p:sldMasterIdLst>
  <p:notesMasterIdLst>
    <p:notesMasterId r:id="rId20"/>
  </p:notesMasterIdLst>
  <p:sldIdLst>
    <p:sldId id="257" r:id="rId7"/>
    <p:sldId id="325" r:id="rId8"/>
    <p:sldId id="327" r:id="rId9"/>
    <p:sldId id="336" r:id="rId10"/>
    <p:sldId id="334" r:id="rId11"/>
    <p:sldId id="335" r:id="rId12"/>
    <p:sldId id="328" r:id="rId13"/>
    <p:sldId id="330" r:id="rId14"/>
    <p:sldId id="329" r:id="rId15"/>
    <p:sldId id="332" r:id="rId16"/>
    <p:sldId id="331" r:id="rId17"/>
    <p:sldId id="326" r:id="rId18"/>
    <p:sldId id="333" r:id="rId19"/>
  </p:sldIdLst>
  <p:sldSz cx="12192000" cy="6858000"/>
  <p:notesSz cx="6669088"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YEUNG Tsz-kiu, Lance" initials="YTL" lastIdx="1" clrIdx="0">
    <p:extLst>
      <p:ext uri="{19B8F6BF-5375-455C-9EA6-DF929625EA0E}">
        <p15:presenceInfo xmlns:p15="http://schemas.microsoft.com/office/powerpoint/2012/main" userId="YEUNG Tsz-kiu, Lance" providerId="None"/>
      </p:ext>
    </p:extLst>
  </p:cmAuthor>
  <p:cmAuthor id="2" name="LI Ka-man, Steve" initials="LKS" lastIdx="4" clrIdx="1">
    <p:extLst>
      <p:ext uri="{19B8F6BF-5375-455C-9EA6-DF929625EA0E}">
        <p15:presenceInfo xmlns:p15="http://schemas.microsoft.com/office/powerpoint/2012/main" userId="S-1-5-21-55129486-1200372844-1231754661-7064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4D0F5A"/>
    <a:srgbClr val="2B0832"/>
    <a:srgbClr val="F0CDF7"/>
    <a:srgbClr val="F4DBF9"/>
    <a:srgbClr val="FF6699"/>
    <a:srgbClr val="FF6161"/>
    <a:srgbClr val="5B9BD5"/>
    <a:srgbClr val="ED7D31"/>
    <a:srgbClr val="FFF2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72" autoAdjust="0"/>
    <p:restoredTop sz="95245" autoAdjust="0"/>
  </p:normalViewPr>
  <p:slideViewPr>
    <p:cSldViewPr snapToGrid="0">
      <p:cViewPr varScale="1">
        <p:scale>
          <a:sx n="73" d="100"/>
          <a:sy n="73" d="100"/>
        </p:scale>
        <p:origin x="54" y="300"/>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1" d="100"/>
          <a:sy n="81" d="100"/>
        </p:scale>
        <p:origin x="4026"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viewProps" Target="viewProps.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889938" cy="498056"/>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777607" y="0"/>
            <a:ext cx="2889938" cy="498056"/>
          </a:xfrm>
          <a:prstGeom prst="rect">
            <a:avLst/>
          </a:prstGeom>
        </p:spPr>
        <p:txBody>
          <a:bodyPr vert="horz" lIns="91440" tIns="45720" rIns="91440" bIns="45720" rtlCol="0"/>
          <a:lstStyle>
            <a:lvl1pPr algn="r">
              <a:defRPr sz="1200"/>
            </a:lvl1pPr>
          </a:lstStyle>
          <a:p>
            <a:fld id="{F56D28B3-526A-47AA-B5EC-A21914377331}" type="datetimeFigureOut">
              <a:rPr lang="en-GB" smtClean="0"/>
              <a:t>14/01/2026</a:t>
            </a:fld>
            <a:endParaRPr lang="en-GB"/>
          </a:p>
        </p:txBody>
      </p:sp>
      <p:sp>
        <p:nvSpPr>
          <p:cNvPr id="4" name="Slide Image Placeholder 3"/>
          <p:cNvSpPr>
            <a:spLocks noGrp="1" noRot="1" noChangeAspect="1"/>
          </p:cNvSpPr>
          <p:nvPr>
            <p:ph type="sldImg" idx="2"/>
          </p:nvPr>
        </p:nvSpPr>
        <p:spPr>
          <a:xfrm>
            <a:off x="357188" y="1241425"/>
            <a:ext cx="5954712" cy="334962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66909" y="4777194"/>
            <a:ext cx="5335270" cy="3908614"/>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428584"/>
            <a:ext cx="2889938" cy="498055"/>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777607" y="9428584"/>
            <a:ext cx="2889938" cy="498055"/>
          </a:xfrm>
          <a:prstGeom prst="rect">
            <a:avLst/>
          </a:prstGeom>
        </p:spPr>
        <p:txBody>
          <a:bodyPr vert="horz" lIns="91440" tIns="45720" rIns="91440" bIns="45720" rtlCol="0" anchor="b"/>
          <a:lstStyle>
            <a:lvl1pPr algn="r">
              <a:defRPr sz="1200"/>
            </a:lvl1pPr>
          </a:lstStyle>
          <a:p>
            <a:fld id="{B5CF19B0-97DC-4071-955D-3B394757EA28}" type="slidenum">
              <a:rPr lang="en-GB" smtClean="0"/>
              <a:t>‹#›</a:t>
            </a:fld>
            <a:endParaRPr lang="en-GB"/>
          </a:p>
        </p:txBody>
      </p:sp>
    </p:spTree>
    <p:extLst>
      <p:ext uri="{BB962C8B-B14F-4D97-AF65-F5344CB8AC3E}">
        <p14:creationId xmlns:p14="http://schemas.microsoft.com/office/powerpoint/2010/main" val="27517149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B5CF19B0-97DC-4071-955D-3B394757EA28}" type="slidenum">
              <a:rPr lang="en-GB" smtClean="0"/>
              <a:t>1</a:t>
            </a:fld>
            <a:endParaRPr lang="en-GB"/>
          </a:p>
        </p:txBody>
      </p:sp>
    </p:spTree>
    <p:extLst>
      <p:ext uri="{BB962C8B-B14F-4D97-AF65-F5344CB8AC3E}">
        <p14:creationId xmlns:p14="http://schemas.microsoft.com/office/powerpoint/2010/main" val="35225282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B5CF19B0-97DC-4071-955D-3B394757EA28}" type="slidenum">
              <a:rPr lang="en-GB" smtClean="0"/>
              <a:t>8</a:t>
            </a:fld>
            <a:endParaRPr lang="en-GB"/>
          </a:p>
        </p:txBody>
      </p:sp>
    </p:spTree>
    <p:extLst>
      <p:ext uri="{BB962C8B-B14F-4D97-AF65-F5344CB8AC3E}">
        <p14:creationId xmlns:p14="http://schemas.microsoft.com/office/powerpoint/2010/main" val="9085579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HKMA_Alumni_Master">
    <p:spTree>
      <p:nvGrpSpPr>
        <p:cNvPr id="1" name=""/>
        <p:cNvGrpSpPr/>
        <p:nvPr/>
      </p:nvGrpSpPr>
      <p:grpSpPr>
        <a:xfrm>
          <a:off x="0" y="0"/>
          <a:ext cx="0" cy="0"/>
          <a:chOff x="0" y="0"/>
          <a:chExt cx="0" cy="0"/>
        </a:xfrm>
      </p:grpSpPr>
      <p:sp>
        <p:nvSpPr>
          <p:cNvPr id="4" name="Title Placeholder 3"/>
          <p:cNvSpPr>
            <a:spLocks noGrp="1"/>
          </p:cNvSpPr>
          <p:nvPr>
            <p:ph type="title"/>
          </p:nvPr>
        </p:nvSpPr>
        <p:spPr>
          <a:xfrm>
            <a:off x="687794" y="575732"/>
            <a:ext cx="10515600" cy="699233"/>
          </a:xfrm>
          <a:prstGeom prst="rect">
            <a:avLst/>
          </a:prstGeom>
        </p:spPr>
        <p:txBody>
          <a:bodyPr vert="horz" lIns="0" tIns="45720" rIns="91440" bIns="45720" rtlCol="0" anchor="ctr">
            <a:normAutofit/>
          </a:bodyPr>
          <a:lstStyle/>
          <a:p>
            <a:r>
              <a:rPr lang="en-US" dirty="0"/>
              <a:t>Click to edit Master title style</a:t>
            </a:r>
            <a:endParaRPr lang="en-GB" dirty="0"/>
          </a:p>
        </p:txBody>
      </p:sp>
      <p:sp>
        <p:nvSpPr>
          <p:cNvPr id="8" name="Slide Number Placeholder 4"/>
          <p:cNvSpPr>
            <a:spLocks noGrp="1"/>
          </p:cNvSpPr>
          <p:nvPr>
            <p:ph type="sldNum" sz="quarter" idx="4"/>
          </p:nvPr>
        </p:nvSpPr>
        <p:spPr>
          <a:xfrm>
            <a:off x="11001226" y="6494935"/>
            <a:ext cx="494774" cy="226540"/>
          </a:xfrm>
          <a:prstGeom prst="rect">
            <a:avLst/>
          </a:prstGeom>
        </p:spPr>
        <p:txBody>
          <a:bodyPr rIns="0" bIns="0"/>
          <a:lstStyle>
            <a:lvl1pPr algn="r">
              <a:defRPr sz="1000"/>
            </a:lvl1pPr>
          </a:lstStyle>
          <a:p>
            <a:fld id="{48DADE71-9DE0-42B0-A997-1FD62D0B94EA}" type="slidenum">
              <a:rPr lang="en-GB" smtClean="0"/>
              <a:pPr/>
              <a:t>‹#›</a:t>
            </a:fld>
            <a:endParaRPr lang="en-GB" dirty="0"/>
          </a:p>
        </p:txBody>
      </p:sp>
      <p:sp>
        <p:nvSpPr>
          <p:cNvPr id="9" name="Footer Placeholder 3"/>
          <p:cNvSpPr>
            <a:spLocks noGrp="1"/>
          </p:cNvSpPr>
          <p:nvPr>
            <p:ph type="ftr" sz="quarter" idx="3"/>
          </p:nvPr>
        </p:nvSpPr>
        <p:spPr>
          <a:xfrm>
            <a:off x="4038600" y="6356350"/>
            <a:ext cx="6621162" cy="365125"/>
          </a:xfrm>
          <a:prstGeom prst="rect">
            <a:avLst/>
          </a:prstGeom>
        </p:spPr>
        <p:txBody>
          <a:bodyPr/>
          <a:lstStyle>
            <a:lvl1pPr>
              <a:defRPr sz="1000"/>
            </a:lvl1pPr>
          </a:lstStyle>
          <a:p>
            <a:endParaRPr lang="en-GB" dirty="0"/>
          </a:p>
        </p:txBody>
      </p:sp>
    </p:spTree>
    <p:extLst>
      <p:ext uri="{BB962C8B-B14F-4D97-AF65-F5344CB8AC3E}">
        <p14:creationId xmlns:p14="http://schemas.microsoft.com/office/powerpoint/2010/main" val="19401858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8" name="Slide Number Placeholder 4"/>
          <p:cNvSpPr>
            <a:spLocks noGrp="1"/>
          </p:cNvSpPr>
          <p:nvPr>
            <p:ph type="sldNum" sz="quarter" idx="4"/>
          </p:nvPr>
        </p:nvSpPr>
        <p:spPr>
          <a:xfrm>
            <a:off x="11001226" y="6494935"/>
            <a:ext cx="494774" cy="226540"/>
          </a:xfrm>
          <a:prstGeom prst="rect">
            <a:avLst/>
          </a:prstGeom>
        </p:spPr>
        <p:txBody>
          <a:bodyPr rIns="0" bIns="0"/>
          <a:lstStyle>
            <a:lvl1pPr algn="r">
              <a:defRPr sz="1000"/>
            </a:lvl1pPr>
          </a:lstStyle>
          <a:p>
            <a:fld id="{48DADE71-9DE0-42B0-A997-1FD62D0B94EA}" type="slidenum">
              <a:rPr lang="en-GB" smtClean="0"/>
              <a:pPr/>
              <a:t>‹#›</a:t>
            </a:fld>
            <a:endParaRPr lang="en-GB" dirty="0"/>
          </a:p>
        </p:txBody>
      </p:sp>
      <p:sp>
        <p:nvSpPr>
          <p:cNvPr id="9" name="Title Placeholder 1"/>
          <p:cNvSpPr>
            <a:spLocks noGrp="1"/>
          </p:cNvSpPr>
          <p:nvPr>
            <p:ph type="title"/>
          </p:nvPr>
        </p:nvSpPr>
        <p:spPr>
          <a:xfrm>
            <a:off x="1066259" y="4661961"/>
            <a:ext cx="10515600" cy="1458127"/>
          </a:xfrm>
          <a:prstGeom prst="rect">
            <a:avLst/>
          </a:prstGeom>
        </p:spPr>
        <p:txBody>
          <a:bodyPr vert="horz" lIns="91440" tIns="45720" rIns="91440" bIns="45720" rtlCol="0" anchor="ctr">
            <a:normAutofit/>
          </a:bodyPr>
          <a:lstStyle/>
          <a:p>
            <a:endParaRPr lang="en-GB" dirty="0"/>
          </a:p>
        </p:txBody>
      </p:sp>
    </p:spTree>
    <p:extLst>
      <p:ext uri="{BB962C8B-B14F-4D97-AF65-F5344CB8AC3E}">
        <p14:creationId xmlns:p14="http://schemas.microsoft.com/office/powerpoint/2010/main" val="179715986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3.xml"/><Relationship Id="rId1" Type="http://schemas.openxmlformats.org/officeDocument/2006/relationships/slideLayout" Target="../slideLayouts/slideLayout2.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00E015B-4803-4694-8C74-C42F8955ADDF}" type="datetimeFigureOut">
              <a:rPr lang="en-GB" smtClean="0"/>
              <a:t>14/01/2026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32F46AC-5DE5-41C4-B71A-202564E1F9A4}" type="slidenum">
              <a:rPr lang="en-GB" smtClean="0"/>
              <a:t>‹#›</a:t>
            </a:fld>
            <a:endParaRPr lang="en-GB"/>
          </a:p>
        </p:txBody>
      </p:sp>
    </p:spTree>
    <p:extLst>
      <p:ext uri="{BB962C8B-B14F-4D97-AF65-F5344CB8AC3E}">
        <p14:creationId xmlns:p14="http://schemas.microsoft.com/office/powerpoint/2010/main" val="3038183686"/>
      </p:ext>
    </p:extLst>
  </p:cSld>
  <p:clrMap bg1="lt1" tx1="dk1" bg2="lt2" tx2="dk2" accent1="accent1" accent2="accent2" accent3="accent3" accent4="accent4" accent5="accent5" accent6="accent6" hlink="hlink" folHlink="folHlink"/>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3"/>
          <a:stretch>
            <a:fillRect/>
          </a:stretch>
        </p:blipFill>
        <p:spPr>
          <a:xfrm>
            <a:off x="38101" y="6313300"/>
            <a:ext cx="3012140" cy="544699"/>
          </a:xfrm>
          <a:prstGeom prst="rect">
            <a:avLst/>
          </a:prstGeom>
        </p:spPr>
      </p:pic>
      <p:pic>
        <p:nvPicPr>
          <p:cNvPr id="9" name="Picture 8"/>
          <p:cNvPicPr>
            <a:picLocks noChangeAspect="1"/>
          </p:cNvPicPr>
          <p:nvPr userDrawn="1"/>
        </p:nvPicPr>
        <p:blipFill>
          <a:blip r:embed="rId4"/>
          <a:stretch>
            <a:fillRect/>
          </a:stretch>
        </p:blipFill>
        <p:spPr>
          <a:xfrm>
            <a:off x="1" y="0"/>
            <a:ext cx="12191999" cy="1331059"/>
          </a:xfrm>
          <a:prstGeom prst="rect">
            <a:avLst/>
          </a:prstGeom>
        </p:spPr>
      </p:pic>
      <p:sp>
        <p:nvSpPr>
          <p:cNvPr id="10" name="Footer Placeholder 3"/>
          <p:cNvSpPr>
            <a:spLocks noGrp="1"/>
          </p:cNvSpPr>
          <p:nvPr>
            <p:ph type="ftr" sz="quarter" idx="3"/>
          </p:nvPr>
        </p:nvSpPr>
        <p:spPr>
          <a:xfrm>
            <a:off x="4038600" y="6356350"/>
            <a:ext cx="6621162" cy="365125"/>
          </a:xfrm>
          <a:prstGeom prst="rect">
            <a:avLst/>
          </a:prstGeom>
        </p:spPr>
        <p:txBody>
          <a:bodyPr/>
          <a:lstStyle>
            <a:lvl1pPr>
              <a:defRPr sz="1000"/>
            </a:lvl1pPr>
          </a:lstStyle>
          <a:p>
            <a:endParaRPr lang="en-GB" dirty="0"/>
          </a:p>
        </p:txBody>
      </p:sp>
      <p:sp>
        <p:nvSpPr>
          <p:cNvPr id="4" name="Title Placeholder 3"/>
          <p:cNvSpPr>
            <a:spLocks noGrp="1"/>
          </p:cNvSpPr>
          <p:nvPr>
            <p:ph type="title"/>
          </p:nvPr>
        </p:nvSpPr>
        <p:spPr>
          <a:xfrm>
            <a:off x="687794" y="575732"/>
            <a:ext cx="10515600" cy="699233"/>
          </a:xfrm>
          <a:prstGeom prst="rect">
            <a:avLst/>
          </a:prstGeom>
        </p:spPr>
        <p:txBody>
          <a:bodyPr vert="horz" lIns="0" tIns="45720" rIns="91440" bIns="45720" rtlCol="0" anchor="ctr">
            <a:normAutofit/>
          </a:bodyPr>
          <a:lstStyle/>
          <a:p>
            <a:r>
              <a:rPr lang="en-US" dirty="0"/>
              <a:t>Click to edit Master title style</a:t>
            </a:r>
            <a:endParaRPr lang="en-GB" dirty="0"/>
          </a:p>
        </p:txBody>
      </p:sp>
      <p:sp>
        <p:nvSpPr>
          <p:cNvPr id="11" name="Slide Number Placeholder 4"/>
          <p:cNvSpPr>
            <a:spLocks noGrp="1"/>
          </p:cNvSpPr>
          <p:nvPr>
            <p:ph type="sldNum" sz="quarter" idx="4"/>
          </p:nvPr>
        </p:nvSpPr>
        <p:spPr>
          <a:xfrm>
            <a:off x="11001226" y="6494935"/>
            <a:ext cx="494774" cy="226540"/>
          </a:xfrm>
          <a:prstGeom prst="rect">
            <a:avLst/>
          </a:prstGeom>
        </p:spPr>
        <p:txBody>
          <a:bodyPr rIns="0" bIns="0"/>
          <a:lstStyle>
            <a:lvl1pPr algn="r">
              <a:defRPr sz="1000"/>
            </a:lvl1pPr>
          </a:lstStyle>
          <a:p>
            <a:fld id="{48DADE71-9DE0-42B0-A997-1FD62D0B94EA}" type="slidenum">
              <a:rPr lang="en-GB" smtClean="0"/>
              <a:pPr/>
              <a:t>‹#›</a:t>
            </a:fld>
            <a:endParaRPr lang="en-GB" dirty="0"/>
          </a:p>
        </p:txBody>
      </p:sp>
    </p:spTree>
    <p:extLst>
      <p:ext uri="{BB962C8B-B14F-4D97-AF65-F5344CB8AC3E}">
        <p14:creationId xmlns:p14="http://schemas.microsoft.com/office/powerpoint/2010/main" val="1406800185"/>
      </p:ext>
    </p:extLst>
  </p:cSld>
  <p:clrMap bg1="lt1" tx1="dk1" bg2="lt2" tx2="dk2" accent1="accent1" accent2="accent2" accent3="accent3" accent4="accent4" accent5="accent5" accent6="accent6" hlink="hlink" folHlink="folHlink"/>
  <p:sldLayoutIdLst>
    <p:sldLayoutId id="2147483678" r:id="rId1"/>
  </p:sldLayoutIdLst>
  <p:txStyles>
    <p:titleStyle>
      <a:lvl1pPr marL="0" marR="0" indent="0" algn="l" defTabSz="914400" rtl="0" eaLnBrk="1" fontAlgn="auto" latinLnBrk="0" hangingPunct="1">
        <a:lnSpc>
          <a:spcPct val="100000"/>
        </a:lnSpc>
        <a:spcBef>
          <a:spcPts val="0"/>
        </a:spcBef>
        <a:spcAft>
          <a:spcPts val="0"/>
        </a:spcAft>
        <a:buClrTx/>
        <a:buSzTx/>
        <a:buFontTx/>
        <a:buNone/>
        <a:tabLst/>
        <a:defRPr sz="2400" b="1" i="0" u="none" kern="1200">
          <a:solidFill>
            <a:schemeClr val="bg1"/>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3"/>
          <a:stretch>
            <a:fillRect/>
          </a:stretch>
        </p:blipFill>
        <p:spPr>
          <a:xfrm>
            <a:off x="0" y="0"/>
            <a:ext cx="12192000" cy="4453666"/>
          </a:xfrm>
          <a:prstGeom prst="rect">
            <a:avLst/>
          </a:prstGeom>
        </p:spPr>
      </p:pic>
      <p:pic>
        <p:nvPicPr>
          <p:cNvPr id="10" name="Picture 9"/>
          <p:cNvPicPr>
            <a:picLocks noChangeAspect="1"/>
          </p:cNvPicPr>
          <p:nvPr userDrawn="1"/>
        </p:nvPicPr>
        <p:blipFill>
          <a:blip r:embed="rId4"/>
          <a:stretch>
            <a:fillRect/>
          </a:stretch>
        </p:blipFill>
        <p:spPr>
          <a:xfrm>
            <a:off x="38101" y="6313300"/>
            <a:ext cx="3012140" cy="544699"/>
          </a:xfrm>
          <a:prstGeom prst="rect">
            <a:avLst/>
          </a:prstGeom>
        </p:spPr>
      </p:pic>
      <p:sp>
        <p:nvSpPr>
          <p:cNvPr id="12" name="Slide Number Placeholder 4"/>
          <p:cNvSpPr>
            <a:spLocks noGrp="1"/>
          </p:cNvSpPr>
          <p:nvPr>
            <p:ph type="sldNum" sz="quarter" idx="4"/>
          </p:nvPr>
        </p:nvSpPr>
        <p:spPr>
          <a:xfrm>
            <a:off x="11001226" y="6494935"/>
            <a:ext cx="494774" cy="226540"/>
          </a:xfrm>
          <a:prstGeom prst="rect">
            <a:avLst/>
          </a:prstGeom>
        </p:spPr>
        <p:txBody>
          <a:bodyPr rIns="0" bIns="0"/>
          <a:lstStyle>
            <a:lvl1pPr algn="r">
              <a:defRPr sz="1000"/>
            </a:lvl1pPr>
          </a:lstStyle>
          <a:p>
            <a:fld id="{48DADE71-9DE0-42B0-A997-1FD62D0B94EA}" type="slidenum">
              <a:rPr lang="en-GB" smtClean="0"/>
              <a:pPr/>
              <a:t>‹#›</a:t>
            </a:fld>
            <a:endParaRPr lang="en-GB" dirty="0"/>
          </a:p>
        </p:txBody>
      </p:sp>
      <p:sp>
        <p:nvSpPr>
          <p:cNvPr id="2" name="Title Placeholder 1"/>
          <p:cNvSpPr>
            <a:spLocks noGrp="1"/>
          </p:cNvSpPr>
          <p:nvPr>
            <p:ph type="title"/>
          </p:nvPr>
        </p:nvSpPr>
        <p:spPr>
          <a:xfrm>
            <a:off x="1066259" y="4661961"/>
            <a:ext cx="10515600" cy="1458127"/>
          </a:xfrm>
          <a:prstGeom prst="rect">
            <a:avLst/>
          </a:prstGeom>
        </p:spPr>
        <p:txBody>
          <a:bodyPr vert="horz" lIns="91440" tIns="45720" rIns="91440" bIns="45720" rtlCol="0" anchor="ctr">
            <a:normAutofit/>
          </a:bodyPr>
          <a:lstStyle/>
          <a:p>
            <a:endParaRPr lang="en-GB" dirty="0"/>
          </a:p>
        </p:txBody>
      </p:sp>
    </p:spTree>
    <p:extLst>
      <p:ext uri="{BB962C8B-B14F-4D97-AF65-F5344CB8AC3E}">
        <p14:creationId xmlns:p14="http://schemas.microsoft.com/office/powerpoint/2010/main" val="3594919060"/>
      </p:ext>
    </p:extLst>
  </p:cSld>
  <p:clrMap bg1="lt1" tx1="dk1" bg2="lt2" tx2="dk2" accent1="accent1" accent2="accent2" accent3="accent3" accent4="accent4" accent5="accent5" accent6="accent6" hlink="hlink" folHlink="folHlink"/>
  <p:sldLayoutIdLst>
    <p:sldLayoutId id="2147483694" r:id="rId1"/>
  </p:sldLayoutIdLst>
  <p:txStyles>
    <p:titleStyle>
      <a:lvl1pPr algn="r" defTabSz="914400" rtl="0" eaLnBrk="1" latinLnBrk="0" hangingPunct="1">
        <a:lnSpc>
          <a:spcPct val="90000"/>
        </a:lnSpc>
        <a:spcBef>
          <a:spcPct val="0"/>
        </a:spcBef>
        <a:buNone/>
        <a:defRPr sz="3200" b="1" kern="1200">
          <a:solidFill>
            <a:schemeClr val="tx1"/>
          </a:solidFill>
          <a:latin typeface="+mn-lt"/>
          <a:ea typeface="+mj-ea"/>
          <a:cs typeface="+mj-cs"/>
        </a:defRPr>
      </a:lvl1pPr>
    </p:titleStyle>
    <p:bodyStyle>
      <a:lvl1pPr marL="228600" indent="-228600" algn="r"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hyperlink" Target="https://confluence.intra.hkma.gov.hk/download/attachments/33852221/SOP%2010a-h%20-%20Metadata%20Management%20v1.9_20230629.pdf" TargetMode="External"/><Relationship Id="rId2" Type="http://schemas.openxmlformats.org/officeDocument/2006/relationships/hyperlink" Target="https://confluence.intra.hkma.gov.hk/download/attachments/33852221/HKMA%20Data%20Policy%20v1.14.pdf" TargetMode="Externa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hyperlink" Target="https://confluence.intra.hkma.gov.hk/download/attachments/33852221/SOP%208a-d%20Data%20Security%20and%20Protection%20v2.0_2024-05-21%20(Endorsed).pdf"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hyperlink" Target="https://www.pcpd.org.hk/english/data_privacy_law/ordinance_at_a_Glance/ordinance.html" TargetMode="External"/></Relationships>
</file>

<file path=ppt/slides/_rels/slide9.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hyperlink" Target="https://confluence.intra.hkma.gov.hk/download/attachments/33852221/SOP%206a-b%20Data%20Access%20v1.3_2023-09-06%20(Endorsed).pdf" TargetMode="Externa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hyperlink" Target="https://confluence.intra.hkma.gov.hk/download/attachments/33852221/SOP%209a-d%20Data%20Publishing%20%20v1.0_2023-11-14%20(Endorsed).pdf" TargetMode="Externa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hyperlink" Target="https://confluence.intra.hkma.gov.hk/download/attachments/116855029/Consolidated%20CDE%20List%20v6.0%20-%20CDE%20Stock-take%20Exercise.xlsx?version=1&amp;modificationDate=1716266134498&amp;api=v2" TargetMode="External"/><Relationship Id="rId2" Type="http://schemas.openxmlformats.org/officeDocument/2006/relationships/hyperlink" Target="https://confluence.intra.hkma.gov.hk/download/attachments/33852221/SOP%2010a-h%20-%20Metadata%20Management%20v1.9_20230629.pdf" TargetMode="Externa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xml"/><Relationship Id="rId1" Type="http://schemas.openxmlformats.org/officeDocument/2006/relationships/vmlDrawing" Target="../drawings/vmlDrawing1.vml"/><Relationship Id="rId4" Type="http://schemas.openxmlformats.org/officeDocument/2006/relationships/image" Target="../media/image13.wmf"/></Relationships>
</file>

<file path=ppt/slides/_rels/slide13.xml.rels><?xml version="1.0" encoding="UTF-8" standalone="yes"?>
<Relationships xmlns="http://schemas.openxmlformats.org/package/2006/relationships"><Relationship Id="rId3" Type="http://schemas.openxmlformats.org/officeDocument/2006/relationships/hyperlink" Target="mailto:dgt@hkma.gov.hk" TargetMode="External"/><Relationship Id="rId2" Type="http://schemas.openxmlformats.org/officeDocument/2006/relationships/hyperlink" Target="https://confluence.intra.hkma.gov.hk/display/DG/Data+Governance+Review" TargetMode="External"/><Relationship Id="rId1" Type="http://schemas.openxmlformats.org/officeDocument/2006/relationships/slideLayout" Target="../slideLayouts/slideLayout1.xml"/><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normAutofit/>
          </a:bodyPr>
          <a:lstStyle/>
          <a:p>
            <a:r>
              <a:rPr lang="en-GB" dirty="0">
                <a:solidFill>
                  <a:srgbClr val="4D0F5A"/>
                </a:solidFill>
                <a:latin typeface="Times New Roman" panose="02020603050405020304" pitchFamily="18" charset="0"/>
                <a:cs typeface="Times New Roman" panose="02020603050405020304" pitchFamily="18" charset="0"/>
              </a:rPr>
              <a:t>Data Governance Review for</a:t>
            </a:r>
            <a:br>
              <a:rPr lang="en-GB" dirty="0">
                <a:latin typeface="Times New Roman" panose="02020603050405020304" pitchFamily="18" charset="0"/>
                <a:cs typeface="Times New Roman" panose="02020603050405020304" pitchFamily="18" charset="0"/>
              </a:rPr>
            </a:br>
            <a:r>
              <a:rPr lang="en-GB" dirty="0">
                <a:latin typeface="Times New Roman" panose="02020603050405020304" pitchFamily="18" charset="0"/>
                <a:cs typeface="Times New Roman" panose="02020603050405020304" pitchFamily="18" charset="0"/>
              </a:rPr>
              <a:t>[Spark – Team Mailbox Assistant]</a:t>
            </a:r>
            <a:br>
              <a:rPr lang="en-GB" dirty="0">
                <a:latin typeface="Times New Roman" panose="02020603050405020304" pitchFamily="18" charset="0"/>
                <a:cs typeface="Times New Roman" panose="02020603050405020304" pitchFamily="18" charset="0"/>
              </a:rPr>
            </a:br>
            <a:r>
              <a:rPr lang="en-GB" dirty="0">
                <a:latin typeface="Times New Roman" panose="02020603050405020304" pitchFamily="18" charset="0"/>
                <a:cs typeface="Times New Roman" panose="02020603050405020304" pitchFamily="18" charset="0"/>
              </a:rPr>
              <a:t>[9 Jan 2026]</a:t>
            </a:r>
            <a:endParaRPr lang="en-US" dirty="0">
              <a:latin typeface="Times New Roman" panose="02020603050405020304" pitchFamily="18" charset="0"/>
              <a:cs typeface="Times New Roman" panose="02020603050405020304" pitchFamily="18" charset="0"/>
            </a:endParaRPr>
          </a:p>
        </p:txBody>
      </p:sp>
      <p:sp>
        <p:nvSpPr>
          <p:cNvPr id="2" name="Rectangle 1"/>
          <p:cNvSpPr/>
          <p:nvPr/>
        </p:nvSpPr>
        <p:spPr>
          <a:xfrm>
            <a:off x="9657809" y="6290189"/>
            <a:ext cx="1924050" cy="276999"/>
          </a:xfrm>
          <a:prstGeom prst="rect">
            <a:avLst/>
          </a:prstGeom>
        </p:spPr>
        <p:txBody>
          <a:bodyPr wrap="square">
            <a:spAutoFit/>
          </a:bodyPr>
          <a:lstStyle/>
          <a:p>
            <a:r>
              <a:rPr lang="en-GB" sz="1200" i="1" dirty="0">
                <a:solidFill>
                  <a:schemeClr val="bg1">
                    <a:lumMod val="65000"/>
                  </a:schemeClr>
                </a:solidFill>
                <a:latin typeface="Times New Roman" panose="02020603050405020304" pitchFamily="18" charset="0"/>
                <a:cs typeface="Times New Roman" panose="02020603050405020304" pitchFamily="18" charset="0"/>
              </a:rPr>
              <a:t>Template Version: Jun 2024</a:t>
            </a:r>
          </a:p>
        </p:txBody>
      </p:sp>
      <p:sp>
        <p:nvSpPr>
          <p:cNvPr id="4" name="Rounded Rectangular Callout 3"/>
          <p:cNvSpPr/>
          <p:nvPr/>
        </p:nvSpPr>
        <p:spPr>
          <a:xfrm>
            <a:off x="12382705" y="762001"/>
            <a:ext cx="1892710" cy="5943600"/>
          </a:xfrm>
          <a:prstGeom prst="wedgeRoundRectCallout">
            <a:avLst>
              <a:gd name="adj1" fmla="val -56995"/>
              <a:gd name="adj2" fmla="val -26500"/>
              <a:gd name="adj3" fmla="val 16667"/>
            </a:avLst>
          </a:prstGeom>
          <a:solidFill>
            <a:schemeClr val="tx2">
              <a:lumMod val="20000"/>
              <a:lumOff val="80000"/>
            </a:schemeClr>
          </a:solidFill>
          <a:ln>
            <a:solidFill>
              <a:srgbClr val="4D0F5A"/>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GB" sz="1000" b="1" u="sng" dirty="0">
                <a:solidFill>
                  <a:schemeClr val="tx1"/>
                </a:solidFill>
                <a:latin typeface="Times New Roman" panose="02020603050405020304" pitchFamily="18" charset="0"/>
                <a:cs typeface="Times New Roman" panose="02020603050405020304" pitchFamily="18" charset="0"/>
              </a:rPr>
              <a:t>Instruction</a:t>
            </a:r>
          </a:p>
          <a:p>
            <a:endParaRPr lang="en-GB" sz="1000" dirty="0">
              <a:solidFill>
                <a:schemeClr val="tx1"/>
              </a:solidFill>
              <a:latin typeface="Times New Roman" panose="02020603050405020304" pitchFamily="18" charset="0"/>
              <a:cs typeface="Times New Roman" panose="02020603050405020304" pitchFamily="18" charset="0"/>
            </a:endParaRPr>
          </a:p>
          <a:p>
            <a:r>
              <a:rPr lang="en-GB" sz="1000" dirty="0">
                <a:solidFill>
                  <a:schemeClr val="tx1"/>
                </a:solidFill>
                <a:latin typeface="Times New Roman" panose="02020603050405020304" pitchFamily="18" charset="0"/>
                <a:cs typeface="Times New Roman" panose="02020603050405020304" pitchFamily="18" charset="0"/>
              </a:rPr>
              <a:t>​</a:t>
            </a:r>
            <a:r>
              <a:rPr lang="en-GB" sz="1000" b="1" dirty="0">
                <a:solidFill>
                  <a:schemeClr val="tx1"/>
                </a:solidFill>
                <a:latin typeface="Times New Roman" panose="02020603050405020304" pitchFamily="18" charset="0"/>
                <a:cs typeface="Times New Roman" panose="02020603050405020304" pitchFamily="18" charset="0"/>
              </a:rPr>
              <a:t>IT Lead of the Project or Project Owner to initiate DG review meeting </a:t>
            </a:r>
            <a:r>
              <a:rPr lang="en-GB" sz="1000" dirty="0">
                <a:solidFill>
                  <a:schemeClr val="tx1"/>
                </a:solidFill>
                <a:latin typeface="Times New Roman" panose="02020603050405020304" pitchFamily="18" charset="0"/>
                <a:cs typeface="Times New Roman" panose="02020603050405020304" pitchFamily="18" charset="0"/>
              </a:rPr>
              <a:t>if the project involves:​​</a:t>
            </a:r>
          </a:p>
          <a:p>
            <a:endParaRPr lang="en-GB" sz="1000" dirty="0">
              <a:solidFill>
                <a:schemeClr val="tx1"/>
              </a:solidFill>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GB" sz="1000" b="1" dirty="0">
                <a:solidFill>
                  <a:schemeClr val="tx1"/>
                </a:solidFill>
                <a:latin typeface="Times New Roman" panose="02020603050405020304" pitchFamily="18" charset="0"/>
                <a:cs typeface="Times New Roman" panose="02020603050405020304" pitchFamily="18" charset="0"/>
              </a:rPr>
              <a:t>Critical Data Element (CDE): </a:t>
            </a:r>
            <a:r>
              <a:rPr lang="en-GB" sz="1000" dirty="0">
                <a:solidFill>
                  <a:schemeClr val="tx1"/>
                </a:solidFill>
                <a:latin typeface="Times New Roman" panose="02020603050405020304" pitchFamily="18" charset="0"/>
                <a:cs typeface="Times New Roman" panose="02020603050405020304" pitchFamily="18" charset="0"/>
              </a:rPr>
              <a:t>identification of new CDE; major changes of existing CDE (e.g., Ownership); or any CDE related initiatives. ​</a:t>
            </a:r>
          </a:p>
          <a:p>
            <a:pPr marL="171450" indent="-171450">
              <a:buFont typeface="Arial" panose="020B0604020202020204" pitchFamily="34" charset="0"/>
              <a:buChar char="•"/>
            </a:pPr>
            <a:endParaRPr lang="en-GB" sz="1000" dirty="0">
              <a:solidFill>
                <a:schemeClr val="tx1"/>
              </a:solidFill>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GB" sz="1000" b="1" dirty="0">
                <a:solidFill>
                  <a:schemeClr val="tx1"/>
                </a:solidFill>
                <a:latin typeface="Times New Roman" panose="02020603050405020304" pitchFamily="18" charset="0"/>
                <a:cs typeface="Times New Roman" panose="02020603050405020304" pitchFamily="18" charset="0"/>
              </a:rPr>
              <a:t>Or any changes in Enterprise Data Model: </a:t>
            </a:r>
            <a:r>
              <a:rPr lang="en-GB" sz="1000" dirty="0">
                <a:solidFill>
                  <a:schemeClr val="tx1"/>
                </a:solidFill>
                <a:latin typeface="Times New Roman" panose="02020603050405020304" pitchFamily="18" charset="0"/>
                <a:cs typeface="Times New Roman" panose="02020603050405020304" pitchFamily="18" charset="0"/>
              </a:rPr>
              <a:t>An Enterprise Data Model (EDM) is a comprehensive, integrated set of descriptive representations of the data produced, stored, and or used by the entire or a major part of organisation. ​</a:t>
            </a:r>
          </a:p>
          <a:p>
            <a:pPr marL="171450" indent="-171450">
              <a:buFont typeface="Arial" panose="020B0604020202020204" pitchFamily="34" charset="0"/>
              <a:buChar char="•"/>
            </a:pPr>
            <a:endParaRPr lang="en-GB" sz="1000" dirty="0">
              <a:solidFill>
                <a:schemeClr val="tx1"/>
              </a:solidFill>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GB" sz="1000" b="1" dirty="0">
                <a:solidFill>
                  <a:schemeClr val="tx1"/>
                </a:solidFill>
                <a:latin typeface="Times New Roman" panose="02020603050405020304" pitchFamily="18" charset="0"/>
                <a:cs typeface="Times New Roman" panose="02020603050405020304" pitchFamily="18" charset="0"/>
              </a:rPr>
              <a:t>Or any other data governance related item to consult Data Governance Team: </a:t>
            </a:r>
            <a:r>
              <a:rPr lang="en-GB" sz="1000" dirty="0">
                <a:solidFill>
                  <a:schemeClr val="tx1"/>
                </a:solidFill>
                <a:latin typeface="Times New Roman" panose="02020603050405020304" pitchFamily="18" charset="0"/>
                <a:cs typeface="Times New Roman" panose="02020603050405020304" pitchFamily="18" charset="0"/>
              </a:rPr>
              <a:t>data ownership, data classification, data privacy, metadata management, data sharing, etc.​</a:t>
            </a:r>
          </a:p>
        </p:txBody>
      </p:sp>
    </p:spTree>
    <p:extLst>
      <p:ext uri="{BB962C8B-B14F-4D97-AF65-F5344CB8AC3E}">
        <p14:creationId xmlns:p14="http://schemas.microsoft.com/office/powerpoint/2010/main" val="14046754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711691" y="2043475"/>
            <a:ext cx="10536922" cy="2677656"/>
          </a:xfrm>
          <a:prstGeom prst="rect">
            <a:avLst/>
          </a:prstGeom>
          <a:noFill/>
        </p:spPr>
        <p:txBody>
          <a:bodyPr wrap="square" lIns="0" rtlCol="0" anchor="t">
            <a:spAutoFit/>
          </a:bodyPr>
          <a:lstStyle/>
          <a:p>
            <a:pPr marL="514350" indent="-514350">
              <a:lnSpc>
                <a:spcPct val="150000"/>
              </a:lnSpc>
              <a:buFont typeface="+mj-lt"/>
              <a:buAutoNum type="alphaUcPeriod"/>
            </a:pPr>
            <a:r>
              <a:rPr lang="en-GB" sz="1600" b="1" dirty="0">
                <a:latin typeface="Times New Roman" panose="02020603050405020304" pitchFamily="18" charset="0"/>
                <a:cs typeface="Times New Roman" panose="02020603050405020304" pitchFamily="18" charset="0"/>
              </a:rPr>
              <a:t>Project Background &amp; Overview</a:t>
            </a:r>
          </a:p>
          <a:p>
            <a:pPr marL="514350" indent="-514350">
              <a:lnSpc>
                <a:spcPct val="150000"/>
              </a:lnSpc>
              <a:buFont typeface="+mj-lt"/>
              <a:buAutoNum type="alphaUcPeriod"/>
            </a:pPr>
            <a:r>
              <a:rPr lang="en-GB" sz="1600" b="1" dirty="0">
                <a:latin typeface="Times New Roman" panose="02020603050405020304" pitchFamily="18" charset="0"/>
                <a:cs typeface="Times New Roman" panose="02020603050405020304" pitchFamily="18" charset="0"/>
              </a:rPr>
              <a:t>Roles &amp; Responsibilities</a:t>
            </a:r>
          </a:p>
          <a:p>
            <a:pPr marL="514350" indent="-514350">
              <a:lnSpc>
                <a:spcPct val="150000"/>
              </a:lnSpc>
              <a:buFont typeface="+mj-lt"/>
              <a:buAutoNum type="alphaUcPeriod"/>
            </a:pPr>
            <a:r>
              <a:rPr lang="en-GB" sz="1600" b="1" dirty="0">
                <a:latin typeface="Times New Roman" panose="02020603050405020304" pitchFamily="18" charset="0"/>
                <a:cs typeface="Times New Roman" panose="02020603050405020304" pitchFamily="18" charset="0"/>
              </a:rPr>
              <a:t>Types of Data &amp; Information Classification</a:t>
            </a:r>
          </a:p>
          <a:p>
            <a:pPr marL="514350" indent="-514350">
              <a:lnSpc>
                <a:spcPct val="150000"/>
              </a:lnSpc>
              <a:buFont typeface="+mj-lt"/>
              <a:buAutoNum type="alphaUcPeriod"/>
            </a:pPr>
            <a:r>
              <a:rPr lang="en-GB" sz="1600" b="1" dirty="0">
                <a:latin typeface="Times New Roman" panose="02020603050405020304" pitchFamily="18" charset="0"/>
                <a:cs typeface="Times New Roman" panose="02020603050405020304" pitchFamily="18" charset="0"/>
              </a:rPr>
              <a:t>Data Access</a:t>
            </a:r>
          </a:p>
          <a:p>
            <a:pPr marL="514350" indent="-514350">
              <a:lnSpc>
                <a:spcPct val="150000"/>
              </a:lnSpc>
              <a:buFont typeface="+mj-lt"/>
              <a:buAutoNum type="alphaUcPeriod"/>
            </a:pPr>
            <a:r>
              <a:rPr lang="en-GB" sz="1600" b="1" dirty="0">
                <a:latin typeface="Times New Roman" panose="02020603050405020304" pitchFamily="18" charset="0"/>
                <a:cs typeface="Times New Roman" panose="02020603050405020304" pitchFamily="18" charset="0"/>
              </a:rPr>
              <a:t>Data Usage</a:t>
            </a:r>
          </a:p>
          <a:p>
            <a:pPr marL="514350" indent="-514350">
              <a:lnSpc>
                <a:spcPct val="150000"/>
              </a:lnSpc>
              <a:buFont typeface="+mj-lt"/>
              <a:buAutoNum type="alphaUcPeriod"/>
            </a:pPr>
            <a:r>
              <a:rPr lang="en-GB" sz="1600" b="1" dirty="0">
                <a:latin typeface="Times New Roman" panose="02020603050405020304" pitchFamily="18" charset="0"/>
                <a:cs typeface="Times New Roman" panose="02020603050405020304" pitchFamily="18" charset="0"/>
              </a:rPr>
              <a:t>Metadata Management</a:t>
            </a:r>
          </a:p>
          <a:p>
            <a:pPr marL="514350" indent="-514350">
              <a:lnSpc>
                <a:spcPct val="150000"/>
              </a:lnSpc>
              <a:buFont typeface="+mj-lt"/>
              <a:buAutoNum type="alphaUcPeriod"/>
            </a:pPr>
            <a:r>
              <a:rPr lang="en-GB" sz="1600" b="1" dirty="0">
                <a:latin typeface="Times New Roman" panose="02020603050405020304" pitchFamily="18" charset="0"/>
                <a:cs typeface="Times New Roman" panose="02020603050405020304" pitchFamily="18" charset="0"/>
              </a:rPr>
              <a:t>Data Lineage</a:t>
            </a:r>
          </a:p>
        </p:txBody>
      </p:sp>
      <p:sp>
        <p:nvSpPr>
          <p:cNvPr id="2" name="Title 1"/>
          <p:cNvSpPr>
            <a:spLocks noGrp="1"/>
          </p:cNvSpPr>
          <p:nvPr>
            <p:ph type="title"/>
          </p:nvPr>
        </p:nvSpPr>
        <p:spPr/>
        <p:txBody>
          <a:bodyPr/>
          <a:lstStyle/>
          <a:p>
            <a:r>
              <a:rPr lang="en-GB" dirty="0">
                <a:latin typeface="Times New Roman" panose="02020603050405020304" pitchFamily="18" charset="0"/>
                <a:cs typeface="Times New Roman" panose="02020603050405020304" pitchFamily="18" charset="0"/>
              </a:rPr>
              <a:t>Table of Contents</a:t>
            </a:r>
          </a:p>
        </p:txBody>
      </p:sp>
      <p:sp>
        <p:nvSpPr>
          <p:cNvPr id="6" name="Slide Number Placeholder 4"/>
          <p:cNvSpPr>
            <a:spLocks noGrp="1"/>
          </p:cNvSpPr>
          <p:nvPr>
            <p:ph type="sldNum" sz="quarter" idx="4"/>
          </p:nvPr>
        </p:nvSpPr>
        <p:spPr/>
        <p:txBody>
          <a:bodyPr/>
          <a:lstStyle/>
          <a:p>
            <a:fld id="{48DADE71-9DE0-42B0-A997-1FD62D0B94EA}" type="slidenum">
              <a:rPr lang="en-GB" smtClean="0"/>
              <a:pPr/>
              <a:t>2</a:t>
            </a:fld>
            <a:endParaRPr lang="en-GB" dirty="0"/>
          </a:p>
        </p:txBody>
      </p:sp>
    </p:spTree>
    <p:extLst>
      <p:ext uri="{BB962C8B-B14F-4D97-AF65-F5344CB8AC3E}">
        <p14:creationId xmlns:p14="http://schemas.microsoft.com/office/powerpoint/2010/main" val="32560787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Times New Roman" panose="02020603050405020304" pitchFamily="18" charset="0"/>
                <a:cs typeface="Times New Roman" panose="02020603050405020304" pitchFamily="18" charset="0"/>
              </a:rPr>
              <a:t>A. Project Background &amp; Overview</a:t>
            </a:r>
          </a:p>
        </p:txBody>
      </p:sp>
      <p:sp>
        <p:nvSpPr>
          <p:cNvPr id="3" name="TextBox 2"/>
          <p:cNvSpPr txBox="1"/>
          <p:nvPr/>
        </p:nvSpPr>
        <p:spPr>
          <a:xfrm>
            <a:off x="696001" y="2518274"/>
            <a:ext cx="10536922" cy="584775"/>
          </a:xfrm>
          <a:prstGeom prst="rect">
            <a:avLst/>
          </a:prstGeom>
          <a:noFill/>
        </p:spPr>
        <p:txBody>
          <a:bodyPr wrap="square" lIns="0" rtlCol="0" anchor="t">
            <a:spAutoFit/>
          </a:bodyPr>
          <a:lstStyle/>
          <a:p>
            <a:pPr marL="514350" indent="-514350">
              <a:buFont typeface="+mj-lt"/>
              <a:buAutoNum type="arabicPeriod"/>
            </a:pPr>
            <a:r>
              <a:rPr lang="en-GB" sz="1600" b="1" dirty="0">
                <a:latin typeface="Times New Roman" panose="02020603050405020304" pitchFamily="18" charset="0"/>
                <a:cs typeface="Times New Roman" panose="02020603050405020304" pitchFamily="18" charset="0"/>
              </a:rPr>
              <a:t>Please provide high-level introduction and end-to-end solution diagram (if any)</a:t>
            </a:r>
          </a:p>
          <a:p>
            <a:pPr marL="514350" indent="-514350">
              <a:buFont typeface="+mj-lt"/>
              <a:buAutoNum type="arabicPeriod"/>
            </a:pPr>
            <a:r>
              <a:rPr lang="en-GB" sz="1600" b="1" dirty="0">
                <a:latin typeface="Times New Roman" panose="02020603050405020304" pitchFamily="18" charset="0"/>
                <a:cs typeface="Times New Roman" panose="02020603050405020304" pitchFamily="18" charset="0"/>
              </a:rPr>
              <a:t>Please describe the data lifecycle (creation, processing, storage, usage, sharing, disposal)</a:t>
            </a:r>
          </a:p>
        </p:txBody>
      </p:sp>
      <p:graphicFrame>
        <p:nvGraphicFramePr>
          <p:cNvPr id="4" name="Table 3"/>
          <p:cNvGraphicFramePr>
            <a:graphicFrameLocks noGrp="1"/>
          </p:cNvGraphicFramePr>
          <p:nvPr>
            <p:extLst>
              <p:ext uri="{D42A27DB-BD31-4B8C-83A1-F6EECF244321}">
                <p14:modId xmlns:p14="http://schemas.microsoft.com/office/powerpoint/2010/main" val="113455111"/>
              </p:ext>
            </p:extLst>
          </p:nvPr>
        </p:nvGraphicFramePr>
        <p:xfrm>
          <a:off x="687795" y="1399226"/>
          <a:ext cx="10767607" cy="1046480"/>
        </p:xfrm>
        <a:graphic>
          <a:graphicData uri="http://schemas.openxmlformats.org/drawingml/2006/table">
            <a:tbl>
              <a:tblPr firstRow="1">
                <a:tableStyleId>{5C22544A-7EE6-4342-B048-85BDC9FD1C3A}</a:tableStyleId>
              </a:tblPr>
              <a:tblGrid>
                <a:gridCol w="2364743">
                  <a:extLst>
                    <a:ext uri="{9D8B030D-6E8A-4147-A177-3AD203B41FA5}">
                      <a16:colId xmlns:a16="http://schemas.microsoft.com/office/drawing/2014/main" val="205779448"/>
                    </a:ext>
                  </a:extLst>
                </a:gridCol>
                <a:gridCol w="4201432">
                  <a:extLst>
                    <a:ext uri="{9D8B030D-6E8A-4147-A177-3AD203B41FA5}">
                      <a16:colId xmlns:a16="http://schemas.microsoft.com/office/drawing/2014/main" val="541165929"/>
                    </a:ext>
                  </a:extLst>
                </a:gridCol>
                <a:gridCol w="4201432">
                  <a:extLst>
                    <a:ext uri="{9D8B030D-6E8A-4147-A177-3AD203B41FA5}">
                      <a16:colId xmlns:a16="http://schemas.microsoft.com/office/drawing/2014/main" val="1979929096"/>
                    </a:ext>
                  </a:extLst>
                </a:gridCol>
              </a:tblGrid>
              <a:tr h="0">
                <a:tc>
                  <a:txBody>
                    <a:bodyPr/>
                    <a:lstStyle/>
                    <a:p>
                      <a:r>
                        <a:rPr lang="en-GB" sz="1400" dirty="0">
                          <a:latin typeface="Times New Roman" panose="02020603050405020304" pitchFamily="18" charset="0"/>
                          <a:cs typeface="Times New Roman" panose="02020603050405020304" pitchFamily="18" charset="0"/>
                        </a:rPr>
                        <a:t>Role</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D0F5A"/>
                    </a:solidFill>
                  </a:tcPr>
                </a:tc>
                <a:tc>
                  <a:txBody>
                    <a:bodyPr/>
                    <a:lstStyle/>
                    <a:p>
                      <a:r>
                        <a:rPr lang="en-GB" sz="1400" baseline="0" dirty="0">
                          <a:latin typeface="Times New Roman" panose="02020603050405020304" pitchFamily="18" charset="0"/>
                          <a:cs typeface="Times New Roman" panose="02020603050405020304" pitchFamily="18" charset="0"/>
                        </a:rPr>
                        <a:t>Name (Who)</a:t>
                      </a:r>
                      <a:endParaRPr lang="en-GB" sz="1400" dirty="0">
                        <a:latin typeface="Times New Roman" panose="02020603050405020304" pitchFamily="18" charset="0"/>
                        <a:cs typeface="Times New Roman" panose="02020603050405020304" pitchFamily="18" charset="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D0F5A"/>
                    </a:solidFill>
                  </a:tcPr>
                </a:tc>
                <a:tc>
                  <a:txBody>
                    <a:bodyPr/>
                    <a:lstStyle/>
                    <a:p>
                      <a:r>
                        <a:rPr lang="en-GB" sz="1400" dirty="0">
                          <a:latin typeface="Times New Roman" panose="02020603050405020304" pitchFamily="18" charset="0"/>
                          <a:cs typeface="Times New Roman" panose="02020603050405020304" pitchFamily="18" charset="0"/>
                        </a:rPr>
                        <a:t>POST</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D0F5A"/>
                    </a:solidFill>
                  </a:tcPr>
                </a:tc>
                <a:extLst>
                  <a:ext uri="{0D108BD9-81ED-4DB2-BD59-A6C34878D82A}">
                    <a16:rowId xmlns:a16="http://schemas.microsoft.com/office/drawing/2014/main" val="1872721520"/>
                  </a:ext>
                </a:extLst>
              </a:tr>
              <a:tr h="370840">
                <a:tc>
                  <a:txBody>
                    <a:bodyPr/>
                    <a:lstStyle/>
                    <a:p>
                      <a:r>
                        <a:rPr lang="en-GB" sz="1400" b="1" dirty="0">
                          <a:latin typeface="Times New Roman" panose="02020603050405020304" pitchFamily="18" charset="0"/>
                          <a:cs typeface="Times New Roman" panose="02020603050405020304" pitchFamily="18" charset="0"/>
                        </a:rPr>
                        <a:t>Project</a:t>
                      </a:r>
                      <a:r>
                        <a:rPr lang="en-GB" sz="1400" b="1" baseline="0" dirty="0">
                          <a:latin typeface="Times New Roman" panose="02020603050405020304" pitchFamily="18" charset="0"/>
                          <a:cs typeface="Times New Roman" panose="02020603050405020304" pitchFamily="18" charset="0"/>
                        </a:rPr>
                        <a:t> Owner</a:t>
                      </a:r>
                      <a:endParaRPr lang="en-GB" sz="1400" b="1" dirty="0">
                        <a:latin typeface="Times New Roman" panose="02020603050405020304" pitchFamily="18" charset="0"/>
                        <a:cs typeface="Times New Roman" panose="02020603050405020304" pitchFamily="18" charset="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400" dirty="0">
                          <a:latin typeface="Times New Roman" panose="02020603050405020304" pitchFamily="18" charset="0"/>
                          <a:cs typeface="Times New Roman" panose="02020603050405020304" pitchFamily="18" charset="0"/>
                        </a:rPr>
                        <a:t>Calvin CH Yu</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400" dirty="0">
                          <a:latin typeface="Times New Roman" panose="02020603050405020304" pitchFamily="18" charset="0"/>
                          <a:cs typeface="Times New Roman" panose="02020603050405020304" pitchFamily="18" charset="0"/>
                        </a:rPr>
                        <a:t>D (IT)(BSA)</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93232867"/>
                  </a:ext>
                </a:extLst>
              </a:tr>
              <a:tr h="370840">
                <a:tc>
                  <a:txBody>
                    <a:bodyPr/>
                    <a:lstStyle/>
                    <a:p>
                      <a:r>
                        <a:rPr lang="en-GB" sz="1400" b="1" dirty="0">
                          <a:latin typeface="Times New Roman" panose="02020603050405020304" pitchFamily="18" charset="0"/>
                          <a:cs typeface="Times New Roman" panose="02020603050405020304" pitchFamily="18" charset="0"/>
                        </a:rPr>
                        <a:t>IT </a:t>
                      </a:r>
                      <a:r>
                        <a:rPr lang="en-GB" sz="1400" b="1" baseline="0" dirty="0">
                          <a:latin typeface="Times New Roman" panose="02020603050405020304" pitchFamily="18" charset="0"/>
                          <a:cs typeface="Times New Roman" panose="02020603050405020304" pitchFamily="18" charset="0"/>
                        </a:rPr>
                        <a:t>Lead of the Project</a:t>
                      </a:r>
                      <a:endParaRPr lang="en-GB" sz="1400" b="1" dirty="0">
                        <a:latin typeface="Times New Roman" panose="02020603050405020304" pitchFamily="18" charset="0"/>
                        <a:cs typeface="Times New Roman" panose="02020603050405020304" pitchFamily="18" charset="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400" dirty="0">
                          <a:latin typeface="Times New Roman" panose="02020603050405020304" pitchFamily="18" charset="0"/>
                          <a:cs typeface="Times New Roman" panose="02020603050405020304" pitchFamily="18" charset="0"/>
                        </a:rPr>
                        <a:t>Ray YC Tsoi</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400" dirty="0">
                          <a:latin typeface="Times New Roman" panose="02020603050405020304" pitchFamily="18" charset="0"/>
                          <a:cs typeface="Times New Roman" panose="02020603050405020304" pitchFamily="18" charset="0"/>
                        </a:rPr>
                        <a:t>A(SYS)(IT)(AS2)2</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5516273"/>
                  </a:ext>
                </a:extLst>
              </a:tr>
            </a:tbl>
          </a:graphicData>
        </a:graphic>
      </p:graphicFrame>
      <p:sp>
        <p:nvSpPr>
          <p:cNvPr id="7" name="Rounded Rectangular Callout 4"/>
          <p:cNvSpPr/>
          <p:nvPr/>
        </p:nvSpPr>
        <p:spPr>
          <a:xfrm>
            <a:off x="12376355" y="1274966"/>
            <a:ext cx="1892710" cy="1855584"/>
          </a:xfrm>
          <a:prstGeom prst="wedgeRoundRectCallout">
            <a:avLst>
              <a:gd name="adj1" fmla="val -56995"/>
              <a:gd name="adj2" fmla="val -26500"/>
              <a:gd name="adj3" fmla="val 16667"/>
            </a:avLst>
          </a:prstGeom>
          <a:solidFill>
            <a:schemeClr val="tx2">
              <a:lumMod val="20000"/>
              <a:lumOff val="80000"/>
            </a:schemeClr>
          </a:solidFill>
          <a:ln>
            <a:solidFill>
              <a:srgbClr val="4D0F5A"/>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GB" sz="1000" b="1" u="sng" dirty="0">
                <a:solidFill>
                  <a:schemeClr val="tx1"/>
                </a:solidFill>
                <a:latin typeface="Times New Roman" panose="02020603050405020304" pitchFamily="18" charset="0"/>
                <a:cs typeface="Times New Roman" panose="02020603050405020304" pitchFamily="18" charset="0"/>
              </a:rPr>
              <a:t>Instruction</a:t>
            </a:r>
          </a:p>
          <a:p>
            <a:endParaRPr lang="en-GB" sz="1000" b="1" u="sng" dirty="0">
              <a:solidFill>
                <a:schemeClr val="tx1"/>
              </a:solidFill>
              <a:latin typeface="Times New Roman" panose="02020603050405020304" pitchFamily="18" charset="0"/>
              <a:cs typeface="Times New Roman" panose="02020603050405020304" pitchFamily="18" charset="0"/>
            </a:endParaRPr>
          </a:p>
          <a:p>
            <a:pPr marL="171450" indent="-171450">
              <a:buFont typeface="Arial"/>
              <a:buChar char="•"/>
            </a:pPr>
            <a:r>
              <a:rPr lang="en-GB" sz="1000" b="1" dirty="0">
                <a:solidFill>
                  <a:schemeClr val="tx1"/>
                </a:solidFill>
                <a:latin typeface="Times New Roman" panose="02020603050405020304" pitchFamily="18" charset="0"/>
                <a:cs typeface="Times New Roman" panose="02020603050405020304" pitchFamily="18" charset="0"/>
              </a:rPr>
              <a:t>IT Lead of the Project</a:t>
            </a:r>
            <a:r>
              <a:rPr lang="en-GB" sz="1000" dirty="0">
                <a:solidFill>
                  <a:schemeClr val="tx1"/>
                </a:solidFill>
                <a:latin typeface="Times New Roman" panose="02020603050405020304" pitchFamily="18" charset="0"/>
                <a:cs typeface="Times New Roman" panose="02020603050405020304" pitchFamily="18" charset="0"/>
              </a:rPr>
              <a:t> should oversee the project and be accountable for the design, review process and development </a:t>
            </a:r>
            <a:r>
              <a:rPr lang="en-US" sz="1000" dirty="0">
                <a:solidFill>
                  <a:schemeClr val="tx1"/>
                </a:solidFill>
                <a:latin typeface="Times New Roman" panose="02020603050405020304" pitchFamily="18" charset="0"/>
                <a:cs typeface="Times New Roman" panose="02020603050405020304" pitchFamily="18" charset="0"/>
              </a:rPr>
              <a:t> </a:t>
            </a:r>
            <a:endParaRPr lang="en-GB" sz="1000" dirty="0">
              <a:solidFill>
                <a:schemeClr val="tx1"/>
              </a:solidFill>
              <a:latin typeface="Times New Roman" panose="02020603050405020304" pitchFamily="18" charset="0"/>
              <a:cs typeface="Times New Roman" panose="02020603050405020304" pitchFamily="18" charset="0"/>
            </a:endParaRPr>
          </a:p>
          <a:p>
            <a:endParaRPr lang="en-GB" sz="1000" dirty="0">
              <a:solidFill>
                <a:schemeClr val="tx1"/>
              </a:solidFill>
              <a:latin typeface="Times New Roman" panose="02020603050405020304" pitchFamily="18" charset="0"/>
              <a:cs typeface="Times New Roman" panose="02020603050405020304" pitchFamily="18" charset="0"/>
            </a:endParaRPr>
          </a:p>
        </p:txBody>
      </p:sp>
      <p:graphicFrame>
        <p:nvGraphicFramePr>
          <p:cNvPr id="9" name="Table 8">
            <a:extLst>
              <a:ext uri="{FF2B5EF4-FFF2-40B4-BE49-F238E27FC236}">
                <a16:creationId xmlns:a16="http://schemas.microsoft.com/office/drawing/2014/main" id="{BCE2B21E-F99A-75FF-1482-37F524BB568C}"/>
              </a:ext>
            </a:extLst>
          </p:cNvPr>
          <p:cNvGraphicFramePr>
            <a:graphicFrameLocks noGrp="1"/>
          </p:cNvGraphicFramePr>
          <p:nvPr>
            <p:extLst>
              <p:ext uri="{D42A27DB-BD31-4B8C-83A1-F6EECF244321}">
                <p14:modId xmlns:p14="http://schemas.microsoft.com/office/powerpoint/2010/main" val="1628859041"/>
              </p:ext>
            </p:extLst>
          </p:nvPr>
        </p:nvGraphicFramePr>
        <p:xfrm>
          <a:off x="696001" y="3175617"/>
          <a:ext cx="10759401" cy="2633934"/>
        </p:xfrm>
        <a:graphic>
          <a:graphicData uri="http://schemas.openxmlformats.org/drawingml/2006/table">
            <a:tbl>
              <a:tblPr firstRow="1" bandRow="1">
                <a:tableStyleId>{D7AC3CCA-C797-4891-BE02-D94E43425B78}</a:tableStyleId>
              </a:tblPr>
              <a:tblGrid>
                <a:gridCol w="1545851">
                  <a:extLst>
                    <a:ext uri="{9D8B030D-6E8A-4147-A177-3AD203B41FA5}">
                      <a16:colId xmlns:a16="http://schemas.microsoft.com/office/drawing/2014/main" val="64791157"/>
                    </a:ext>
                  </a:extLst>
                </a:gridCol>
                <a:gridCol w="9213550">
                  <a:extLst>
                    <a:ext uri="{9D8B030D-6E8A-4147-A177-3AD203B41FA5}">
                      <a16:colId xmlns:a16="http://schemas.microsoft.com/office/drawing/2014/main" val="505918057"/>
                    </a:ext>
                  </a:extLst>
                </a:gridCol>
              </a:tblGrid>
              <a:tr h="1593409">
                <a:tc>
                  <a:txBody>
                    <a:bodyPr/>
                    <a:lstStyle/>
                    <a:p>
                      <a:pPr>
                        <a:buNone/>
                      </a:pPr>
                      <a:r>
                        <a:rPr lang="en-GB" sz="1200" b="0" dirty="0"/>
                        <a:t>1. </a:t>
                      </a:r>
                    </a:p>
                  </a:txBody>
                  <a:tcPr/>
                </a:tc>
                <a:tc>
                  <a:txBody>
                    <a:bodyPr/>
                    <a:lstStyle/>
                    <a:p>
                      <a:pPr>
                        <a:buNone/>
                      </a:pPr>
                      <a:r>
                        <a:rPr lang="en-GB" sz="1200" b="0" dirty="0"/>
                        <a:t>There are 3 types of data that we store: </a:t>
                      </a:r>
                      <a:br>
                        <a:rPr lang="en-GB" sz="1200" b="0" dirty="0"/>
                      </a:br>
                      <a:br>
                        <a:rPr lang="en-GB" sz="1200" b="0" dirty="0"/>
                      </a:br>
                      <a:r>
                        <a:rPr lang="en-GB" sz="1200" b="0" dirty="0"/>
                        <a:t>1. User configuration </a:t>
                      </a:r>
                    </a:p>
                    <a:p>
                      <a:pPr>
                        <a:buNone/>
                      </a:pPr>
                      <a:r>
                        <a:rPr lang="en-GB" sz="1200" b="0" dirty="0"/>
                        <a:t>2. Application logs</a:t>
                      </a:r>
                      <a:br>
                        <a:rPr lang="en-GB" sz="1200" b="0" dirty="0"/>
                      </a:br>
                      <a:r>
                        <a:rPr lang="en-GB" sz="1200" b="0" dirty="0"/>
                        <a:t>3. Categories</a:t>
                      </a:r>
                    </a:p>
                    <a:p>
                      <a:pPr>
                        <a:buNone/>
                      </a:pPr>
                      <a:endParaRPr lang="en-GB" sz="1200" b="0" dirty="0"/>
                    </a:p>
                    <a:p>
                      <a:pPr>
                        <a:buNone/>
                      </a:pPr>
                      <a:r>
                        <a:rPr lang="en-GB" sz="1200" b="0" dirty="0"/>
                        <a:t>The end-to-end solution works like this:</a:t>
                      </a:r>
                      <a:br>
                        <a:rPr lang="en-GB" sz="1200" b="0" dirty="0"/>
                      </a:br>
                      <a:br>
                        <a:rPr lang="en-GB" sz="1200" b="0" dirty="0"/>
                      </a:br>
                      <a:r>
                        <a:rPr lang="en-GB" sz="1200" b="0" dirty="0"/>
                        <a:t>The input is the </a:t>
                      </a:r>
                      <a:r>
                        <a:rPr lang="en-GB" sz="1200" b="1" dirty="0"/>
                        <a:t>email content </a:t>
                      </a:r>
                      <a:r>
                        <a:rPr lang="en-GB" sz="1200" b="0" dirty="0"/>
                        <a:t>for the specific team mailbox</a:t>
                      </a:r>
                      <a:r>
                        <a:rPr lang="en-GB" sz="1200" b="1" dirty="0"/>
                        <a:t> </a:t>
                      </a:r>
                      <a:r>
                        <a:rPr lang="en-GB" sz="1200" b="0" dirty="0"/>
                        <a:t>from CMMP, which are passed to the LLM provider (</a:t>
                      </a:r>
                      <a:r>
                        <a:rPr lang="en-GB" sz="1200" b="0" dirty="0" err="1"/>
                        <a:t>MaaS</a:t>
                      </a:r>
                      <a:r>
                        <a:rPr lang="en-GB" sz="1200" b="0" dirty="0"/>
                        <a:t>) with the </a:t>
                      </a:r>
                      <a:r>
                        <a:rPr lang="en-GB" sz="1200" b="1" dirty="0"/>
                        <a:t>prompt</a:t>
                      </a:r>
                      <a:r>
                        <a:rPr lang="en-GB" sz="1200" b="0" dirty="0"/>
                        <a:t> from the user, and the output is the </a:t>
                      </a:r>
                      <a:r>
                        <a:rPr lang="en-GB" sz="1200" b="1" dirty="0"/>
                        <a:t>summarization </a:t>
                      </a:r>
                      <a:r>
                        <a:rPr lang="en-GB" sz="1200" b="0" dirty="0"/>
                        <a:t>and </a:t>
                      </a:r>
                      <a:r>
                        <a:rPr lang="en-GB" sz="1200" b="1" dirty="0"/>
                        <a:t>categories </a:t>
                      </a:r>
                      <a:r>
                        <a:rPr lang="en-GB" sz="1200" b="0" dirty="0"/>
                        <a:t>generated by the LLM. </a:t>
                      </a:r>
                      <a:br>
                        <a:rPr lang="en-GB" sz="1200" b="0" dirty="0"/>
                      </a:br>
                      <a:br>
                        <a:rPr lang="en-GB" sz="1200" b="0" dirty="0"/>
                      </a:br>
                      <a:r>
                        <a:rPr lang="en-GB" sz="1200" b="0" dirty="0"/>
                        <a:t>The output of </a:t>
                      </a:r>
                      <a:r>
                        <a:rPr lang="en-GB" sz="1200" b="1" dirty="0"/>
                        <a:t>categories </a:t>
                      </a:r>
                      <a:r>
                        <a:rPr lang="en-GB" sz="1200" b="0" dirty="0"/>
                        <a:t>is synced with the CMMP using IMAP so the result is in sync for all the users connected to the team mailbox.</a:t>
                      </a:r>
                    </a:p>
                  </a:txBody>
                  <a:tcPr/>
                </a:tc>
                <a:extLst>
                  <a:ext uri="{0D108BD9-81ED-4DB2-BD59-A6C34878D82A}">
                    <a16:rowId xmlns:a16="http://schemas.microsoft.com/office/drawing/2014/main" val="2327753701"/>
                  </a:ext>
                </a:extLst>
              </a:tr>
              <a:tr h="347934">
                <a:tc>
                  <a:txBody>
                    <a:bodyPr/>
                    <a:lstStyle/>
                    <a:p>
                      <a:pPr>
                        <a:buNone/>
                      </a:pPr>
                      <a:r>
                        <a:rPr lang="en-GB" sz="1200" b="0" dirty="0"/>
                        <a:t>2. </a:t>
                      </a:r>
                    </a:p>
                  </a:txBody>
                  <a:tcPr/>
                </a:tc>
                <a:tc>
                  <a:txBody>
                    <a:bodyPr/>
                    <a:lstStyle/>
                    <a:p>
                      <a:pPr>
                        <a:buNone/>
                      </a:pPr>
                      <a:r>
                        <a:rPr lang="en-GB" sz="1200" b="0" dirty="0"/>
                        <a:t>(Next slide)</a:t>
                      </a:r>
                    </a:p>
                  </a:txBody>
                  <a:tcPr/>
                </a:tc>
                <a:extLst>
                  <a:ext uri="{0D108BD9-81ED-4DB2-BD59-A6C34878D82A}">
                    <a16:rowId xmlns:a16="http://schemas.microsoft.com/office/drawing/2014/main" val="1532973619"/>
                  </a:ext>
                </a:extLst>
              </a:tr>
            </a:tbl>
          </a:graphicData>
        </a:graphic>
      </p:graphicFrame>
    </p:spTree>
    <p:extLst>
      <p:ext uri="{BB962C8B-B14F-4D97-AF65-F5344CB8AC3E}">
        <p14:creationId xmlns:p14="http://schemas.microsoft.com/office/powerpoint/2010/main" val="25406347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Times New Roman" panose="02020603050405020304" pitchFamily="18" charset="0"/>
                <a:cs typeface="Times New Roman" panose="02020603050405020304" pitchFamily="18" charset="0"/>
              </a:rPr>
              <a:t>A. Project Background &amp; Overview</a:t>
            </a:r>
          </a:p>
        </p:txBody>
      </p:sp>
      <p:sp>
        <p:nvSpPr>
          <p:cNvPr id="3" name="TextBox 2"/>
          <p:cNvSpPr txBox="1"/>
          <p:nvPr/>
        </p:nvSpPr>
        <p:spPr>
          <a:xfrm>
            <a:off x="686708" y="1444969"/>
            <a:ext cx="10536922" cy="584775"/>
          </a:xfrm>
          <a:prstGeom prst="rect">
            <a:avLst/>
          </a:prstGeom>
          <a:noFill/>
        </p:spPr>
        <p:txBody>
          <a:bodyPr wrap="square" lIns="0" rtlCol="0" anchor="t">
            <a:spAutoFit/>
          </a:bodyPr>
          <a:lstStyle/>
          <a:p>
            <a:pPr marL="514350" indent="-514350">
              <a:buFont typeface="+mj-lt"/>
              <a:buAutoNum type="arabicPeriod"/>
            </a:pPr>
            <a:r>
              <a:rPr lang="en-GB" sz="1600" b="1" dirty="0">
                <a:latin typeface="Times New Roman" panose="02020603050405020304" pitchFamily="18" charset="0"/>
                <a:cs typeface="Times New Roman" panose="02020603050405020304" pitchFamily="18" charset="0"/>
              </a:rPr>
              <a:t>Please provide high-level introduction and end-to-end solution diagram (if any)</a:t>
            </a:r>
          </a:p>
          <a:p>
            <a:pPr marL="514350" indent="-514350">
              <a:buFont typeface="+mj-lt"/>
              <a:buAutoNum type="arabicPeriod"/>
            </a:pPr>
            <a:endParaRPr lang="en-GB" sz="1600" b="1" dirty="0">
              <a:latin typeface="Times New Roman" panose="02020603050405020304" pitchFamily="18" charset="0"/>
              <a:cs typeface="Times New Roman" panose="02020603050405020304" pitchFamily="18" charset="0"/>
            </a:endParaRPr>
          </a:p>
        </p:txBody>
      </p:sp>
      <p:sp>
        <p:nvSpPr>
          <p:cNvPr id="7" name="Rounded Rectangular Callout 4"/>
          <p:cNvSpPr/>
          <p:nvPr/>
        </p:nvSpPr>
        <p:spPr>
          <a:xfrm>
            <a:off x="12376355" y="1274966"/>
            <a:ext cx="1892710" cy="1855584"/>
          </a:xfrm>
          <a:prstGeom prst="wedgeRoundRectCallout">
            <a:avLst>
              <a:gd name="adj1" fmla="val -56995"/>
              <a:gd name="adj2" fmla="val -26500"/>
              <a:gd name="adj3" fmla="val 16667"/>
            </a:avLst>
          </a:prstGeom>
          <a:solidFill>
            <a:schemeClr val="tx2">
              <a:lumMod val="20000"/>
              <a:lumOff val="80000"/>
            </a:schemeClr>
          </a:solidFill>
          <a:ln>
            <a:solidFill>
              <a:srgbClr val="4D0F5A"/>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GB" sz="1000" b="1" u="sng" dirty="0">
                <a:solidFill>
                  <a:schemeClr val="tx1"/>
                </a:solidFill>
                <a:latin typeface="Times New Roman" panose="02020603050405020304" pitchFamily="18" charset="0"/>
                <a:cs typeface="Times New Roman" panose="02020603050405020304" pitchFamily="18" charset="0"/>
              </a:rPr>
              <a:t>Instruction</a:t>
            </a:r>
          </a:p>
          <a:p>
            <a:endParaRPr lang="en-GB" sz="1000" b="1" u="sng" dirty="0">
              <a:solidFill>
                <a:schemeClr val="tx1"/>
              </a:solidFill>
              <a:latin typeface="Times New Roman" panose="02020603050405020304" pitchFamily="18" charset="0"/>
              <a:cs typeface="Times New Roman" panose="02020603050405020304" pitchFamily="18" charset="0"/>
            </a:endParaRPr>
          </a:p>
          <a:p>
            <a:pPr marL="171450" indent="-171450">
              <a:buFont typeface="Arial"/>
              <a:buChar char="•"/>
            </a:pPr>
            <a:r>
              <a:rPr lang="en-GB" sz="1000" b="1" dirty="0">
                <a:solidFill>
                  <a:schemeClr val="tx1"/>
                </a:solidFill>
                <a:latin typeface="Times New Roman" panose="02020603050405020304" pitchFamily="18" charset="0"/>
                <a:cs typeface="Times New Roman" panose="02020603050405020304" pitchFamily="18" charset="0"/>
              </a:rPr>
              <a:t>IT Lead of the Project</a:t>
            </a:r>
            <a:r>
              <a:rPr lang="en-GB" sz="1000" dirty="0">
                <a:solidFill>
                  <a:schemeClr val="tx1"/>
                </a:solidFill>
                <a:latin typeface="Times New Roman" panose="02020603050405020304" pitchFamily="18" charset="0"/>
                <a:cs typeface="Times New Roman" panose="02020603050405020304" pitchFamily="18" charset="0"/>
              </a:rPr>
              <a:t> should oversee the project and be accountable for the design, review process and development </a:t>
            </a:r>
            <a:r>
              <a:rPr lang="en-US" sz="1000" dirty="0">
                <a:solidFill>
                  <a:schemeClr val="tx1"/>
                </a:solidFill>
                <a:latin typeface="Times New Roman" panose="02020603050405020304" pitchFamily="18" charset="0"/>
                <a:cs typeface="Times New Roman" panose="02020603050405020304" pitchFamily="18" charset="0"/>
              </a:rPr>
              <a:t> </a:t>
            </a:r>
            <a:endParaRPr lang="en-GB" sz="1000" dirty="0">
              <a:solidFill>
                <a:schemeClr val="tx1"/>
              </a:solidFill>
              <a:latin typeface="Times New Roman" panose="02020603050405020304" pitchFamily="18" charset="0"/>
              <a:cs typeface="Times New Roman" panose="02020603050405020304" pitchFamily="18" charset="0"/>
            </a:endParaRPr>
          </a:p>
          <a:p>
            <a:endParaRPr lang="en-GB" sz="1000" dirty="0">
              <a:solidFill>
                <a:schemeClr val="tx1"/>
              </a:solidFill>
              <a:latin typeface="Times New Roman" panose="02020603050405020304" pitchFamily="18" charset="0"/>
              <a:cs typeface="Times New Roman" panose="02020603050405020304" pitchFamily="18" charset="0"/>
            </a:endParaRPr>
          </a:p>
        </p:txBody>
      </p:sp>
      <p:pic>
        <p:nvPicPr>
          <p:cNvPr id="8" name="Picture 9"/>
          <p:cNvPicPr>
            <a:picLocks noChangeAspect="1"/>
          </p:cNvPicPr>
          <p:nvPr/>
        </p:nvPicPr>
        <p:blipFill>
          <a:blip r:embed="rId2"/>
          <a:stretch>
            <a:fillRect/>
          </a:stretch>
        </p:blipFill>
        <p:spPr>
          <a:xfrm>
            <a:off x="3846242" y="1921755"/>
            <a:ext cx="4824760" cy="4566368"/>
          </a:xfrm>
          <a:prstGeom prst="rect">
            <a:avLst/>
          </a:prstGeom>
        </p:spPr>
      </p:pic>
    </p:spTree>
    <p:extLst>
      <p:ext uri="{BB962C8B-B14F-4D97-AF65-F5344CB8AC3E}">
        <p14:creationId xmlns:p14="http://schemas.microsoft.com/office/powerpoint/2010/main" val="23423568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F8CC6-144C-E444-4740-6E99D2052101}"/>
              </a:ext>
            </a:extLst>
          </p:cNvPr>
          <p:cNvSpPr>
            <a:spLocks noGrp="1"/>
          </p:cNvSpPr>
          <p:nvPr>
            <p:ph type="title"/>
          </p:nvPr>
        </p:nvSpPr>
        <p:spPr/>
        <p:txBody>
          <a:bodyPr/>
          <a:lstStyle/>
          <a:p>
            <a:r>
              <a:rPr lang="en-GB" dirty="0"/>
              <a:t>(Continued)</a:t>
            </a:r>
          </a:p>
        </p:txBody>
      </p:sp>
      <p:graphicFrame>
        <p:nvGraphicFramePr>
          <p:cNvPr id="3" name="Table 2">
            <a:extLst>
              <a:ext uri="{FF2B5EF4-FFF2-40B4-BE49-F238E27FC236}">
                <a16:creationId xmlns:a16="http://schemas.microsoft.com/office/drawing/2014/main" id="{15E16422-4FB0-55C8-6960-A77E8A5CFB30}"/>
              </a:ext>
            </a:extLst>
          </p:cNvPr>
          <p:cNvGraphicFramePr>
            <a:graphicFrameLocks noGrp="1"/>
          </p:cNvGraphicFramePr>
          <p:nvPr>
            <p:extLst>
              <p:ext uri="{D42A27DB-BD31-4B8C-83A1-F6EECF244321}">
                <p14:modId xmlns:p14="http://schemas.microsoft.com/office/powerpoint/2010/main" val="3157094204"/>
              </p:ext>
            </p:extLst>
          </p:nvPr>
        </p:nvGraphicFramePr>
        <p:xfrm>
          <a:off x="485611" y="1454180"/>
          <a:ext cx="11301226" cy="4576014"/>
        </p:xfrm>
        <a:graphic>
          <a:graphicData uri="http://schemas.openxmlformats.org/drawingml/2006/table">
            <a:tbl>
              <a:tblPr>
                <a:tableStyleId>{F5AB1C69-6EDB-4FF4-983F-18BD219EF322}</a:tableStyleId>
              </a:tblPr>
              <a:tblGrid>
                <a:gridCol w="1614461">
                  <a:extLst>
                    <a:ext uri="{9D8B030D-6E8A-4147-A177-3AD203B41FA5}">
                      <a16:colId xmlns:a16="http://schemas.microsoft.com/office/drawing/2014/main" val="4256614253"/>
                    </a:ext>
                  </a:extLst>
                </a:gridCol>
                <a:gridCol w="2103937">
                  <a:extLst>
                    <a:ext uri="{9D8B030D-6E8A-4147-A177-3AD203B41FA5}">
                      <a16:colId xmlns:a16="http://schemas.microsoft.com/office/drawing/2014/main" val="1039033604"/>
                    </a:ext>
                  </a:extLst>
                </a:gridCol>
                <a:gridCol w="1438507">
                  <a:extLst>
                    <a:ext uri="{9D8B030D-6E8A-4147-A177-3AD203B41FA5}">
                      <a16:colId xmlns:a16="http://schemas.microsoft.com/office/drawing/2014/main" val="3500721901"/>
                    </a:ext>
                  </a:extLst>
                </a:gridCol>
                <a:gridCol w="1300939">
                  <a:extLst>
                    <a:ext uri="{9D8B030D-6E8A-4147-A177-3AD203B41FA5}">
                      <a16:colId xmlns:a16="http://schemas.microsoft.com/office/drawing/2014/main" val="3804711250"/>
                    </a:ext>
                  </a:extLst>
                </a:gridCol>
                <a:gridCol w="1614461">
                  <a:extLst>
                    <a:ext uri="{9D8B030D-6E8A-4147-A177-3AD203B41FA5}">
                      <a16:colId xmlns:a16="http://schemas.microsoft.com/office/drawing/2014/main" val="4126224933"/>
                    </a:ext>
                  </a:extLst>
                </a:gridCol>
                <a:gridCol w="1693333">
                  <a:extLst>
                    <a:ext uri="{9D8B030D-6E8A-4147-A177-3AD203B41FA5}">
                      <a16:colId xmlns:a16="http://schemas.microsoft.com/office/drawing/2014/main" val="4028027946"/>
                    </a:ext>
                  </a:extLst>
                </a:gridCol>
                <a:gridCol w="1535588">
                  <a:extLst>
                    <a:ext uri="{9D8B030D-6E8A-4147-A177-3AD203B41FA5}">
                      <a16:colId xmlns:a16="http://schemas.microsoft.com/office/drawing/2014/main" val="2503008492"/>
                    </a:ext>
                  </a:extLst>
                </a:gridCol>
              </a:tblGrid>
              <a:tr h="622106">
                <a:tc>
                  <a:txBody>
                    <a:bodyPr/>
                    <a:lstStyle/>
                    <a:p>
                      <a:pPr lvl="0">
                        <a:buNone/>
                      </a:pPr>
                      <a:r>
                        <a:rPr lang="en-US" sz="2000" b="1" dirty="0">
                          <a:solidFill>
                            <a:srgbClr val="000000"/>
                          </a:solidFill>
                        </a:rPr>
                        <a:t>Item</a:t>
                      </a:r>
                    </a:p>
                  </a:txBody>
                  <a:tcPr>
                    <a:noFill/>
                  </a:tcPr>
                </a:tc>
                <a:tc>
                  <a:txBody>
                    <a:bodyPr/>
                    <a:lstStyle/>
                    <a:p>
                      <a:pPr lvl="0" algn="l">
                        <a:buNone/>
                      </a:pPr>
                      <a:r>
                        <a:rPr lang="en-US" sz="2000" b="0" dirty="0">
                          <a:solidFill>
                            <a:srgbClr val="000000"/>
                          </a:solidFill>
                        </a:rPr>
                        <a:t>Content</a:t>
                      </a:r>
                    </a:p>
                  </a:txBody>
                  <a:tcPr>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2000" b="0" kern="1200" dirty="0">
                          <a:solidFill>
                            <a:srgbClr val="000000"/>
                          </a:solidFill>
                          <a:latin typeface="+mn-lt"/>
                          <a:ea typeface="+mn-ea"/>
                          <a:cs typeface="+mn-cs"/>
                        </a:rPr>
                        <a:t>Processing</a:t>
                      </a:r>
                      <a:endParaRPr lang="en-US" sz="2000" b="0" kern="1200" dirty="0">
                        <a:solidFill>
                          <a:srgbClr val="000000"/>
                        </a:solidFill>
                        <a:latin typeface="+mn-lt"/>
                        <a:ea typeface="+mn-ea"/>
                        <a:cs typeface="+mn-cs"/>
                      </a:endParaRPr>
                    </a:p>
                    <a:p>
                      <a:pPr lvl="0" algn="l">
                        <a:buNone/>
                      </a:pPr>
                      <a:endParaRPr lang="en-US" sz="2000" b="0" dirty="0">
                        <a:solidFill>
                          <a:srgbClr val="000000"/>
                        </a:solidFill>
                      </a:endParaRPr>
                    </a:p>
                  </a:txBody>
                  <a:tcPr>
                    <a:noFill/>
                  </a:tcPr>
                </a:tc>
                <a:tc>
                  <a:txBody>
                    <a:bodyPr/>
                    <a:lstStyle/>
                    <a:p>
                      <a:pPr marL="0" lvl="0" algn="l" defTabSz="685800" rtl="0" eaLnBrk="1" latinLnBrk="0" hangingPunct="1">
                        <a:buNone/>
                      </a:pPr>
                      <a:r>
                        <a:rPr lang="en-GB" sz="2000" b="0" kern="1200" dirty="0">
                          <a:solidFill>
                            <a:srgbClr val="000000"/>
                          </a:solidFill>
                          <a:latin typeface="+mn-lt"/>
                          <a:ea typeface="+mn-ea"/>
                          <a:cs typeface="+mn-cs"/>
                        </a:rPr>
                        <a:t>Storage</a:t>
                      </a:r>
                      <a:endParaRPr lang="en-US" sz="2000" b="0" kern="1200" dirty="0">
                        <a:solidFill>
                          <a:srgbClr val="000000"/>
                        </a:solidFill>
                        <a:latin typeface="+mn-lt"/>
                        <a:ea typeface="+mn-ea"/>
                        <a:cs typeface="+mn-cs"/>
                      </a:endParaRPr>
                    </a:p>
                  </a:txBody>
                  <a:tcPr>
                    <a:noFill/>
                  </a:tcPr>
                </a:tc>
                <a:tc>
                  <a:txBody>
                    <a:bodyPr/>
                    <a:lstStyle/>
                    <a:p>
                      <a:pPr marL="0" lvl="0" algn="l" defTabSz="685800" rtl="0" eaLnBrk="1" latinLnBrk="0" hangingPunct="1">
                        <a:buNone/>
                      </a:pPr>
                      <a:r>
                        <a:rPr lang="en-GB" sz="2000" b="0" kern="1200" dirty="0">
                          <a:solidFill>
                            <a:srgbClr val="000000"/>
                          </a:solidFill>
                          <a:latin typeface="+mn-lt"/>
                          <a:ea typeface="+mn-ea"/>
                          <a:cs typeface="+mn-cs"/>
                        </a:rPr>
                        <a:t>Usage</a:t>
                      </a:r>
                      <a:endParaRPr lang="en-US" sz="2000" b="0" kern="1200" dirty="0">
                        <a:solidFill>
                          <a:srgbClr val="000000"/>
                        </a:solidFill>
                        <a:latin typeface="+mn-lt"/>
                        <a:ea typeface="+mn-ea"/>
                        <a:cs typeface="+mn-cs"/>
                      </a:endParaRPr>
                    </a:p>
                  </a:txBody>
                  <a:tcPr>
                    <a:noFill/>
                  </a:tcPr>
                </a:tc>
                <a:tc>
                  <a:txBody>
                    <a:bodyPr/>
                    <a:lstStyle/>
                    <a:p>
                      <a:pPr marL="0" lvl="0" algn="l" defTabSz="685800" rtl="0" eaLnBrk="1" latinLnBrk="0" hangingPunct="1">
                        <a:buNone/>
                      </a:pPr>
                      <a:r>
                        <a:rPr lang="en-GB" sz="2000" b="0" kern="1200" dirty="0">
                          <a:solidFill>
                            <a:srgbClr val="000000"/>
                          </a:solidFill>
                          <a:latin typeface="+mn-lt"/>
                          <a:ea typeface="+mn-ea"/>
                          <a:cs typeface="+mn-cs"/>
                        </a:rPr>
                        <a:t>Sharing</a:t>
                      </a:r>
                      <a:endParaRPr lang="en-US" sz="2000" b="0" kern="1200" dirty="0">
                        <a:solidFill>
                          <a:srgbClr val="000000"/>
                        </a:solidFill>
                        <a:latin typeface="+mn-lt"/>
                        <a:ea typeface="+mn-ea"/>
                        <a:cs typeface="+mn-cs"/>
                      </a:endParaRPr>
                    </a:p>
                  </a:txBody>
                  <a:tcPr>
                    <a:noFill/>
                  </a:tcPr>
                </a:tc>
                <a:tc>
                  <a:txBody>
                    <a:bodyPr/>
                    <a:lstStyle/>
                    <a:p>
                      <a:pPr lvl="0">
                        <a:buNone/>
                      </a:pPr>
                      <a:r>
                        <a:rPr lang="en-US" sz="2000" b="0" dirty="0">
                          <a:solidFill>
                            <a:srgbClr val="000000"/>
                          </a:solidFill>
                        </a:rPr>
                        <a:t>Retention period</a:t>
                      </a:r>
                    </a:p>
                  </a:txBody>
                  <a:tcPr>
                    <a:noFill/>
                  </a:tcPr>
                </a:tc>
                <a:extLst>
                  <a:ext uri="{0D108BD9-81ED-4DB2-BD59-A6C34878D82A}">
                    <a16:rowId xmlns:a16="http://schemas.microsoft.com/office/drawing/2014/main" val="3197156589"/>
                  </a:ext>
                </a:extLst>
              </a:tr>
              <a:tr h="838491">
                <a:tc>
                  <a:txBody>
                    <a:bodyPr/>
                    <a:lstStyle/>
                    <a:p>
                      <a:pPr>
                        <a:buNone/>
                      </a:pPr>
                      <a:r>
                        <a:rPr lang="en-US" sz="1400" b="1" dirty="0">
                          <a:solidFill>
                            <a:srgbClr val="000000"/>
                          </a:solidFill>
                        </a:rPr>
                        <a:t>User configuration</a:t>
                      </a:r>
                    </a:p>
                  </a:txBody>
                  <a:tcPr>
                    <a:solidFill>
                      <a:schemeClr val="bg2">
                        <a:lumMod val="75000"/>
                      </a:schemeClr>
                    </a:solidFill>
                  </a:tcPr>
                </a:tc>
                <a:tc>
                  <a:txBody>
                    <a:bodyPr/>
                    <a:lstStyle/>
                    <a:p>
                      <a:pPr>
                        <a:buNone/>
                      </a:pPr>
                      <a:r>
                        <a:rPr lang="en-US" sz="1400" b="0" dirty="0">
                          <a:solidFill>
                            <a:srgbClr val="000000"/>
                          </a:solidFill>
                        </a:rPr>
                        <a:t>First 10 prompt history record ; description of mailbox folders</a:t>
                      </a:r>
                    </a:p>
                  </a:txBody>
                  <a:tcPr>
                    <a:solidFill>
                      <a:schemeClr val="bg2"/>
                    </a:solidFill>
                  </a:tcPr>
                </a:tc>
                <a:tc>
                  <a:txBody>
                    <a:bodyPr/>
                    <a:lstStyle/>
                    <a:p>
                      <a:pPr marL="0" lvl="0" algn="l" defTabSz="685800" rtl="0" eaLnBrk="1" latinLnBrk="0" hangingPunct="1">
                        <a:buNone/>
                      </a:pPr>
                      <a:r>
                        <a:rPr lang="en-US" sz="1400" b="0" i="0" u="none" strike="noStrike" kern="1200" dirty="0">
                          <a:solidFill>
                            <a:srgbClr val="000000"/>
                          </a:solidFill>
                          <a:latin typeface="Calibri"/>
                          <a:ea typeface="+mn-ea"/>
                          <a:cs typeface="+mn-cs"/>
                        </a:rPr>
                        <a:t>No processing, directly stored</a:t>
                      </a:r>
                    </a:p>
                  </a:txBody>
                  <a:tcPr>
                    <a:solidFill>
                      <a:schemeClr val="bg2"/>
                    </a:solidFill>
                  </a:tcPr>
                </a:tc>
                <a:tc>
                  <a:txBody>
                    <a:bodyPr/>
                    <a:lstStyle/>
                    <a:p>
                      <a:pPr marL="0" lvl="0" algn="l" defTabSz="685800" rtl="0" eaLnBrk="1" latinLnBrk="0" hangingPunct="1">
                        <a:buNone/>
                      </a:pPr>
                      <a:r>
                        <a:rPr lang="en-US" sz="1400" b="0" i="0" u="none" strike="noStrike" kern="1200" dirty="0" err="1">
                          <a:solidFill>
                            <a:srgbClr val="000000"/>
                          </a:solidFill>
                          <a:latin typeface="Calibri"/>
                          <a:ea typeface="+mn-ea"/>
                          <a:cs typeface="+mn-cs"/>
                        </a:rPr>
                        <a:t>IndexedDB</a:t>
                      </a:r>
                      <a:r>
                        <a:rPr lang="en-US" sz="1400" b="0" i="0" u="none" strike="noStrike" kern="1200" dirty="0">
                          <a:solidFill>
                            <a:srgbClr val="000000"/>
                          </a:solidFill>
                          <a:latin typeface="Calibri"/>
                          <a:ea typeface="+mn-ea"/>
                          <a:cs typeface="+mn-cs"/>
                        </a:rPr>
                        <a:t> (Browser)</a:t>
                      </a:r>
                    </a:p>
                  </a:txBody>
                  <a:tcPr>
                    <a:solidFill>
                      <a:schemeClr val="bg2"/>
                    </a:solidFill>
                  </a:tcPr>
                </a:tc>
                <a:tc>
                  <a:txBody>
                    <a:bodyPr/>
                    <a:lstStyle/>
                    <a:p>
                      <a:pPr marL="0" lvl="0" algn="l" defTabSz="685800" rtl="0" eaLnBrk="1" latinLnBrk="0" hangingPunct="1">
                        <a:buNone/>
                      </a:pPr>
                      <a:r>
                        <a:rPr lang="en-US" sz="1400" b="0" i="0" u="none" strike="noStrike" kern="1200" dirty="0">
                          <a:solidFill>
                            <a:srgbClr val="000000"/>
                          </a:solidFill>
                          <a:latin typeface="Calibri"/>
                          <a:ea typeface="+mn-ea"/>
                          <a:cs typeface="+mn-cs"/>
                        </a:rPr>
                        <a:t>Individual VD user</a:t>
                      </a:r>
                    </a:p>
                  </a:txBody>
                  <a:tcPr>
                    <a:solidFill>
                      <a:schemeClr val="bg2"/>
                    </a:solidFill>
                  </a:tcPr>
                </a:tc>
                <a:tc>
                  <a:txBody>
                    <a:bodyPr/>
                    <a:lstStyle/>
                    <a:p>
                      <a:pPr lvl="0" algn="l" defTabSz="685800" eaLnBrk="1" latinLnBrk="0" hangingPunct="1">
                        <a:buNone/>
                      </a:pPr>
                      <a:r>
                        <a:rPr lang="en-US" sz="1400" b="0" i="0" u="none" strike="noStrike" kern="1200" noProof="0" dirty="0">
                          <a:solidFill>
                            <a:srgbClr val="000000"/>
                          </a:solidFill>
                          <a:latin typeface="Calibri"/>
                        </a:rPr>
                        <a:t>Not intended to be shared with anyone</a:t>
                      </a:r>
                      <a:endParaRPr lang="en-US" dirty="0"/>
                    </a:p>
                  </a:txBody>
                  <a:tcPr>
                    <a:solidFill>
                      <a:schemeClr val="bg2"/>
                    </a:solidFill>
                  </a:tcPr>
                </a:tc>
                <a:tc>
                  <a:txBody>
                    <a:bodyPr/>
                    <a:lstStyle/>
                    <a:p>
                      <a:pPr lvl="0">
                        <a:buNone/>
                      </a:pPr>
                      <a:r>
                        <a:rPr lang="en-US" sz="1400" b="0" dirty="0">
                          <a:solidFill>
                            <a:srgbClr val="000000"/>
                          </a:solidFill>
                        </a:rPr>
                        <a:t>(Until removal by user)</a:t>
                      </a:r>
                    </a:p>
                  </a:txBody>
                  <a:tcPr>
                    <a:solidFill>
                      <a:schemeClr val="bg2"/>
                    </a:solidFill>
                  </a:tcPr>
                </a:tc>
                <a:extLst>
                  <a:ext uri="{0D108BD9-81ED-4DB2-BD59-A6C34878D82A}">
                    <a16:rowId xmlns:a16="http://schemas.microsoft.com/office/drawing/2014/main" val="3131484505"/>
                  </a:ext>
                </a:extLst>
              </a:tr>
              <a:tr h="2163847">
                <a:tc>
                  <a:txBody>
                    <a:bodyPr/>
                    <a:lstStyle/>
                    <a:p>
                      <a:pPr lvl="0">
                        <a:buNone/>
                      </a:pPr>
                      <a:r>
                        <a:rPr lang="en-US" sz="1400" b="1" dirty="0">
                          <a:solidFill>
                            <a:srgbClr val="000000"/>
                          </a:solidFill>
                        </a:rPr>
                        <a:t>Application Log</a:t>
                      </a:r>
                    </a:p>
                  </a:txBody>
                  <a:tcPr>
                    <a:solidFill>
                      <a:schemeClr val="bg2">
                        <a:lumMod val="75000"/>
                      </a:schemeClr>
                    </a:solidFill>
                  </a:tcPr>
                </a:tc>
                <a:tc>
                  <a:txBody>
                    <a:bodyPr/>
                    <a:lstStyle/>
                    <a:p>
                      <a:pPr lvl="0" algn="l">
                        <a:buNone/>
                      </a:pPr>
                      <a:r>
                        <a:rPr lang="en-US" sz="1400" b="0" i="0" u="none" strike="noStrike" noProof="0" dirty="0">
                          <a:solidFill>
                            <a:srgbClr val="000000"/>
                          </a:solidFill>
                          <a:latin typeface="Calibri"/>
                        </a:rPr>
                        <a:t>User actions*: </a:t>
                      </a:r>
                      <a:endParaRPr lang="en-US" sz="1400" dirty="0"/>
                    </a:p>
                    <a:p>
                      <a:pPr lvl="0" algn="l">
                        <a:buNone/>
                      </a:pPr>
                      <a:r>
                        <a:rPr lang="en-US" sz="1400" b="0" i="0" u="none" strike="noStrike" noProof="0" dirty="0">
                          <a:solidFill>
                            <a:srgbClr val="000000"/>
                          </a:solidFill>
                          <a:latin typeface="Calibri"/>
                        </a:rPr>
                        <a:t>- Log in and log out (Mailbox and SARA)</a:t>
                      </a:r>
                    </a:p>
                    <a:p>
                      <a:pPr lvl="0" algn="l">
                        <a:buNone/>
                      </a:pPr>
                      <a:r>
                        <a:rPr lang="en-US" sz="1400" b="0" i="0" u="none" strike="noStrike" noProof="0" dirty="0">
                          <a:solidFill>
                            <a:srgbClr val="000000"/>
                          </a:solidFill>
                          <a:latin typeface="Calibri"/>
                        </a:rPr>
                        <a:t>- Fetch email through IMAP</a:t>
                      </a:r>
                      <a:endParaRPr lang="en-US" sz="1400" dirty="0"/>
                    </a:p>
                    <a:p>
                      <a:pPr lvl="0" algn="l">
                        <a:buNone/>
                      </a:pPr>
                      <a:r>
                        <a:rPr lang="en-US" sz="1400" b="0" i="0" u="none" strike="noStrike" noProof="0" dirty="0">
                          <a:solidFill>
                            <a:srgbClr val="000000"/>
                          </a:solidFill>
                          <a:latin typeface="Calibri"/>
                        </a:rPr>
                        <a:t>- Create folders through IMAP </a:t>
                      </a:r>
                    </a:p>
                    <a:p>
                      <a:pPr lvl="0" algn="l">
                        <a:buNone/>
                      </a:pPr>
                      <a:r>
                        <a:rPr lang="en-US" sz="1400" b="0" i="0" u="none" strike="noStrike" noProof="0" dirty="0">
                          <a:solidFill>
                            <a:srgbClr val="000000"/>
                          </a:solidFill>
                          <a:latin typeface="Calibri"/>
                        </a:rPr>
                        <a:t>- Move emails into folders through IMAP </a:t>
                      </a:r>
                    </a:p>
                    <a:p>
                      <a:pPr lvl="0" algn="l">
                        <a:buNone/>
                      </a:pPr>
                      <a:r>
                        <a:rPr lang="en-US" sz="1400" b="0" i="0" u="none" strike="noStrike" noProof="0" dirty="0">
                          <a:solidFill>
                            <a:srgbClr val="000000"/>
                          </a:solidFill>
                          <a:latin typeface="Calibri"/>
                        </a:rPr>
                        <a:t>- Call the SARA API</a:t>
                      </a:r>
                      <a:endParaRPr lang="en-US" sz="1400" dirty="0"/>
                    </a:p>
                  </a:txBody>
                  <a:tcPr>
                    <a:solidFill>
                      <a:schemeClr val="bg2"/>
                    </a:solidFill>
                  </a:tcPr>
                </a:tc>
                <a:tc>
                  <a:txBody>
                    <a:bodyPr/>
                    <a:lstStyle/>
                    <a:p>
                      <a:pPr marL="0" lvl="0" algn="l" defTabSz="685800" rtl="0" eaLnBrk="1" latinLnBrk="0" hangingPunct="1">
                        <a:buNone/>
                      </a:pPr>
                      <a:r>
                        <a:rPr lang="en-US" sz="1400" b="0" i="0" u="none" strike="noStrike" kern="1200" dirty="0">
                          <a:solidFill>
                            <a:srgbClr val="000000"/>
                          </a:solidFill>
                          <a:latin typeface="Calibri"/>
                          <a:ea typeface="+mn-ea"/>
                          <a:cs typeface="+mn-cs"/>
                        </a:rPr>
                        <a:t>No processing, directly stored</a:t>
                      </a:r>
                    </a:p>
                  </a:txBody>
                  <a:tcPr>
                    <a:solidFill>
                      <a:schemeClr val="bg2"/>
                    </a:solidFill>
                  </a:tcPr>
                </a:tc>
                <a:tc>
                  <a:txBody>
                    <a:bodyPr/>
                    <a:lstStyle/>
                    <a:p>
                      <a:pPr marL="0" lvl="0" algn="l" defTabSz="685800" rtl="0" eaLnBrk="1" latinLnBrk="0" hangingPunct="1">
                        <a:buNone/>
                      </a:pPr>
                      <a:r>
                        <a:rPr lang="en-US" sz="1400" b="0" i="0" u="none" strike="noStrike" kern="1200" dirty="0">
                          <a:solidFill>
                            <a:srgbClr val="000000"/>
                          </a:solidFill>
                          <a:latin typeface="Calibri"/>
                          <a:ea typeface="+mn-ea"/>
                          <a:cs typeface="+mn-cs"/>
                        </a:rPr>
                        <a:t>Windows application log</a:t>
                      </a:r>
                    </a:p>
                  </a:txBody>
                  <a:tcPr>
                    <a:solidFill>
                      <a:schemeClr val="bg2"/>
                    </a:solidFill>
                  </a:tcPr>
                </a:tc>
                <a:tc>
                  <a:txBody>
                    <a:bodyPr/>
                    <a:lstStyle/>
                    <a:p>
                      <a:pPr marL="0" lvl="0" algn="l" defTabSz="685800" rtl="0" eaLnBrk="1" latinLnBrk="0" hangingPunct="1">
                        <a:buNone/>
                      </a:pPr>
                      <a:r>
                        <a:rPr lang="en-US" sz="1400" b="0" i="0" u="none" strike="noStrike" kern="1200" dirty="0">
                          <a:solidFill>
                            <a:srgbClr val="000000"/>
                          </a:solidFill>
                          <a:latin typeface="Calibri"/>
                          <a:ea typeface="+mn-ea"/>
                          <a:cs typeface="+mn-cs"/>
                        </a:rPr>
                        <a:t>Audit Team</a:t>
                      </a:r>
                    </a:p>
                  </a:txBody>
                  <a:tcPr>
                    <a:solidFill>
                      <a:schemeClr val="bg2"/>
                    </a:solidFill>
                  </a:tcPr>
                </a:tc>
                <a:tc>
                  <a:txBody>
                    <a:bodyPr/>
                    <a:lstStyle/>
                    <a:p>
                      <a:pPr marL="0" lvl="0" algn="l" defTabSz="685800" rtl="0" eaLnBrk="1" latinLnBrk="0" hangingPunct="1">
                        <a:buNone/>
                      </a:pPr>
                      <a:r>
                        <a:rPr lang="en-US" sz="1400" b="0" i="0" u="none" strike="noStrike" kern="1200" dirty="0">
                          <a:solidFill>
                            <a:srgbClr val="000000"/>
                          </a:solidFill>
                          <a:latin typeface="Calibri"/>
                          <a:ea typeface="+mn-ea"/>
                          <a:cs typeface="+mn-cs"/>
                        </a:rPr>
                        <a:t>Not intended to be shared with anyone </a:t>
                      </a:r>
                    </a:p>
                  </a:txBody>
                  <a:tcPr>
                    <a:solidFill>
                      <a:schemeClr val="bg2"/>
                    </a:solidFill>
                  </a:tcPr>
                </a:tc>
                <a:tc>
                  <a:txBody>
                    <a:bodyPr/>
                    <a:lstStyle/>
                    <a:p>
                      <a:pPr lvl="0" algn="l">
                        <a:buNone/>
                      </a:pPr>
                      <a:r>
                        <a:rPr lang="en-US" sz="1400" b="0" i="0" u="none" strike="noStrike" noProof="0" dirty="0">
                          <a:solidFill>
                            <a:srgbClr val="000000"/>
                          </a:solidFill>
                          <a:latin typeface="Calibri"/>
                        </a:rPr>
                        <a:t>180 days </a:t>
                      </a:r>
                    </a:p>
                  </a:txBody>
                  <a:tcPr>
                    <a:solidFill>
                      <a:schemeClr val="bg2"/>
                    </a:solidFill>
                  </a:tcPr>
                </a:tc>
                <a:extLst>
                  <a:ext uri="{0D108BD9-81ED-4DB2-BD59-A6C34878D82A}">
                    <a16:rowId xmlns:a16="http://schemas.microsoft.com/office/drawing/2014/main" val="2616382317"/>
                  </a:ext>
                </a:extLst>
              </a:tr>
              <a:tr h="811443">
                <a:tc>
                  <a:txBody>
                    <a:bodyPr/>
                    <a:lstStyle/>
                    <a:p>
                      <a:pPr lvl="0">
                        <a:buNone/>
                      </a:pPr>
                      <a:r>
                        <a:rPr lang="en-US" sz="1400" b="1" dirty="0">
                          <a:solidFill>
                            <a:srgbClr val="000000"/>
                          </a:solidFill>
                        </a:rPr>
                        <a:t>Categories</a:t>
                      </a:r>
                    </a:p>
                  </a:txBody>
                  <a:tcPr>
                    <a:solidFill>
                      <a:schemeClr val="bg2">
                        <a:lumMod val="75000"/>
                      </a:schemeClr>
                    </a:solidFill>
                  </a:tcPr>
                </a:tc>
                <a:tc>
                  <a:txBody>
                    <a:bodyPr/>
                    <a:lstStyle/>
                    <a:p>
                      <a:pPr lvl="0" algn="l">
                        <a:buNone/>
                      </a:pPr>
                      <a:r>
                        <a:rPr lang="en-US" sz="1400" dirty="0"/>
                        <a:t>Categories name which become the folder name in Outlook </a:t>
                      </a:r>
                    </a:p>
                  </a:txBody>
                  <a:tcPr>
                    <a:solidFill>
                      <a:schemeClr val="bg2"/>
                    </a:solidFill>
                  </a:tcPr>
                </a:tc>
                <a:tc>
                  <a:txBody>
                    <a:bodyPr/>
                    <a:lstStyle/>
                    <a:p>
                      <a:pPr marL="0" lvl="0" algn="l" defTabSz="685800" rtl="0" eaLnBrk="1" latinLnBrk="0" hangingPunct="1">
                        <a:buNone/>
                      </a:pPr>
                      <a:r>
                        <a:rPr lang="en-US" sz="1400" b="0" i="0" u="none" strike="noStrike" kern="1200" dirty="0">
                          <a:solidFill>
                            <a:srgbClr val="000000"/>
                          </a:solidFill>
                          <a:latin typeface="Calibri"/>
                          <a:ea typeface="+mn-ea"/>
                          <a:cs typeface="+mn-cs"/>
                        </a:rPr>
                        <a:t>No processing</a:t>
                      </a:r>
                    </a:p>
                  </a:txBody>
                  <a:tcPr>
                    <a:solidFill>
                      <a:schemeClr val="bg2"/>
                    </a:solidFill>
                  </a:tcPr>
                </a:tc>
                <a:tc>
                  <a:txBody>
                    <a:bodyPr/>
                    <a:lstStyle/>
                    <a:p>
                      <a:pPr marL="0" lvl="0" algn="l" defTabSz="685800" rtl="0" eaLnBrk="1" latinLnBrk="0" hangingPunct="1">
                        <a:buNone/>
                      </a:pPr>
                      <a:r>
                        <a:rPr lang="en-US" sz="1400" b="0" i="0" u="none" strike="noStrike" kern="1200" dirty="0">
                          <a:solidFill>
                            <a:srgbClr val="000000"/>
                          </a:solidFill>
                          <a:latin typeface="Calibri"/>
                          <a:ea typeface="+mn-ea"/>
                          <a:cs typeface="+mn-cs"/>
                        </a:rPr>
                        <a:t>Sync with CMMP </a:t>
                      </a:r>
                    </a:p>
                  </a:txBody>
                  <a:tcPr>
                    <a:solidFill>
                      <a:schemeClr val="bg2"/>
                    </a:solidFill>
                  </a:tcPr>
                </a:tc>
                <a:tc>
                  <a:txBody>
                    <a:bodyPr/>
                    <a:lstStyle/>
                    <a:p>
                      <a:pPr marL="0" lvl="0" algn="l" defTabSz="685800" rtl="0" eaLnBrk="1" latinLnBrk="0" hangingPunct="1">
                        <a:buNone/>
                      </a:pPr>
                      <a:r>
                        <a:rPr lang="en-US" sz="1400" b="0" i="0" u="none" strike="noStrike" kern="1200" dirty="0">
                          <a:solidFill>
                            <a:srgbClr val="000000"/>
                          </a:solidFill>
                          <a:latin typeface="Calibri"/>
                          <a:ea typeface="+mn-ea"/>
                          <a:cs typeface="+mn-cs"/>
                        </a:rPr>
                        <a:t>All users connected to the specific team mailbox </a:t>
                      </a:r>
                    </a:p>
                  </a:txBody>
                  <a:tcPr>
                    <a:solidFill>
                      <a:schemeClr val="bg2"/>
                    </a:solidFill>
                  </a:tcPr>
                </a:tc>
                <a:tc>
                  <a:txBody>
                    <a:bodyPr/>
                    <a:lstStyle/>
                    <a:p>
                      <a:pPr marL="0" lvl="0" algn="l" defTabSz="685800" rtl="0" eaLnBrk="1" latinLnBrk="0" hangingPunct="1">
                        <a:buNone/>
                      </a:pPr>
                      <a:r>
                        <a:rPr lang="en-US" sz="1400" b="0" i="0" u="none" strike="noStrike" kern="1200" dirty="0">
                          <a:solidFill>
                            <a:srgbClr val="000000"/>
                          </a:solidFill>
                          <a:latin typeface="Calibri"/>
                          <a:ea typeface="+mn-ea"/>
                          <a:cs typeface="+mn-cs"/>
                        </a:rPr>
                        <a:t>N/A</a:t>
                      </a:r>
                    </a:p>
                  </a:txBody>
                  <a:tcPr>
                    <a:solidFill>
                      <a:schemeClr val="bg2"/>
                    </a:solidFill>
                  </a:tcPr>
                </a:tc>
                <a:tc>
                  <a:txBody>
                    <a:bodyPr/>
                    <a:lstStyle/>
                    <a:p>
                      <a:pPr lvl="0" algn="l">
                        <a:buNone/>
                      </a:pPr>
                      <a:r>
                        <a:rPr lang="en-US" sz="1400" b="0" i="0" u="none" strike="noStrike" noProof="0" dirty="0">
                          <a:solidFill>
                            <a:srgbClr val="000000"/>
                          </a:solidFill>
                          <a:latin typeface="Calibri"/>
                        </a:rPr>
                        <a:t>(Until removal by user)</a:t>
                      </a:r>
                    </a:p>
                  </a:txBody>
                  <a:tcPr>
                    <a:solidFill>
                      <a:schemeClr val="bg2"/>
                    </a:solidFill>
                  </a:tcPr>
                </a:tc>
                <a:extLst>
                  <a:ext uri="{0D108BD9-81ED-4DB2-BD59-A6C34878D82A}">
                    <a16:rowId xmlns:a16="http://schemas.microsoft.com/office/drawing/2014/main" val="2628182821"/>
                  </a:ext>
                </a:extLst>
              </a:tr>
            </a:tbl>
          </a:graphicData>
        </a:graphic>
      </p:graphicFrame>
    </p:spTree>
    <p:extLst>
      <p:ext uri="{BB962C8B-B14F-4D97-AF65-F5344CB8AC3E}">
        <p14:creationId xmlns:p14="http://schemas.microsoft.com/office/powerpoint/2010/main" val="14350734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F8CC6-144C-E444-4740-6E99D2052101}"/>
              </a:ext>
            </a:extLst>
          </p:cNvPr>
          <p:cNvSpPr>
            <a:spLocks noGrp="1"/>
          </p:cNvSpPr>
          <p:nvPr>
            <p:ph type="title"/>
          </p:nvPr>
        </p:nvSpPr>
        <p:spPr/>
        <p:txBody>
          <a:bodyPr/>
          <a:lstStyle/>
          <a:p>
            <a:r>
              <a:rPr lang="en-GB" dirty="0"/>
              <a:t>Application Architecture</a:t>
            </a:r>
          </a:p>
        </p:txBody>
      </p:sp>
      <p:pic>
        <p:nvPicPr>
          <p:cNvPr id="4" name="Picture 3">
            <a:extLst>
              <a:ext uri="{FF2B5EF4-FFF2-40B4-BE49-F238E27FC236}">
                <a16:creationId xmlns:a16="http://schemas.microsoft.com/office/drawing/2014/main" id="{5384A638-52CF-FC3F-1DB8-4048A5C10DEE}"/>
              </a:ext>
            </a:extLst>
          </p:cNvPr>
          <p:cNvPicPr>
            <a:picLocks noChangeAspect="1"/>
          </p:cNvPicPr>
          <p:nvPr/>
        </p:nvPicPr>
        <p:blipFill>
          <a:blip r:embed="rId2"/>
          <a:stretch>
            <a:fillRect/>
          </a:stretch>
        </p:blipFill>
        <p:spPr>
          <a:xfrm>
            <a:off x="687794" y="2620535"/>
            <a:ext cx="5435645" cy="2051825"/>
          </a:xfrm>
          <a:prstGeom prst="rect">
            <a:avLst/>
          </a:prstGeom>
        </p:spPr>
      </p:pic>
      <p:sp>
        <p:nvSpPr>
          <p:cNvPr id="6" name="TextBox 5">
            <a:extLst>
              <a:ext uri="{FF2B5EF4-FFF2-40B4-BE49-F238E27FC236}">
                <a16:creationId xmlns:a16="http://schemas.microsoft.com/office/drawing/2014/main" id="{0BA8FE48-9A58-AA66-7872-850C96FAFFCB}"/>
              </a:ext>
            </a:extLst>
          </p:cNvPr>
          <p:cNvSpPr txBox="1"/>
          <p:nvPr/>
        </p:nvSpPr>
        <p:spPr>
          <a:xfrm>
            <a:off x="687794" y="2073455"/>
            <a:ext cx="6094140" cy="369332"/>
          </a:xfrm>
          <a:prstGeom prst="rect">
            <a:avLst/>
          </a:prstGeom>
          <a:noFill/>
        </p:spPr>
        <p:txBody>
          <a:bodyPr wrap="square">
            <a:spAutoFit/>
          </a:bodyPr>
          <a:lstStyle/>
          <a:p>
            <a:r>
              <a:rPr lang="en-US" sz="1800" b="1" kern="0" dirty="0">
                <a:solidFill>
                  <a:srgbClr val="673280"/>
                </a:solidFill>
                <a:latin typeface="Arial" panose="020B0604020202020204" pitchFamily="34" charset="0"/>
                <a:ea typeface="Roboto"/>
                <a:cs typeface="Arial" panose="020B0604020202020204" pitchFamily="34" charset="0"/>
              </a:rPr>
              <a:t>Physical Architecture</a:t>
            </a:r>
            <a:endParaRPr lang="en-GB" dirty="0"/>
          </a:p>
        </p:txBody>
      </p:sp>
      <p:pic>
        <p:nvPicPr>
          <p:cNvPr id="9" name="Picture 8">
            <a:extLst>
              <a:ext uri="{FF2B5EF4-FFF2-40B4-BE49-F238E27FC236}">
                <a16:creationId xmlns:a16="http://schemas.microsoft.com/office/drawing/2014/main" id="{369C7004-8681-5905-9951-C2D12C92F34A}"/>
              </a:ext>
            </a:extLst>
          </p:cNvPr>
          <p:cNvPicPr>
            <a:picLocks noChangeAspect="1"/>
          </p:cNvPicPr>
          <p:nvPr/>
        </p:nvPicPr>
        <p:blipFill>
          <a:blip r:embed="rId3"/>
          <a:stretch>
            <a:fillRect/>
          </a:stretch>
        </p:blipFill>
        <p:spPr>
          <a:xfrm>
            <a:off x="6337745" y="2620535"/>
            <a:ext cx="4998144" cy="2308303"/>
          </a:xfrm>
          <a:prstGeom prst="rect">
            <a:avLst/>
          </a:prstGeom>
        </p:spPr>
      </p:pic>
      <p:sp>
        <p:nvSpPr>
          <p:cNvPr id="10" name="TextBox 9">
            <a:extLst>
              <a:ext uri="{FF2B5EF4-FFF2-40B4-BE49-F238E27FC236}">
                <a16:creationId xmlns:a16="http://schemas.microsoft.com/office/drawing/2014/main" id="{C2A4F2D8-DA06-7BC4-5158-6FF1B98EEFE2}"/>
              </a:ext>
            </a:extLst>
          </p:cNvPr>
          <p:cNvSpPr txBox="1"/>
          <p:nvPr/>
        </p:nvSpPr>
        <p:spPr>
          <a:xfrm>
            <a:off x="6337745" y="2057915"/>
            <a:ext cx="6094140" cy="369332"/>
          </a:xfrm>
          <a:prstGeom prst="rect">
            <a:avLst/>
          </a:prstGeom>
          <a:noFill/>
        </p:spPr>
        <p:txBody>
          <a:bodyPr wrap="square">
            <a:spAutoFit/>
          </a:bodyPr>
          <a:lstStyle/>
          <a:p>
            <a:r>
              <a:rPr lang="en-US" sz="1800" b="1" kern="0" dirty="0">
                <a:solidFill>
                  <a:srgbClr val="673280"/>
                </a:solidFill>
                <a:latin typeface="Arial" panose="020B0604020202020204" pitchFamily="34" charset="0"/>
                <a:ea typeface="Roboto"/>
                <a:cs typeface="Arial" panose="020B0604020202020204" pitchFamily="34" charset="0"/>
              </a:rPr>
              <a:t>Logical Architecture</a:t>
            </a:r>
            <a:endParaRPr lang="en-GB" dirty="0"/>
          </a:p>
        </p:txBody>
      </p:sp>
    </p:spTree>
    <p:extLst>
      <p:ext uri="{BB962C8B-B14F-4D97-AF65-F5344CB8AC3E}">
        <p14:creationId xmlns:p14="http://schemas.microsoft.com/office/powerpoint/2010/main" val="10124658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Times New Roman" panose="02020603050405020304" pitchFamily="18" charset="0"/>
                <a:cs typeface="Times New Roman" panose="02020603050405020304" pitchFamily="18" charset="0"/>
              </a:rPr>
              <a:t>B. Roles &amp; Responsibilities</a:t>
            </a:r>
          </a:p>
        </p:txBody>
      </p:sp>
      <p:sp>
        <p:nvSpPr>
          <p:cNvPr id="3" name="TextBox 2"/>
          <p:cNvSpPr txBox="1"/>
          <p:nvPr/>
        </p:nvSpPr>
        <p:spPr>
          <a:xfrm>
            <a:off x="-2238138" y="-726974"/>
            <a:ext cx="10800001" cy="1077218"/>
          </a:xfrm>
          <a:prstGeom prst="rect">
            <a:avLst/>
          </a:prstGeom>
          <a:noFill/>
        </p:spPr>
        <p:txBody>
          <a:bodyPr wrap="square" lIns="0" rtlCol="0" anchor="t">
            <a:spAutoFit/>
          </a:bodyPr>
          <a:lstStyle/>
          <a:p>
            <a:pPr marL="514350" indent="-514350">
              <a:buFont typeface="+mj-lt"/>
              <a:buAutoNum type="arabicPeriod"/>
            </a:pPr>
            <a:r>
              <a:rPr lang="en-GB" sz="1600" b="1" dirty="0">
                <a:latin typeface="Times New Roman" panose="02020603050405020304" pitchFamily="18" charset="0"/>
                <a:cs typeface="Times New Roman" panose="02020603050405020304" pitchFamily="18" charset="0"/>
              </a:rPr>
              <a:t>Please identify the roles involved in the project and the assignment of each role</a:t>
            </a:r>
          </a:p>
          <a:p>
            <a:pPr marL="971550" lvl="1" indent="-514350">
              <a:buFont typeface="Arial" panose="020B0604020202020204" pitchFamily="34" charset="0"/>
              <a:buChar char="•"/>
            </a:pPr>
            <a:r>
              <a:rPr lang="en-GB" sz="1600" i="1" dirty="0">
                <a:latin typeface="Times New Roman" panose="02020603050405020304" pitchFamily="18" charset="0"/>
                <a:cs typeface="Times New Roman" panose="02020603050405020304" pitchFamily="18" charset="0"/>
              </a:rPr>
              <a:t>Please refer to the </a:t>
            </a:r>
            <a:r>
              <a:rPr lang="en-GB" sz="1600" i="1" dirty="0">
                <a:latin typeface="Times New Roman" panose="02020603050405020304" pitchFamily="18" charset="0"/>
                <a:cs typeface="Times New Roman" panose="02020603050405020304" pitchFamily="18" charset="0"/>
                <a:hlinkClick r:id="rId2"/>
              </a:rPr>
              <a:t>HKMA Data Policy</a:t>
            </a:r>
            <a:r>
              <a:rPr lang="en-GB" sz="1600" i="1" dirty="0">
                <a:latin typeface="Times New Roman" panose="02020603050405020304" pitchFamily="18" charset="0"/>
                <a:cs typeface="Times New Roman" panose="02020603050405020304" pitchFamily="18" charset="0"/>
              </a:rPr>
              <a:t> (Section 5) for R&amp;R definition</a:t>
            </a:r>
          </a:p>
          <a:p>
            <a:pPr marL="971550" lvl="1" indent="-514350">
              <a:buFont typeface="Arial" panose="020B0604020202020204" pitchFamily="34" charset="0"/>
              <a:buChar char="•"/>
            </a:pPr>
            <a:r>
              <a:rPr lang="en-GB" sz="1600" i="1" dirty="0">
                <a:latin typeface="Times New Roman" panose="02020603050405020304" pitchFamily="18" charset="0"/>
                <a:cs typeface="Times New Roman" panose="02020603050405020304" pitchFamily="18" charset="0"/>
              </a:rPr>
              <a:t>Please refer to </a:t>
            </a:r>
            <a:r>
              <a:rPr lang="en-GB" sz="1600" i="1" dirty="0">
                <a:latin typeface="Times New Roman" panose="02020603050405020304" pitchFamily="18" charset="0"/>
                <a:cs typeface="Times New Roman" panose="02020603050405020304" pitchFamily="18" charset="0"/>
                <a:hlinkClick r:id="rId3"/>
              </a:rPr>
              <a:t>SOP 10b</a:t>
            </a:r>
            <a:r>
              <a:rPr lang="en-GB" sz="1600" i="1" dirty="0">
                <a:latin typeface="Times New Roman" panose="02020603050405020304" pitchFamily="18" charset="0"/>
                <a:cs typeface="Times New Roman" panose="02020603050405020304" pitchFamily="18" charset="0"/>
              </a:rPr>
              <a:t> for identification of Data Owner and Data Steward</a:t>
            </a:r>
            <a:endParaRPr lang="en-GB" sz="1600" dirty="0">
              <a:latin typeface="Times New Roman" panose="02020603050405020304" pitchFamily="18" charset="0"/>
              <a:cs typeface="Times New Roman" panose="02020603050405020304" pitchFamily="18" charset="0"/>
            </a:endParaRPr>
          </a:p>
          <a:p>
            <a:endParaRPr lang="en-GB" sz="1600" dirty="0">
              <a:latin typeface="Times New Roman" panose="02020603050405020304" pitchFamily="18" charset="0"/>
              <a:cs typeface="Times New Roman" panose="02020603050405020304"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619881173"/>
              </p:ext>
            </p:extLst>
          </p:nvPr>
        </p:nvGraphicFramePr>
        <p:xfrm>
          <a:off x="696001" y="2482928"/>
          <a:ext cx="10800000" cy="2651760"/>
        </p:xfrm>
        <a:graphic>
          <a:graphicData uri="http://schemas.openxmlformats.org/drawingml/2006/table">
            <a:tbl>
              <a:tblPr firstRow="1">
                <a:tableStyleId>{5C22544A-7EE6-4342-B048-85BDC9FD1C3A}</a:tableStyleId>
              </a:tblPr>
              <a:tblGrid>
                <a:gridCol w="2700000">
                  <a:extLst>
                    <a:ext uri="{9D8B030D-6E8A-4147-A177-3AD203B41FA5}">
                      <a16:colId xmlns:a16="http://schemas.microsoft.com/office/drawing/2014/main" val="215512194"/>
                    </a:ext>
                  </a:extLst>
                </a:gridCol>
                <a:gridCol w="2700000">
                  <a:extLst>
                    <a:ext uri="{9D8B030D-6E8A-4147-A177-3AD203B41FA5}">
                      <a16:colId xmlns:a16="http://schemas.microsoft.com/office/drawing/2014/main" val="3513719145"/>
                    </a:ext>
                  </a:extLst>
                </a:gridCol>
                <a:gridCol w="2700000">
                  <a:extLst>
                    <a:ext uri="{9D8B030D-6E8A-4147-A177-3AD203B41FA5}">
                      <a16:colId xmlns:a16="http://schemas.microsoft.com/office/drawing/2014/main" val="2541505360"/>
                    </a:ext>
                  </a:extLst>
                </a:gridCol>
                <a:gridCol w="2700000">
                  <a:extLst>
                    <a:ext uri="{9D8B030D-6E8A-4147-A177-3AD203B41FA5}">
                      <a16:colId xmlns:a16="http://schemas.microsoft.com/office/drawing/2014/main" val="4223032881"/>
                    </a:ext>
                  </a:extLst>
                </a:gridCol>
              </a:tblGrid>
              <a:tr h="370840">
                <a:tc>
                  <a:txBody>
                    <a:bodyPr/>
                    <a:lstStyle/>
                    <a:p>
                      <a:r>
                        <a:rPr lang="en-GB" sz="1400" dirty="0">
                          <a:latin typeface="Times New Roman" panose="02020603050405020304" pitchFamily="18" charset="0"/>
                          <a:cs typeface="Times New Roman" panose="02020603050405020304" pitchFamily="18" charset="0"/>
                        </a:rPr>
                        <a:t>Role</a:t>
                      </a:r>
                    </a:p>
                  </a:txBody>
                  <a:tcPr marL="45720" marR="4572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D0F5A"/>
                    </a:solidFill>
                  </a:tcPr>
                </a:tc>
                <a:tc>
                  <a:txBody>
                    <a:bodyPr/>
                    <a:lstStyle/>
                    <a:p>
                      <a:r>
                        <a:rPr lang="en-GB" sz="1400" dirty="0">
                          <a:latin typeface="Times New Roman" panose="02020603050405020304" pitchFamily="18" charset="0"/>
                          <a:cs typeface="Times New Roman" panose="02020603050405020304" pitchFamily="18" charset="0"/>
                        </a:rPr>
                        <a:t>Assignment</a:t>
                      </a:r>
                      <a:r>
                        <a:rPr lang="en-GB" sz="1400" baseline="0" dirty="0">
                          <a:latin typeface="Times New Roman" panose="02020603050405020304" pitchFamily="18" charset="0"/>
                          <a:cs typeface="Times New Roman" panose="02020603050405020304" pitchFamily="18" charset="0"/>
                        </a:rPr>
                        <a:t> (POST)</a:t>
                      </a:r>
                      <a:endParaRPr lang="en-GB" sz="1400" dirty="0">
                        <a:latin typeface="Times New Roman" panose="02020603050405020304" pitchFamily="18" charset="0"/>
                        <a:cs typeface="Times New Roman" panose="02020603050405020304" pitchFamily="18" charset="0"/>
                      </a:endParaRPr>
                    </a:p>
                  </a:txBody>
                  <a:tcPr marL="45720" marR="4572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D0F5A"/>
                    </a:solidFill>
                  </a:tcPr>
                </a:tc>
                <a:tc>
                  <a:txBody>
                    <a:bodyPr/>
                    <a:lstStyle/>
                    <a:p>
                      <a:r>
                        <a:rPr lang="en-GB" sz="1400" dirty="0">
                          <a:solidFill>
                            <a:schemeClr val="bg1"/>
                          </a:solidFill>
                          <a:latin typeface="Times New Roman" panose="02020603050405020304" pitchFamily="18" charset="0"/>
                          <a:cs typeface="Times New Roman" panose="02020603050405020304" pitchFamily="18" charset="0"/>
                        </a:rPr>
                        <a:t>Business Domain / Critical</a:t>
                      </a:r>
                      <a:r>
                        <a:rPr lang="en-GB" sz="1400" baseline="0" dirty="0">
                          <a:solidFill>
                            <a:schemeClr val="bg1"/>
                          </a:solidFill>
                          <a:latin typeface="Times New Roman" panose="02020603050405020304" pitchFamily="18" charset="0"/>
                          <a:cs typeface="Times New Roman" panose="02020603050405020304" pitchFamily="18" charset="0"/>
                        </a:rPr>
                        <a:t> Data Element (CDE)</a:t>
                      </a:r>
                      <a:endParaRPr lang="en-GB" sz="1400" dirty="0">
                        <a:solidFill>
                          <a:schemeClr val="bg1"/>
                        </a:solidFill>
                        <a:latin typeface="Times New Roman" panose="02020603050405020304" pitchFamily="18" charset="0"/>
                        <a:cs typeface="Times New Roman" panose="02020603050405020304" pitchFamily="18" charset="0"/>
                      </a:endParaRPr>
                    </a:p>
                  </a:txBody>
                  <a:tcPr marL="45720" marR="4572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D0F5A"/>
                    </a:solidFill>
                  </a:tcPr>
                </a:tc>
                <a:tc>
                  <a:txBody>
                    <a:bodyPr/>
                    <a:lstStyle/>
                    <a:p>
                      <a:r>
                        <a:rPr lang="en-GB" sz="1400" dirty="0">
                          <a:latin typeface="Times New Roman" panose="02020603050405020304" pitchFamily="18" charset="0"/>
                          <a:cs typeface="Times New Roman" panose="02020603050405020304" pitchFamily="18" charset="0"/>
                        </a:rPr>
                        <a:t>Responsibilities</a:t>
                      </a:r>
                    </a:p>
                    <a:p>
                      <a:r>
                        <a:rPr lang="en-GB" sz="1100" i="1" dirty="0">
                          <a:solidFill>
                            <a:schemeClr val="bg1"/>
                          </a:solidFill>
                          <a:latin typeface="Times New Roman" panose="02020603050405020304" pitchFamily="18" charset="0"/>
                          <a:cs typeface="Times New Roman" panose="02020603050405020304" pitchFamily="18" charset="0"/>
                        </a:rPr>
                        <a:t>(Only highlight if any deviation or</a:t>
                      </a:r>
                      <a:r>
                        <a:rPr lang="en-GB" sz="1100" i="1" baseline="0" dirty="0">
                          <a:solidFill>
                            <a:schemeClr val="bg1"/>
                          </a:solidFill>
                          <a:latin typeface="Times New Roman" panose="02020603050405020304" pitchFamily="18" charset="0"/>
                          <a:cs typeface="Times New Roman" panose="02020603050405020304" pitchFamily="18" charset="0"/>
                        </a:rPr>
                        <a:t> addition</a:t>
                      </a:r>
                      <a:r>
                        <a:rPr lang="en-GB" sz="1100" i="1" dirty="0">
                          <a:solidFill>
                            <a:schemeClr val="bg1"/>
                          </a:solidFill>
                          <a:latin typeface="Times New Roman" panose="02020603050405020304" pitchFamily="18" charset="0"/>
                          <a:cs typeface="Times New Roman" panose="02020603050405020304" pitchFamily="18" charset="0"/>
                        </a:rPr>
                        <a:t> from</a:t>
                      </a:r>
                      <a:r>
                        <a:rPr lang="en-GB" sz="1100" i="1" baseline="0" dirty="0">
                          <a:solidFill>
                            <a:schemeClr val="bg1"/>
                          </a:solidFill>
                          <a:latin typeface="Times New Roman" panose="02020603050405020304" pitchFamily="18" charset="0"/>
                          <a:cs typeface="Times New Roman" panose="02020603050405020304" pitchFamily="18" charset="0"/>
                        </a:rPr>
                        <a:t> responsibilities stated in SOP)</a:t>
                      </a:r>
                      <a:endParaRPr lang="en-GB" sz="1100" i="1" dirty="0">
                        <a:solidFill>
                          <a:schemeClr val="bg1"/>
                        </a:solidFill>
                        <a:latin typeface="Times New Roman" panose="02020603050405020304" pitchFamily="18" charset="0"/>
                        <a:cs typeface="Times New Roman" panose="02020603050405020304" pitchFamily="18" charset="0"/>
                      </a:endParaRPr>
                    </a:p>
                  </a:txBody>
                  <a:tcPr marL="45720" marR="45720">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D0F5A"/>
                    </a:solidFill>
                  </a:tcPr>
                </a:tc>
                <a:extLst>
                  <a:ext uri="{0D108BD9-81ED-4DB2-BD59-A6C34878D82A}">
                    <a16:rowId xmlns:a16="http://schemas.microsoft.com/office/drawing/2014/main" val="3239964996"/>
                  </a:ext>
                </a:extLst>
              </a:tr>
              <a:tr h="370840">
                <a:tc>
                  <a:txBody>
                    <a:bodyPr/>
                    <a:lstStyle/>
                    <a:p>
                      <a:pPr>
                        <a:buNone/>
                      </a:pPr>
                      <a:r>
                        <a:rPr lang="en-GB" sz="1400" dirty="0">
                          <a:latin typeface="Times New Roman" panose="02020603050405020304" pitchFamily="18" charset="0"/>
                          <a:cs typeface="Times New Roman" panose="02020603050405020304" pitchFamily="18" charset="0"/>
                        </a:rPr>
                        <a:t>[Data Owner]</a:t>
                      </a:r>
                    </a:p>
                    <a:p>
                      <a:pPr>
                        <a:buNone/>
                      </a:pPr>
                      <a:r>
                        <a:rPr lang="en-GB" sz="1200" i="1" dirty="0">
                          <a:latin typeface="Times New Roman"/>
                          <a:cs typeface="Times New Roman"/>
                        </a:rPr>
                        <a:t>*In general,</a:t>
                      </a:r>
                      <a:r>
                        <a:rPr lang="en-GB" sz="1200" i="1" baseline="0" dirty="0">
                          <a:latin typeface="Times New Roman"/>
                          <a:cs typeface="Times New Roman"/>
                        </a:rPr>
                        <a:t> Data Owner will be </a:t>
                      </a:r>
                      <a:r>
                        <a:rPr lang="en-GB" sz="1200" i="1" dirty="0">
                          <a:latin typeface="Times New Roman"/>
                          <a:cs typeface="Times New Roman"/>
                        </a:rPr>
                        <a:t>Division</a:t>
                      </a:r>
                      <a:r>
                        <a:rPr lang="en-GB" sz="1200" i="1" baseline="0" dirty="0">
                          <a:latin typeface="Times New Roman"/>
                          <a:cs typeface="Times New Roman"/>
                        </a:rPr>
                        <a:t> Head or above unless specified.</a:t>
                      </a:r>
                      <a:endParaRPr lang="en-GB" sz="1400" i="1" dirty="0">
                        <a:latin typeface="Times New Roman"/>
                        <a:cs typeface="Times New Roman"/>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400" dirty="0">
                          <a:latin typeface="Times New Roman" panose="02020603050405020304" pitchFamily="18" charset="0"/>
                          <a:cs typeface="Times New Roman" panose="02020603050405020304" pitchFamily="18" charset="0"/>
                        </a:rPr>
                        <a:t>CIO</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400" dirty="0">
                          <a:latin typeface="Times New Roman"/>
                          <a:cs typeface="Times New Roman"/>
                        </a:rPr>
                        <a:t>IT</a:t>
                      </a:r>
                      <a:endParaRPr lang="en-GB" sz="1400" dirty="0">
                        <a:latin typeface="Times New Roman" panose="02020603050405020304" pitchFamily="18" charset="0"/>
                        <a:cs typeface="Times New Roman" panose="02020603050405020304" pitchFamily="18" charset="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400" dirty="0">
                          <a:latin typeface="Times New Roman" panose="02020603050405020304" pitchFamily="18" charset="0"/>
                          <a:cs typeface="Times New Roman" panose="02020603050405020304" pitchFamily="18" charset="0"/>
                        </a:rPr>
                        <a:t>N/A</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83876419"/>
                  </a:ext>
                </a:extLst>
              </a:tr>
              <a:tr h="370840">
                <a:tc>
                  <a:txBody>
                    <a:bodyPr/>
                    <a:lstStyle/>
                    <a:p>
                      <a:pPr>
                        <a:buNone/>
                      </a:pPr>
                      <a:r>
                        <a:rPr lang="en-GB" sz="1400" dirty="0">
                          <a:latin typeface="Times New Roman" panose="02020603050405020304" pitchFamily="18" charset="0"/>
                          <a:cs typeface="Times New Roman" panose="02020603050405020304" pitchFamily="18" charset="0"/>
                        </a:rPr>
                        <a:t>[Data Steward]</a:t>
                      </a:r>
                    </a:p>
                    <a:p>
                      <a:pPr>
                        <a:buNone/>
                      </a:pPr>
                      <a:r>
                        <a:rPr lang="en-GB" sz="1200" i="1" dirty="0">
                          <a:latin typeface="Times New Roman"/>
                          <a:cs typeface="Times New Roman"/>
                        </a:rPr>
                        <a:t>* Appointed</a:t>
                      </a:r>
                      <a:r>
                        <a:rPr lang="en-GB" sz="1200" i="1" baseline="0" dirty="0">
                          <a:latin typeface="Times New Roman"/>
                          <a:cs typeface="Times New Roman"/>
                        </a:rPr>
                        <a:t> by Data Owner – </a:t>
                      </a:r>
                      <a:r>
                        <a:rPr lang="en-GB" sz="1200" i="1" dirty="0">
                          <a:latin typeface="Times New Roman"/>
                          <a:cs typeface="Times New Roman"/>
                        </a:rPr>
                        <a:t>SME of the data domain;</a:t>
                      </a:r>
                      <a:r>
                        <a:rPr lang="en-GB" sz="1200" i="1" baseline="0" dirty="0">
                          <a:latin typeface="Times New Roman"/>
                          <a:cs typeface="Times New Roman"/>
                        </a:rPr>
                        <a:t> will be SM or below.</a:t>
                      </a:r>
                      <a:endParaRPr lang="en-GB" sz="1200" i="1" dirty="0">
                        <a:latin typeface="Times New Roman"/>
                        <a:cs typeface="Times New Roman"/>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400" dirty="0">
                          <a:latin typeface="Times New Roman"/>
                          <a:cs typeface="Times New Roman"/>
                        </a:rPr>
                        <a:t>Calvin</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400" dirty="0">
                          <a:latin typeface="Times New Roman"/>
                          <a:cs typeface="Times New Roman"/>
                        </a:rPr>
                        <a:t>BSA</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400" dirty="0">
                          <a:latin typeface="Times New Roman" panose="02020603050405020304" pitchFamily="18" charset="0"/>
                          <a:cs typeface="Times New Roman" panose="02020603050405020304" pitchFamily="18" charset="0"/>
                        </a:rPr>
                        <a:t>N/A</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91415294"/>
                  </a:ext>
                </a:extLst>
              </a:tr>
              <a:tr h="370840">
                <a:tc>
                  <a:txBody>
                    <a:bodyPr/>
                    <a:lstStyle/>
                    <a:p>
                      <a:pPr>
                        <a:buNone/>
                      </a:pPr>
                      <a:r>
                        <a:rPr lang="en-GB" sz="1400" dirty="0">
                          <a:latin typeface="Times New Roman" panose="02020603050405020304" pitchFamily="18" charset="0"/>
                          <a:cs typeface="Times New Roman" panose="02020603050405020304" pitchFamily="18" charset="0"/>
                        </a:rPr>
                        <a:t>[Technical Steward]</a:t>
                      </a:r>
                    </a:p>
                    <a:p>
                      <a:pPr>
                        <a:buNone/>
                      </a:pPr>
                      <a:r>
                        <a:rPr lang="en-GB" sz="1200" i="1" dirty="0">
                          <a:latin typeface="Times New Roman"/>
                          <a:cs typeface="Times New Roman"/>
                        </a:rPr>
                        <a:t>*</a:t>
                      </a:r>
                      <a:r>
                        <a:rPr lang="en-GB" sz="1200" i="1" baseline="0" dirty="0">
                          <a:latin typeface="Times New Roman"/>
                          <a:cs typeface="Times New Roman"/>
                        </a:rPr>
                        <a:t> Appointed by System Owner; will be SM or below</a:t>
                      </a:r>
                      <a:endParaRPr lang="en-GB" sz="1200" i="1" dirty="0">
                        <a:latin typeface="Times New Roman" panose="02020603050405020304" pitchFamily="18" charset="0"/>
                        <a:cs typeface="Times New Roman" panose="02020603050405020304" pitchFamily="18" charset="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400" dirty="0">
                          <a:latin typeface="Times New Roman"/>
                          <a:cs typeface="Times New Roman"/>
                        </a:rPr>
                        <a:t>Calvin</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400" dirty="0">
                          <a:latin typeface="Times New Roman"/>
                          <a:cs typeface="Times New Roman"/>
                        </a:rPr>
                        <a:t>BSA</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400" dirty="0">
                          <a:latin typeface="Times New Roman" panose="02020603050405020304" pitchFamily="18" charset="0"/>
                          <a:cs typeface="Times New Roman" panose="02020603050405020304" pitchFamily="18" charset="0"/>
                        </a:rPr>
                        <a:t>N/A</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47496541"/>
                  </a:ext>
                </a:extLst>
              </a:tr>
            </a:tbl>
          </a:graphicData>
        </a:graphic>
      </p:graphicFrame>
      <p:sp>
        <p:nvSpPr>
          <p:cNvPr id="5" name="Rounded Rectangular Callout 4"/>
          <p:cNvSpPr/>
          <p:nvPr/>
        </p:nvSpPr>
        <p:spPr>
          <a:xfrm>
            <a:off x="12331905" y="1274965"/>
            <a:ext cx="1892710" cy="2118889"/>
          </a:xfrm>
          <a:prstGeom prst="wedgeRoundRectCallout">
            <a:avLst>
              <a:gd name="adj1" fmla="val -56995"/>
              <a:gd name="adj2" fmla="val -26500"/>
              <a:gd name="adj3" fmla="val 16667"/>
            </a:avLst>
          </a:prstGeom>
          <a:solidFill>
            <a:schemeClr val="tx2">
              <a:lumMod val="20000"/>
              <a:lumOff val="80000"/>
            </a:schemeClr>
          </a:solidFill>
          <a:ln>
            <a:solidFill>
              <a:srgbClr val="4D0F5A"/>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GB" sz="1000" b="1" u="sng" dirty="0">
                <a:solidFill>
                  <a:schemeClr val="tx1"/>
                </a:solidFill>
                <a:latin typeface="Times New Roman" panose="02020603050405020304" pitchFamily="18" charset="0"/>
                <a:cs typeface="Times New Roman" panose="02020603050405020304" pitchFamily="18" charset="0"/>
              </a:rPr>
              <a:t>Instruction</a:t>
            </a:r>
          </a:p>
          <a:p>
            <a:endParaRPr lang="en-GB" sz="1000" b="1" u="sng" dirty="0">
              <a:solidFill>
                <a:schemeClr val="tx1"/>
              </a:solidFill>
              <a:latin typeface="Times New Roman" panose="02020603050405020304" pitchFamily="18" charset="0"/>
              <a:cs typeface="Times New Roman" panose="02020603050405020304" pitchFamily="18" charset="0"/>
            </a:endParaRPr>
          </a:p>
          <a:p>
            <a:r>
              <a:rPr lang="en-GB" sz="1000" dirty="0">
                <a:solidFill>
                  <a:schemeClr val="tx1"/>
                </a:solidFill>
                <a:latin typeface="Times New Roman" panose="02020603050405020304" pitchFamily="18" charset="0"/>
                <a:cs typeface="Times New Roman" panose="02020603050405020304" pitchFamily="18" charset="0"/>
              </a:rPr>
              <a:t>If involved more than one Business Domain / CDE, please list out all corresponding Data Owner, Data Steward and Technical Steward.</a:t>
            </a:r>
          </a:p>
        </p:txBody>
      </p:sp>
    </p:spTree>
    <p:extLst>
      <p:ext uri="{BB962C8B-B14F-4D97-AF65-F5344CB8AC3E}">
        <p14:creationId xmlns:p14="http://schemas.microsoft.com/office/powerpoint/2010/main" val="29645411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Times New Roman" panose="02020603050405020304" pitchFamily="18" charset="0"/>
                <a:cs typeface="Times New Roman" panose="02020603050405020304" pitchFamily="18" charset="0"/>
              </a:rPr>
              <a:t>C. Types of Data &amp; Information Classification</a:t>
            </a:r>
          </a:p>
        </p:txBody>
      </p:sp>
      <p:graphicFrame>
        <p:nvGraphicFramePr>
          <p:cNvPr id="4" name="Table 3"/>
          <p:cNvGraphicFramePr>
            <a:graphicFrameLocks noGrp="1"/>
          </p:cNvGraphicFramePr>
          <p:nvPr>
            <p:extLst>
              <p:ext uri="{D42A27DB-BD31-4B8C-83A1-F6EECF244321}">
                <p14:modId xmlns:p14="http://schemas.microsoft.com/office/powerpoint/2010/main" val="4288905596"/>
              </p:ext>
            </p:extLst>
          </p:nvPr>
        </p:nvGraphicFramePr>
        <p:xfrm>
          <a:off x="695999" y="1567990"/>
          <a:ext cx="11261046" cy="5074920"/>
        </p:xfrm>
        <a:graphic>
          <a:graphicData uri="http://schemas.openxmlformats.org/drawingml/2006/table">
            <a:tbl>
              <a:tblPr firstRow="1">
                <a:tableStyleId>{5C22544A-7EE6-4342-B048-85BDC9FD1C3A}</a:tableStyleId>
              </a:tblPr>
              <a:tblGrid>
                <a:gridCol w="1627864">
                  <a:extLst>
                    <a:ext uri="{9D8B030D-6E8A-4147-A177-3AD203B41FA5}">
                      <a16:colId xmlns:a16="http://schemas.microsoft.com/office/drawing/2014/main" val="215512194"/>
                    </a:ext>
                  </a:extLst>
                </a:gridCol>
                <a:gridCol w="2150972">
                  <a:extLst>
                    <a:ext uri="{9D8B030D-6E8A-4147-A177-3AD203B41FA5}">
                      <a16:colId xmlns:a16="http://schemas.microsoft.com/office/drawing/2014/main" val="1198206006"/>
                    </a:ext>
                  </a:extLst>
                </a:gridCol>
                <a:gridCol w="1741838">
                  <a:extLst>
                    <a:ext uri="{9D8B030D-6E8A-4147-A177-3AD203B41FA5}">
                      <a16:colId xmlns:a16="http://schemas.microsoft.com/office/drawing/2014/main" val="3126992352"/>
                    </a:ext>
                  </a:extLst>
                </a:gridCol>
                <a:gridCol w="1562075">
                  <a:extLst>
                    <a:ext uri="{9D8B030D-6E8A-4147-A177-3AD203B41FA5}">
                      <a16:colId xmlns:a16="http://schemas.microsoft.com/office/drawing/2014/main" val="2126111965"/>
                    </a:ext>
                  </a:extLst>
                </a:gridCol>
                <a:gridCol w="2129757">
                  <a:extLst>
                    <a:ext uri="{9D8B030D-6E8A-4147-A177-3AD203B41FA5}">
                      <a16:colId xmlns:a16="http://schemas.microsoft.com/office/drawing/2014/main" val="3513719145"/>
                    </a:ext>
                  </a:extLst>
                </a:gridCol>
                <a:gridCol w="2048540">
                  <a:extLst>
                    <a:ext uri="{9D8B030D-6E8A-4147-A177-3AD203B41FA5}">
                      <a16:colId xmlns:a16="http://schemas.microsoft.com/office/drawing/2014/main" val="511322492"/>
                    </a:ext>
                  </a:extLst>
                </a:gridCol>
              </a:tblGrid>
              <a:tr h="353596">
                <a:tc>
                  <a:txBody>
                    <a:bodyPr/>
                    <a:lstStyle/>
                    <a:p>
                      <a:r>
                        <a:rPr lang="en-GB" sz="1400" dirty="0">
                          <a:latin typeface="Times New Roman" panose="02020603050405020304" pitchFamily="18" charset="0"/>
                          <a:cs typeface="Times New Roman" panose="02020603050405020304" pitchFamily="18" charset="0"/>
                        </a:rPr>
                        <a:t>Name of the Dataset</a:t>
                      </a:r>
                    </a:p>
                  </a:txBody>
                  <a:tcPr marL="45720" marR="4572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D0F5A"/>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dirty="0">
                          <a:solidFill>
                            <a:schemeClr val="bg1"/>
                          </a:solidFill>
                          <a:latin typeface="Times New Roman" panose="02020603050405020304" pitchFamily="18" charset="0"/>
                          <a:cs typeface="Times New Roman" panose="02020603050405020304" pitchFamily="18" charset="0"/>
                        </a:rPr>
                        <a:t>Business Domain / Critical</a:t>
                      </a:r>
                      <a:r>
                        <a:rPr lang="en-GB" sz="1400" baseline="0" dirty="0">
                          <a:solidFill>
                            <a:schemeClr val="bg1"/>
                          </a:solidFill>
                          <a:latin typeface="Times New Roman" panose="02020603050405020304" pitchFamily="18" charset="0"/>
                          <a:cs typeface="Times New Roman" panose="02020603050405020304" pitchFamily="18" charset="0"/>
                        </a:rPr>
                        <a:t> Data Element (CDE)</a:t>
                      </a:r>
                      <a:endParaRPr lang="en-GB" sz="1400" dirty="0">
                        <a:solidFill>
                          <a:schemeClr val="bg1"/>
                        </a:solidFill>
                        <a:latin typeface="Times New Roman" panose="02020603050405020304" pitchFamily="18" charset="0"/>
                        <a:cs typeface="Times New Roman" panose="02020603050405020304" pitchFamily="18" charset="0"/>
                      </a:endParaRPr>
                    </a:p>
                  </a:txBody>
                  <a:tcPr marL="45720" marR="4572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D0F5A"/>
                    </a:solidFill>
                  </a:tcPr>
                </a:tc>
                <a:tc>
                  <a:txBody>
                    <a:bodyPr/>
                    <a:lstStyle/>
                    <a:p>
                      <a:r>
                        <a:rPr lang="en-GB" sz="1400" dirty="0">
                          <a:latin typeface="Times New Roman" panose="02020603050405020304" pitchFamily="18" charset="0"/>
                          <a:cs typeface="Times New Roman" panose="02020603050405020304" pitchFamily="18" charset="0"/>
                        </a:rPr>
                        <a:t>Information Classification</a:t>
                      </a:r>
                    </a:p>
                  </a:txBody>
                  <a:tcPr marL="45720" marR="4572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D0F5A"/>
                    </a:solidFill>
                  </a:tcPr>
                </a:tc>
                <a:tc>
                  <a:txBody>
                    <a:bodyPr/>
                    <a:lstStyle/>
                    <a:p>
                      <a:r>
                        <a:rPr lang="en-GB" sz="1400" dirty="0">
                          <a:solidFill>
                            <a:schemeClr val="bg1"/>
                          </a:solidFill>
                          <a:latin typeface="Times New Roman" panose="02020603050405020304" pitchFamily="18" charset="0"/>
                          <a:cs typeface="Times New Roman" panose="02020603050405020304" pitchFamily="18" charset="0"/>
                        </a:rPr>
                        <a:t>Has Personal Data? </a:t>
                      </a:r>
                    </a:p>
                    <a:p>
                      <a:r>
                        <a:rPr lang="en-GB" sz="1400" dirty="0">
                          <a:solidFill>
                            <a:schemeClr val="bg1"/>
                          </a:solidFill>
                          <a:latin typeface="Times New Roman" panose="02020603050405020304" pitchFamily="18" charset="0"/>
                          <a:cs typeface="Times New Roman" panose="02020603050405020304" pitchFamily="18" charset="0"/>
                        </a:rPr>
                        <a:t>(Yes / No)</a:t>
                      </a:r>
                    </a:p>
                  </a:txBody>
                  <a:tcPr marL="45720" marR="4572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D0F5A"/>
                    </a:solidFill>
                  </a:tcPr>
                </a:tc>
                <a:tc>
                  <a:txBody>
                    <a:bodyPr/>
                    <a:lstStyle/>
                    <a:p>
                      <a:r>
                        <a:rPr lang="en-GB" sz="1400" dirty="0">
                          <a:solidFill>
                            <a:schemeClr val="bg1"/>
                          </a:solidFill>
                          <a:latin typeface="Times New Roman" panose="02020603050405020304" pitchFamily="18" charset="0"/>
                          <a:cs typeface="Times New Roman" panose="02020603050405020304" pitchFamily="18" charset="0"/>
                        </a:rPr>
                        <a:t>Encryption</a:t>
                      </a:r>
                      <a:r>
                        <a:rPr lang="en-GB" sz="1400" baseline="0" dirty="0">
                          <a:solidFill>
                            <a:schemeClr val="bg1"/>
                          </a:solidFill>
                          <a:latin typeface="Times New Roman" panose="02020603050405020304" pitchFamily="18" charset="0"/>
                          <a:cs typeface="Times New Roman" panose="02020603050405020304" pitchFamily="18" charset="0"/>
                        </a:rPr>
                        <a:t> at rest? </a:t>
                      </a:r>
                    </a:p>
                    <a:p>
                      <a:r>
                        <a:rPr lang="en-GB" sz="1400" baseline="0" dirty="0">
                          <a:solidFill>
                            <a:schemeClr val="bg1"/>
                          </a:solidFill>
                          <a:latin typeface="Times New Roman" panose="02020603050405020304" pitchFamily="18" charset="0"/>
                          <a:cs typeface="Times New Roman" panose="02020603050405020304" pitchFamily="18" charset="0"/>
                        </a:rPr>
                        <a:t>(Yes / No / Not applicable)</a:t>
                      </a:r>
                    </a:p>
                    <a:p>
                      <a:r>
                        <a:rPr lang="en-GB" sz="1100" i="1" baseline="0" dirty="0">
                          <a:solidFill>
                            <a:schemeClr val="bg1"/>
                          </a:solidFill>
                          <a:latin typeface="Times New Roman" panose="02020603050405020304" pitchFamily="18" charset="0"/>
                          <a:cs typeface="Times New Roman" panose="02020603050405020304" pitchFamily="18" charset="0"/>
                        </a:rPr>
                        <a:t>(please provide justification if answered “No” or “Not Applicable”)</a:t>
                      </a:r>
                    </a:p>
                  </a:txBody>
                  <a:tcPr marL="45720" marR="4572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D0F5A"/>
                    </a:solidFill>
                  </a:tcPr>
                </a:tc>
                <a:tc>
                  <a:txBody>
                    <a:bodyPr/>
                    <a:lstStyle/>
                    <a:p>
                      <a:r>
                        <a:rPr lang="en-GB" sz="1400" dirty="0">
                          <a:solidFill>
                            <a:schemeClr val="bg1"/>
                          </a:solidFill>
                          <a:latin typeface="Times New Roman" panose="02020603050405020304" pitchFamily="18" charset="0"/>
                          <a:cs typeface="Times New Roman" panose="02020603050405020304" pitchFamily="18" charset="0"/>
                        </a:rPr>
                        <a:t>Encryption</a:t>
                      </a:r>
                      <a:r>
                        <a:rPr lang="en-GB" sz="1400" baseline="0" dirty="0">
                          <a:solidFill>
                            <a:schemeClr val="bg1"/>
                          </a:solidFill>
                          <a:latin typeface="Times New Roman" panose="02020603050405020304" pitchFamily="18" charset="0"/>
                          <a:cs typeface="Times New Roman" panose="02020603050405020304" pitchFamily="18" charset="0"/>
                        </a:rPr>
                        <a:t> in transit?</a:t>
                      </a:r>
                      <a:r>
                        <a:rPr lang="en-GB" sz="1800" baseline="0" dirty="0">
                          <a:solidFill>
                            <a:schemeClr val="bg1"/>
                          </a:solidFill>
                          <a:latin typeface="Times New Roman" panose="02020603050405020304" pitchFamily="18" charset="0"/>
                          <a:cs typeface="Times New Roman" panose="02020603050405020304" pitchFamily="18" charset="0"/>
                        </a:rPr>
                        <a:t> </a:t>
                      </a:r>
                    </a:p>
                    <a:p>
                      <a:r>
                        <a:rPr lang="en-GB" sz="1400" baseline="0" dirty="0">
                          <a:solidFill>
                            <a:schemeClr val="bg1"/>
                          </a:solidFill>
                          <a:latin typeface="Times New Roman" panose="02020603050405020304" pitchFamily="18" charset="0"/>
                          <a:cs typeface="Times New Roman" panose="02020603050405020304" pitchFamily="18" charset="0"/>
                        </a:rPr>
                        <a:t>(Yes / No / Not applicable)</a:t>
                      </a:r>
                    </a:p>
                    <a:p>
                      <a:r>
                        <a:rPr lang="en-GB" sz="1100" i="1" baseline="0" dirty="0">
                          <a:solidFill>
                            <a:schemeClr val="bg1"/>
                          </a:solidFill>
                          <a:latin typeface="Times New Roman" panose="02020603050405020304" pitchFamily="18" charset="0"/>
                          <a:cs typeface="Times New Roman" panose="02020603050405020304" pitchFamily="18" charset="0"/>
                        </a:rPr>
                        <a:t>(please provide justification if answered “No” or “Not Applicable”)</a:t>
                      </a:r>
                    </a:p>
                  </a:txBody>
                  <a:tcPr marL="45720" marR="4572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D0F5A"/>
                    </a:solidFill>
                  </a:tcPr>
                </a:tc>
                <a:extLst>
                  <a:ext uri="{0D108BD9-81ED-4DB2-BD59-A6C34878D82A}">
                    <a16:rowId xmlns:a16="http://schemas.microsoft.com/office/drawing/2014/main" val="3239964996"/>
                  </a:ext>
                </a:extLst>
              </a:tr>
              <a:tr h="370840">
                <a:tc>
                  <a:txBody>
                    <a:bodyPr/>
                    <a:lstStyle/>
                    <a:p>
                      <a:pPr>
                        <a:buNone/>
                      </a:pPr>
                      <a:r>
                        <a:rPr kumimoji="0" lang="en-GB" sz="1400" b="0" i="0" u="none" strike="noStrike" kern="1200" cap="none" spc="0" normalizeH="0" baseline="0" noProof="0" dirty="0">
                          <a:ln>
                            <a:noFill/>
                          </a:ln>
                          <a:solidFill>
                            <a:srgbClr val="000000"/>
                          </a:solidFill>
                          <a:effectLst/>
                          <a:uLnTx/>
                          <a:uFillTx/>
                          <a:latin typeface="Times New Roman"/>
                          <a:ea typeface="+mn-ea"/>
                          <a:cs typeface="Times New Roman"/>
                        </a:rPr>
                        <a:t>Application logs</a:t>
                      </a:r>
                      <a:endParaRPr lang="en-GB" sz="1400" dirty="0">
                        <a:latin typeface="Times New Roman" panose="02020603050405020304" pitchFamily="18" charset="0"/>
                        <a:cs typeface="Times New Roman" panose="02020603050405020304" pitchFamily="18" charset="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kumimoji="0" lang="en-GB" sz="1400" b="0" i="0" u="none" strike="noStrike" kern="1200" cap="none" spc="0" normalizeH="0" baseline="0" noProof="0" dirty="0">
                          <a:ln>
                            <a:noFill/>
                          </a:ln>
                          <a:solidFill>
                            <a:srgbClr val="000000"/>
                          </a:solidFill>
                          <a:effectLst/>
                          <a:uLnTx/>
                          <a:uFillTx/>
                          <a:latin typeface="Times New Roman"/>
                          <a:ea typeface="+mn-ea"/>
                          <a:cs typeface="Times New Roman"/>
                        </a:rPr>
                        <a:t>IT</a:t>
                      </a:r>
                      <a:endParaRPr lang="en-GB" sz="1400" dirty="0">
                        <a:latin typeface="Times New Roman" panose="02020603050405020304" pitchFamily="18" charset="0"/>
                        <a:cs typeface="Times New Roman" panose="02020603050405020304" pitchFamily="18" charset="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400" b="0" i="0" u="none" strike="noStrike" kern="1200" cap="none" spc="0" baseline="0" noProof="0" dirty="0">
                          <a:solidFill>
                            <a:srgbClr val="000000"/>
                          </a:solidFill>
                          <a:latin typeface="Times New Roman"/>
                          <a:ea typeface="+mn-ea"/>
                          <a:cs typeface="Times New Roman"/>
                        </a:rPr>
                        <a:t>Restricted</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400" b="0" i="0" u="none" strike="noStrike" kern="1200" cap="none" spc="0" baseline="0" noProof="0" dirty="0">
                          <a:solidFill>
                            <a:srgbClr val="000000"/>
                          </a:solidFill>
                          <a:latin typeface="Times New Roman"/>
                          <a:ea typeface="+mn-ea"/>
                          <a:cs typeface="Times New Roman"/>
                        </a:rPr>
                        <a:t>No</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l">
                        <a:buNone/>
                      </a:pPr>
                      <a:r>
                        <a:rPr lang="en-GB" sz="1400" b="0" i="0" u="none" strike="noStrike" kern="1200" cap="none" spc="0" baseline="0" noProof="0" dirty="0">
                          <a:solidFill>
                            <a:srgbClr val="000000"/>
                          </a:solidFill>
                          <a:latin typeface="Times New Roman"/>
                        </a:rPr>
                        <a:t>No, since it does not store PII</a:t>
                      </a:r>
                      <a:endParaRPr lang="en-US" dirty="0"/>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l">
                        <a:buNone/>
                      </a:pPr>
                      <a:r>
                        <a:rPr kumimoji="0" lang="en-GB" sz="1400" b="0" i="0" u="none" strike="noStrike" kern="1200" cap="none" spc="0" normalizeH="0" baseline="0" noProof="0" dirty="0">
                          <a:ln>
                            <a:noFill/>
                          </a:ln>
                          <a:solidFill>
                            <a:srgbClr val="000000"/>
                          </a:solidFill>
                          <a:effectLst/>
                          <a:uLnTx/>
                          <a:uFillTx/>
                          <a:latin typeface="Times New Roman"/>
                        </a:rPr>
                        <a:t>No, since it does not store PII</a:t>
                      </a:r>
                      <a:endParaRPr lang="en-US" dirty="0"/>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83876419"/>
                  </a:ext>
                </a:extLst>
              </a:tr>
              <a:tr h="370840">
                <a:tc>
                  <a:txBody>
                    <a:bodyPr/>
                    <a:lstStyle/>
                    <a:p>
                      <a:pPr>
                        <a:buNone/>
                      </a:pPr>
                      <a:r>
                        <a:rPr lang="en-GB" sz="1400" dirty="0">
                          <a:latin typeface="Times New Roman"/>
                          <a:cs typeface="Times New Roman"/>
                        </a:rPr>
                        <a:t>User configuration</a:t>
                      </a:r>
                      <a:endParaRPr lang="en-GB" sz="1400" dirty="0">
                        <a:latin typeface="Times New Roman" panose="02020603050405020304" pitchFamily="18" charset="0"/>
                        <a:cs typeface="Times New Roman" panose="02020603050405020304" pitchFamily="18" charset="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400" dirty="0">
                          <a:latin typeface="Times New Roman"/>
                          <a:cs typeface="Times New Roman"/>
                        </a:rPr>
                        <a:t>IT</a:t>
                      </a:r>
                      <a:endParaRPr lang="en-GB" sz="1400" dirty="0">
                        <a:latin typeface="Times New Roman" panose="02020603050405020304" pitchFamily="18" charset="0"/>
                        <a:cs typeface="Times New Roman" panose="02020603050405020304" pitchFamily="18" charset="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400" i="0" dirty="0">
                          <a:latin typeface="Times New Roman"/>
                          <a:cs typeface="Times New Roman"/>
                        </a:rPr>
                        <a:t>Restricted</a:t>
                      </a:r>
                      <a:endParaRPr lang="en-GB" sz="1400" i="1" dirty="0">
                        <a:latin typeface="Times New Roman"/>
                        <a:cs typeface="Times New Roman"/>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400" i="0" dirty="0">
                          <a:latin typeface="Times New Roman"/>
                          <a:cs typeface="Times New Roman"/>
                        </a:rPr>
                        <a:t>No</a:t>
                      </a:r>
                      <a:endParaRPr lang="en-GB" sz="1400" i="1" dirty="0">
                        <a:latin typeface="Times New Roman" panose="02020603050405020304" pitchFamily="18" charset="0"/>
                        <a:cs typeface="Times New Roman" panose="02020603050405020304" pitchFamily="18" charset="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buNone/>
                      </a:pPr>
                      <a:r>
                        <a:rPr lang="en-GB" sz="1400" dirty="0">
                          <a:latin typeface="Times New Roman"/>
                          <a:cs typeface="Times New Roman"/>
                        </a:rPr>
                        <a:t>No, since it does not store PII</a:t>
                      </a:r>
                      <a:endParaRPr lang="en-US" dirty="0"/>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l">
                        <a:buNone/>
                      </a:pPr>
                      <a:r>
                        <a:rPr lang="en-GB" sz="1400" b="0" i="0" u="none" strike="noStrike" noProof="0" dirty="0">
                          <a:solidFill>
                            <a:srgbClr val="000000"/>
                          </a:solidFill>
                          <a:latin typeface="Times New Roman"/>
                        </a:rPr>
                        <a:t>No, since it does not store PII</a:t>
                      </a:r>
                      <a:endParaRPr lang="en-US" dirty="0"/>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91415294"/>
                  </a:ext>
                </a:extLst>
              </a:tr>
              <a:tr h="370840">
                <a:tc>
                  <a:txBody>
                    <a:bodyPr/>
                    <a:lstStyle/>
                    <a:p>
                      <a:pPr>
                        <a:buNone/>
                      </a:pPr>
                      <a:r>
                        <a:rPr lang="en-GB" sz="1400" dirty="0">
                          <a:latin typeface="Times New Roman"/>
                          <a:cs typeface="Times New Roman"/>
                        </a:rPr>
                        <a:t>Categories</a:t>
                      </a:r>
                      <a:endParaRPr lang="en-GB" sz="1400" dirty="0">
                        <a:latin typeface="Times New Roman" panose="02020603050405020304" pitchFamily="18" charset="0"/>
                        <a:cs typeface="Times New Roman" panose="02020603050405020304" pitchFamily="18" charset="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buNone/>
                      </a:pPr>
                      <a:r>
                        <a:rPr lang="en-GB" sz="1400" dirty="0">
                          <a:latin typeface="Times New Roman"/>
                          <a:cs typeface="Times New Roman"/>
                        </a:rPr>
                        <a:t>IT</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buNone/>
                      </a:pPr>
                      <a:r>
                        <a:rPr lang="en-GB" sz="1400" i="0" dirty="0">
                          <a:latin typeface="Times New Roman"/>
                          <a:cs typeface="Times New Roman"/>
                        </a:rPr>
                        <a:t>Restricted</a:t>
                      </a:r>
                      <a:endParaRPr lang="en-GB" sz="1400" i="1" dirty="0">
                        <a:latin typeface="Times New Roman"/>
                        <a:cs typeface="Times New Roman"/>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400" i="0" dirty="0">
                          <a:latin typeface="Times New Roman"/>
                          <a:cs typeface="Times New Roman"/>
                        </a:rPr>
                        <a:t>No</a:t>
                      </a:r>
                      <a:endParaRPr lang="en-GB" sz="1400" i="1" dirty="0">
                        <a:latin typeface="Times New Roman" panose="02020603050405020304" pitchFamily="18" charset="0"/>
                        <a:cs typeface="Times New Roman" panose="02020603050405020304" pitchFamily="18" charset="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buNone/>
                      </a:pPr>
                      <a:r>
                        <a:rPr lang="en-GB" sz="1400" dirty="0">
                          <a:latin typeface="Times New Roman"/>
                          <a:cs typeface="Times New Roman"/>
                        </a:rPr>
                        <a:t>No, since it does not store PII</a:t>
                      </a:r>
                      <a:endParaRPr lang="en-US" dirty="0"/>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l">
                        <a:buNone/>
                      </a:pPr>
                      <a:r>
                        <a:rPr lang="en-GB" sz="1400" b="0" i="0" u="none" strike="noStrike" noProof="0" dirty="0">
                          <a:solidFill>
                            <a:srgbClr val="000000"/>
                          </a:solidFill>
                          <a:latin typeface="Times New Roman"/>
                        </a:rPr>
                        <a:t>No, since it does not store PII</a:t>
                      </a:r>
                      <a:endParaRPr lang="en-US" dirty="0"/>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47496541"/>
                  </a:ext>
                </a:extLst>
              </a:tr>
              <a:tr h="370840">
                <a:tc>
                  <a:txBody>
                    <a:bodyPr/>
                    <a:lstStyle/>
                    <a:p>
                      <a:endParaRPr lang="en-GB" sz="1400" dirty="0">
                        <a:latin typeface="Times New Roman" panose="02020603050405020304" pitchFamily="18" charset="0"/>
                        <a:cs typeface="Times New Roman" panose="02020603050405020304" pitchFamily="18" charset="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buNone/>
                      </a:pPr>
                      <a:endParaRPr lang="en-GB" sz="1400" dirty="0">
                        <a:latin typeface="Times New Roman"/>
                        <a:cs typeface="Times New Roman"/>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buNone/>
                      </a:pPr>
                      <a:endParaRPr lang="en-GB" sz="1400" i="1" dirty="0">
                        <a:latin typeface="Times New Roman"/>
                        <a:cs typeface="Times New Roman"/>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400" i="1" dirty="0">
                        <a:latin typeface="Times New Roman" panose="02020603050405020304" pitchFamily="18" charset="0"/>
                        <a:cs typeface="Times New Roman" panose="02020603050405020304" pitchFamily="18" charset="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400" dirty="0">
                        <a:latin typeface="Times New Roman" panose="02020603050405020304" pitchFamily="18" charset="0"/>
                        <a:cs typeface="Times New Roman" panose="02020603050405020304" pitchFamily="18" charset="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400" dirty="0">
                        <a:latin typeface="Times New Roman" panose="02020603050405020304" pitchFamily="18" charset="0"/>
                        <a:cs typeface="Times New Roman" panose="02020603050405020304" pitchFamily="18" charset="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45462225"/>
                  </a:ext>
                </a:extLst>
              </a:tr>
              <a:tr h="370840">
                <a:tc>
                  <a:txBody>
                    <a:bodyPr/>
                    <a:lstStyle/>
                    <a:p>
                      <a:endParaRPr lang="en-GB" sz="1400" dirty="0">
                        <a:latin typeface="Times New Roman" panose="02020603050405020304" pitchFamily="18" charset="0"/>
                        <a:cs typeface="Times New Roman" panose="02020603050405020304" pitchFamily="18" charset="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buNone/>
                      </a:pPr>
                      <a:endParaRPr lang="en-GB" sz="1400" dirty="0">
                        <a:latin typeface="Times New Roman"/>
                        <a:cs typeface="Times New Roman"/>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buNone/>
                      </a:pPr>
                      <a:endParaRPr lang="en-US" dirty="0"/>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400" dirty="0">
                        <a:latin typeface="Times New Roman" panose="02020603050405020304" pitchFamily="18" charset="0"/>
                        <a:cs typeface="Times New Roman" panose="02020603050405020304" pitchFamily="18" charset="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400" dirty="0">
                        <a:latin typeface="Times New Roman" panose="02020603050405020304" pitchFamily="18" charset="0"/>
                        <a:cs typeface="Times New Roman" panose="02020603050405020304" pitchFamily="18" charset="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400" dirty="0">
                        <a:latin typeface="Times New Roman" panose="02020603050405020304" pitchFamily="18" charset="0"/>
                        <a:cs typeface="Times New Roman" panose="02020603050405020304" pitchFamily="18" charset="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62406064"/>
                  </a:ext>
                </a:extLst>
              </a:tr>
              <a:tr h="370840">
                <a:tc>
                  <a:txBody>
                    <a:bodyPr/>
                    <a:lstStyle/>
                    <a:p>
                      <a:endParaRPr lang="en-GB" sz="1400" dirty="0">
                        <a:latin typeface="Times New Roman" panose="02020603050405020304" pitchFamily="18" charset="0"/>
                        <a:cs typeface="Times New Roman" panose="02020603050405020304" pitchFamily="18" charset="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400" dirty="0">
                        <a:latin typeface="Times New Roman" panose="02020603050405020304" pitchFamily="18" charset="0"/>
                        <a:cs typeface="Times New Roman" panose="02020603050405020304" pitchFamily="18" charset="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400" dirty="0">
                        <a:latin typeface="Times New Roman" panose="02020603050405020304" pitchFamily="18" charset="0"/>
                        <a:cs typeface="Times New Roman" panose="02020603050405020304" pitchFamily="18" charset="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400" dirty="0">
                        <a:latin typeface="Times New Roman" panose="02020603050405020304" pitchFamily="18" charset="0"/>
                        <a:cs typeface="Times New Roman" panose="02020603050405020304" pitchFamily="18" charset="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400" dirty="0">
                        <a:latin typeface="Times New Roman" panose="02020603050405020304" pitchFamily="18" charset="0"/>
                        <a:cs typeface="Times New Roman" panose="02020603050405020304" pitchFamily="18" charset="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400" dirty="0">
                        <a:latin typeface="Times New Roman" panose="02020603050405020304" pitchFamily="18" charset="0"/>
                        <a:cs typeface="Times New Roman" panose="02020603050405020304" pitchFamily="18" charset="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3861965"/>
                  </a:ext>
                </a:extLst>
              </a:tr>
              <a:tr h="370840">
                <a:tc>
                  <a:txBody>
                    <a:bodyPr/>
                    <a:lstStyle/>
                    <a:p>
                      <a:endParaRPr lang="en-GB" sz="1400" dirty="0">
                        <a:latin typeface="Times New Roman" panose="02020603050405020304" pitchFamily="18" charset="0"/>
                        <a:cs typeface="Times New Roman" panose="02020603050405020304" pitchFamily="18" charset="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400" dirty="0">
                        <a:latin typeface="Times New Roman" panose="02020603050405020304" pitchFamily="18" charset="0"/>
                        <a:cs typeface="Times New Roman" panose="02020603050405020304" pitchFamily="18" charset="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400" dirty="0">
                        <a:latin typeface="Times New Roman" panose="02020603050405020304" pitchFamily="18" charset="0"/>
                        <a:cs typeface="Times New Roman" panose="02020603050405020304" pitchFamily="18" charset="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400" dirty="0">
                        <a:latin typeface="Times New Roman" panose="02020603050405020304" pitchFamily="18" charset="0"/>
                        <a:cs typeface="Times New Roman" panose="02020603050405020304" pitchFamily="18" charset="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400" dirty="0">
                        <a:latin typeface="Times New Roman" panose="02020603050405020304" pitchFamily="18" charset="0"/>
                        <a:cs typeface="Times New Roman" panose="02020603050405020304" pitchFamily="18" charset="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400" dirty="0">
                        <a:latin typeface="Times New Roman" panose="02020603050405020304" pitchFamily="18" charset="0"/>
                        <a:cs typeface="Times New Roman" panose="02020603050405020304" pitchFamily="18" charset="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10735571"/>
                  </a:ext>
                </a:extLst>
              </a:tr>
              <a:tr h="370840">
                <a:tc>
                  <a:txBody>
                    <a:bodyPr/>
                    <a:lstStyle/>
                    <a:p>
                      <a:endParaRPr lang="en-GB" sz="1400" dirty="0">
                        <a:latin typeface="Times New Roman" panose="02020603050405020304" pitchFamily="18" charset="0"/>
                        <a:cs typeface="Times New Roman" panose="02020603050405020304" pitchFamily="18" charset="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400" dirty="0">
                        <a:latin typeface="Times New Roman" panose="02020603050405020304" pitchFamily="18" charset="0"/>
                        <a:cs typeface="Times New Roman" panose="02020603050405020304" pitchFamily="18" charset="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400" dirty="0">
                        <a:latin typeface="Times New Roman" panose="02020603050405020304" pitchFamily="18" charset="0"/>
                        <a:cs typeface="Times New Roman" panose="02020603050405020304" pitchFamily="18" charset="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400" dirty="0">
                        <a:latin typeface="Times New Roman" panose="02020603050405020304" pitchFamily="18" charset="0"/>
                        <a:cs typeface="Times New Roman" panose="02020603050405020304" pitchFamily="18" charset="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400" dirty="0">
                        <a:latin typeface="Times New Roman" panose="02020603050405020304" pitchFamily="18" charset="0"/>
                        <a:cs typeface="Times New Roman" panose="02020603050405020304" pitchFamily="18" charset="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400" dirty="0">
                        <a:latin typeface="Times New Roman" panose="02020603050405020304" pitchFamily="18" charset="0"/>
                        <a:cs typeface="Times New Roman" panose="02020603050405020304" pitchFamily="18" charset="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55384394"/>
                  </a:ext>
                </a:extLst>
              </a:tr>
              <a:tr h="370840">
                <a:tc>
                  <a:txBody>
                    <a:bodyPr/>
                    <a:lstStyle/>
                    <a:p>
                      <a:endParaRPr lang="en-GB" sz="1400" dirty="0">
                        <a:latin typeface="Times New Roman" panose="02020603050405020304" pitchFamily="18" charset="0"/>
                        <a:cs typeface="Times New Roman" panose="02020603050405020304" pitchFamily="18" charset="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400" dirty="0">
                        <a:latin typeface="Times New Roman" panose="02020603050405020304" pitchFamily="18" charset="0"/>
                        <a:cs typeface="Times New Roman" panose="02020603050405020304" pitchFamily="18" charset="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400" dirty="0">
                        <a:latin typeface="Times New Roman" panose="02020603050405020304" pitchFamily="18" charset="0"/>
                        <a:cs typeface="Times New Roman" panose="02020603050405020304" pitchFamily="18" charset="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400" dirty="0">
                        <a:latin typeface="Times New Roman" panose="02020603050405020304" pitchFamily="18" charset="0"/>
                        <a:cs typeface="Times New Roman" panose="02020603050405020304" pitchFamily="18" charset="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400" dirty="0">
                        <a:latin typeface="Times New Roman" panose="02020603050405020304" pitchFamily="18" charset="0"/>
                        <a:cs typeface="Times New Roman" panose="02020603050405020304" pitchFamily="18" charset="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400" dirty="0">
                        <a:latin typeface="Times New Roman" panose="02020603050405020304" pitchFamily="18" charset="0"/>
                        <a:cs typeface="Times New Roman" panose="02020603050405020304" pitchFamily="18" charset="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89663863"/>
                  </a:ext>
                </a:extLst>
              </a:tr>
            </a:tbl>
          </a:graphicData>
        </a:graphic>
      </p:graphicFrame>
      <p:sp>
        <p:nvSpPr>
          <p:cNvPr id="6" name="Rounded Rectangular Callout 5"/>
          <p:cNvSpPr/>
          <p:nvPr/>
        </p:nvSpPr>
        <p:spPr>
          <a:xfrm>
            <a:off x="12420601" y="1274964"/>
            <a:ext cx="1892710" cy="5398681"/>
          </a:xfrm>
          <a:prstGeom prst="wedgeRoundRectCallout">
            <a:avLst>
              <a:gd name="adj1" fmla="val -56995"/>
              <a:gd name="adj2" fmla="val -26500"/>
              <a:gd name="adj3" fmla="val 16667"/>
            </a:avLst>
          </a:prstGeom>
          <a:solidFill>
            <a:schemeClr val="tx2">
              <a:lumMod val="20000"/>
              <a:lumOff val="80000"/>
            </a:schemeClr>
          </a:solidFill>
          <a:ln>
            <a:solidFill>
              <a:srgbClr val="4D0F5A"/>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GB" sz="1000" b="1" u="sng" dirty="0">
                <a:solidFill>
                  <a:schemeClr val="tx1"/>
                </a:solidFill>
                <a:latin typeface="Times New Roman" panose="02020603050405020304" pitchFamily="18" charset="0"/>
                <a:cs typeface="Times New Roman" panose="02020603050405020304" pitchFamily="18" charset="0"/>
              </a:rPr>
              <a:t>Instruction</a:t>
            </a:r>
          </a:p>
          <a:p>
            <a:endParaRPr lang="en-GB" sz="1000" b="1" u="sng" dirty="0">
              <a:solidFill>
                <a:schemeClr val="tx1"/>
              </a:solidFill>
              <a:latin typeface="Times New Roman" panose="02020603050405020304" pitchFamily="18" charset="0"/>
              <a:cs typeface="Times New Roman" panose="02020603050405020304" pitchFamily="18" charset="0"/>
            </a:endParaRPr>
          </a:p>
          <a:p>
            <a:r>
              <a:rPr lang="en-GB" sz="1000" dirty="0">
                <a:solidFill>
                  <a:schemeClr val="tx1"/>
                </a:solidFill>
                <a:latin typeface="Times New Roman" panose="02020603050405020304" pitchFamily="18" charset="0"/>
                <a:cs typeface="Times New Roman" panose="02020603050405020304" pitchFamily="18" charset="0"/>
              </a:rPr>
              <a:t>All data should be classified.</a:t>
            </a:r>
            <a:endParaRPr lang="en-GB" dirty="0"/>
          </a:p>
          <a:p>
            <a:endParaRPr lang="en-GB" sz="1000" b="1" u="sng" dirty="0">
              <a:solidFill>
                <a:schemeClr val="tx1"/>
              </a:solidFill>
              <a:latin typeface="Times New Roman" panose="02020603050405020304" pitchFamily="18" charset="0"/>
              <a:cs typeface="Times New Roman" panose="02020603050405020304" pitchFamily="18" charset="0"/>
            </a:endParaRPr>
          </a:p>
          <a:p>
            <a:r>
              <a:rPr lang="en-GB" sz="1000" dirty="0">
                <a:solidFill>
                  <a:schemeClr val="tx1"/>
                </a:solidFill>
                <a:latin typeface="Times New Roman" panose="02020603050405020304" pitchFamily="18" charset="0"/>
                <a:cs typeface="Times New Roman" panose="02020603050405020304" pitchFamily="18" charset="0"/>
              </a:rPr>
              <a:t>Sensitive data must be located, so that security measures can be applied throughout data lifecycle to protect from data loss, damage and unauthorised access. Security measures will vary depending on security classification of the data concerned.</a:t>
            </a:r>
            <a:endParaRPr lang="en-GB" dirty="0"/>
          </a:p>
          <a:p>
            <a:endParaRPr lang="en-GB" sz="1000" b="1" u="sng" dirty="0">
              <a:solidFill>
                <a:schemeClr val="tx1"/>
              </a:solidFill>
              <a:latin typeface="Times New Roman" panose="02020603050405020304" pitchFamily="18" charset="0"/>
              <a:cs typeface="Times New Roman" panose="02020603050405020304" pitchFamily="18" charset="0"/>
            </a:endParaRPr>
          </a:p>
          <a:p>
            <a:r>
              <a:rPr lang="en-GB" sz="1000" dirty="0">
                <a:solidFill>
                  <a:schemeClr val="tx1"/>
                </a:solidFill>
                <a:latin typeface="Times New Roman" panose="02020603050405020304" pitchFamily="18" charset="0"/>
                <a:cs typeface="Times New Roman" panose="02020603050405020304" pitchFamily="18" charset="0"/>
              </a:rPr>
              <a:t>The data in this table must exist in the spreadsheet provided at F. Metadata Management page.</a:t>
            </a:r>
          </a:p>
          <a:p>
            <a:endParaRPr lang="en-GB" sz="1000" dirty="0">
              <a:solidFill>
                <a:schemeClr val="tx1"/>
              </a:solidFill>
              <a:latin typeface="Times New Roman" panose="02020603050405020304" pitchFamily="18" charset="0"/>
              <a:cs typeface="Times New Roman" panose="02020603050405020304" pitchFamily="18" charset="0"/>
            </a:endParaRPr>
          </a:p>
          <a:p>
            <a:r>
              <a:rPr lang="en-GB" sz="1000" dirty="0">
                <a:solidFill>
                  <a:schemeClr val="tx1"/>
                </a:solidFill>
                <a:latin typeface="Times New Roman" panose="02020603050405020304" pitchFamily="18" charset="0"/>
                <a:cs typeface="Times New Roman" panose="02020603050405020304" pitchFamily="18" charset="0"/>
              </a:rPr>
              <a:t>Only need to list out data:</a:t>
            </a:r>
          </a:p>
          <a:p>
            <a:pPr marL="171450" indent="-171450">
              <a:buFont typeface="Arial" panose="020B0604020202020204" pitchFamily="34" charset="0"/>
              <a:buChar char="•"/>
            </a:pPr>
            <a:r>
              <a:rPr lang="en-GB" sz="1000" dirty="0">
                <a:solidFill>
                  <a:schemeClr val="tx1"/>
                </a:solidFill>
                <a:latin typeface="Times New Roman" panose="02020603050405020304" pitchFamily="18" charset="0"/>
                <a:cs typeface="Times New Roman" panose="02020603050405020304" pitchFamily="18" charset="0"/>
              </a:rPr>
              <a:t>with Personal Data </a:t>
            </a:r>
          </a:p>
          <a:p>
            <a:pPr marL="171450" indent="-171450">
              <a:buFont typeface="Arial" panose="020B0604020202020204" pitchFamily="34" charset="0"/>
              <a:buChar char="•"/>
            </a:pPr>
            <a:r>
              <a:rPr lang="en-GB" sz="1000" dirty="0">
                <a:solidFill>
                  <a:schemeClr val="tx1"/>
                </a:solidFill>
                <a:latin typeface="Times New Roman" panose="02020603050405020304" pitchFamily="18" charset="0"/>
                <a:cs typeface="Times New Roman" panose="02020603050405020304" pitchFamily="18" charset="0"/>
              </a:rPr>
              <a:t>OR data classification is restricted or above (i.e., Restricted, Confidential, Secret, Top Secret) in this page.</a:t>
            </a:r>
          </a:p>
          <a:p>
            <a:endParaRPr lang="en-GB" sz="1000" dirty="0">
              <a:solidFill>
                <a:schemeClr val="tx1"/>
              </a:solidFill>
              <a:latin typeface="Times New Roman" panose="02020603050405020304" pitchFamily="18" charset="0"/>
              <a:cs typeface="Times New Roman" panose="02020603050405020304" pitchFamily="18" charset="0"/>
            </a:endParaRPr>
          </a:p>
          <a:p>
            <a:pPr marL="175895" indent="-152400">
              <a:buFont typeface="+mj-lt"/>
              <a:buAutoNum type="arabicPeriod"/>
            </a:pPr>
            <a:r>
              <a:rPr lang="en-GB" sz="1000" dirty="0">
                <a:solidFill>
                  <a:schemeClr val="tx1"/>
                </a:solidFill>
                <a:latin typeface="Times New Roman" panose="02020603050405020304" pitchFamily="18" charset="0"/>
                <a:cs typeface="Times New Roman" panose="02020603050405020304" pitchFamily="18" charset="0"/>
              </a:rPr>
              <a:t>Information classification - </a:t>
            </a:r>
            <a:r>
              <a:rPr lang="en-GB" sz="1000" i="1" dirty="0">
                <a:solidFill>
                  <a:schemeClr val="tx1"/>
                </a:solidFill>
                <a:latin typeface="Times New Roman" panose="02020603050405020304" pitchFamily="18" charset="0"/>
                <a:cs typeface="Times New Roman" panose="02020603050405020304" pitchFamily="18" charset="0"/>
              </a:rPr>
              <a:t>Please refer to </a:t>
            </a:r>
            <a:r>
              <a:rPr lang="en-GB" sz="1000" i="1" dirty="0">
                <a:solidFill>
                  <a:schemeClr val="tx1"/>
                </a:solidFill>
                <a:latin typeface="Times New Roman" panose="02020603050405020304" pitchFamily="18" charset="0"/>
                <a:cs typeface="Times New Roman" panose="02020603050405020304" pitchFamily="18" charset="0"/>
                <a:hlinkClick r:id="rId3"/>
              </a:rPr>
              <a:t>SOP 8c</a:t>
            </a:r>
            <a:endParaRPr lang="en-GB" sz="1000" i="1" dirty="0">
              <a:solidFill>
                <a:schemeClr val="tx1"/>
              </a:solidFill>
              <a:latin typeface="Times New Roman" panose="02020603050405020304" pitchFamily="18" charset="0"/>
              <a:cs typeface="Times New Roman" panose="02020603050405020304" pitchFamily="18" charset="0"/>
            </a:endParaRPr>
          </a:p>
          <a:p>
            <a:pPr marL="176213" lvl="1" indent="-63500">
              <a:buFont typeface="Arial" panose="020B0604020202020204" pitchFamily="34" charset="0"/>
              <a:buChar char="•"/>
            </a:pPr>
            <a:endParaRPr lang="en-GB" sz="1000" dirty="0">
              <a:latin typeface="Times New Roman" panose="02020603050405020304" pitchFamily="18" charset="0"/>
              <a:cs typeface="Times New Roman" panose="02020603050405020304" pitchFamily="18" charset="0"/>
            </a:endParaRPr>
          </a:p>
          <a:p>
            <a:pPr marL="175895" indent="-175895">
              <a:buFont typeface="+mj-lt"/>
              <a:buAutoNum type="arabicPeriod"/>
            </a:pPr>
            <a:r>
              <a:rPr lang="en-GB" sz="1000" dirty="0">
                <a:solidFill>
                  <a:schemeClr val="tx1"/>
                </a:solidFill>
                <a:latin typeface="Times New Roman" panose="02020603050405020304" pitchFamily="18" charset="0"/>
                <a:cs typeface="Times New Roman" panose="02020603050405020304" pitchFamily="18" charset="0"/>
              </a:rPr>
              <a:t>Definition of Personal Data - </a:t>
            </a:r>
            <a:r>
              <a:rPr lang="en-GB" sz="1000" i="1" dirty="0">
                <a:solidFill>
                  <a:schemeClr val="tx1"/>
                </a:solidFill>
                <a:latin typeface="Times New Roman" panose="02020603050405020304" pitchFamily="18" charset="0"/>
                <a:cs typeface="Times New Roman" panose="02020603050405020304" pitchFamily="18" charset="0"/>
              </a:rPr>
              <a:t>Please refer to </a:t>
            </a:r>
            <a:r>
              <a:rPr lang="en-GB" sz="1000" i="1" dirty="0">
                <a:solidFill>
                  <a:schemeClr val="tx1"/>
                </a:solidFill>
                <a:latin typeface="Times New Roman" panose="02020603050405020304" pitchFamily="18" charset="0"/>
                <a:cs typeface="Times New Roman" panose="02020603050405020304" pitchFamily="18" charset="0"/>
                <a:hlinkClick r:id="rId4"/>
              </a:rPr>
              <a:t>PD(P)O</a:t>
            </a:r>
            <a:r>
              <a:rPr lang="en-GB" sz="1000" i="1" dirty="0">
                <a:solidFill>
                  <a:schemeClr val="tx1"/>
                </a:solidFill>
                <a:latin typeface="Times New Roman" panose="02020603050405020304" pitchFamily="18" charset="0"/>
                <a:cs typeface="Times New Roman" panose="02020603050405020304" pitchFamily="18" charset="0"/>
              </a:rPr>
              <a:t> for the details.</a:t>
            </a:r>
          </a:p>
        </p:txBody>
      </p:sp>
    </p:spTree>
    <p:extLst>
      <p:ext uri="{BB962C8B-B14F-4D97-AF65-F5344CB8AC3E}">
        <p14:creationId xmlns:p14="http://schemas.microsoft.com/office/powerpoint/2010/main" val="12599737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 name="Table 22"/>
          <p:cNvGraphicFramePr>
            <a:graphicFrameLocks noGrp="1"/>
          </p:cNvGraphicFramePr>
          <p:nvPr>
            <p:extLst>
              <p:ext uri="{D42A27DB-BD31-4B8C-83A1-F6EECF244321}">
                <p14:modId xmlns:p14="http://schemas.microsoft.com/office/powerpoint/2010/main" val="3732324301"/>
              </p:ext>
            </p:extLst>
          </p:nvPr>
        </p:nvGraphicFramePr>
        <p:xfrm>
          <a:off x="687794" y="1483489"/>
          <a:ext cx="11256554" cy="4635358"/>
        </p:xfrm>
        <a:graphic>
          <a:graphicData uri="http://schemas.openxmlformats.org/drawingml/2006/table">
            <a:tbl>
              <a:tblPr firstRow="1">
                <a:tableStyleId>{5C22544A-7EE6-4342-B048-85BDC9FD1C3A}</a:tableStyleId>
              </a:tblPr>
              <a:tblGrid>
                <a:gridCol w="272382">
                  <a:extLst>
                    <a:ext uri="{9D8B030D-6E8A-4147-A177-3AD203B41FA5}">
                      <a16:colId xmlns:a16="http://schemas.microsoft.com/office/drawing/2014/main" val="215512194"/>
                    </a:ext>
                  </a:extLst>
                </a:gridCol>
                <a:gridCol w="2743200">
                  <a:extLst>
                    <a:ext uri="{9D8B030D-6E8A-4147-A177-3AD203B41FA5}">
                      <a16:colId xmlns:a16="http://schemas.microsoft.com/office/drawing/2014/main" val="3513719145"/>
                    </a:ext>
                  </a:extLst>
                </a:gridCol>
                <a:gridCol w="8240972">
                  <a:extLst>
                    <a:ext uri="{9D8B030D-6E8A-4147-A177-3AD203B41FA5}">
                      <a16:colId xmlns:a16="http://schemas.microsoft.com/office/drawing/2014/main" val="8801309"/>
                    </a:ext>
                  </a:extLst>
                </a:gridCol>
              </a:tblGrid>
              <a:tr h="262688">
                <a:tc>
                  <a:txBody>
                    <a:bodyPr/>
                    <a:lstStyle/>
                    <a:p>
                      <a:pPr>
                        <a:buNone/>
                      </a:pPr>
                      <a:r>
                        <a:rPr lang="en-GB" sz="1200" dirty="0">
                          <a:latin typeface="Times New Roman"/>
                          <a:cs typeface="Times New Roman"/>
                        </a:rPr>
                        <a:t>#</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D0F5A"/>
                    </a:solidFill>
                  </a:tcPr>
                </a:tc>
                <a:tc>
                  <a:txBody>
                    <a:bodyPr/>
                    <a:lstStyle/>
                    <a:p>
                      <a:pPr>
                        <a:buNone/>
                      </a:pPr>
                      <a:r>
                        <a:rPr lang="en-GB" sz="1200" dirty="0">
                          <a:latin typeface="Times New Roman"/>
                          <a:cs typeface="Times New Roman"/>
                        </a:rPr>
                        <a:t>Question</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D0F5A"/>
                    </a:solidFill>
                  </a:tcPr>
                </a:tc>
                <a:tc>
                  <a:txBody>
                    <a:bodyPr/>
                    <a:lstStyle/>
                    <a:p>
                      <a:pPr lvl="0">
                        <a:buNone/>
                      </a:pPr>
                      <a:r>
                        <a:rPr lang="en-GB" sz="1200" dirty="0">
                          <a:latin typeface="Times New Roman"/>
                          <a:cs typeface="Times New Roman"/>
                        </a:rPr>
                        <a:t>Answers</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D0F5A"/>
                    </a:solidFill>
                  </a:tcPr>
                </a:tc>
                <a:extLst>
                  <a:ext uri="{0D108BD9-81ED-4DB2-BD59-A6C34878D82A}">
                    <a16:rowId xmlns:a16="http://schemas.microsoft.com/office/drawing/2014/main" val="3239964996"/>
                  </a:ext>
                </a:extLst>
              </a:tr>
              <a:tr h="686379">
                <a:tc>
                  <a:txBody>
                    <a:bodyPr/>
                    <a:lstStyle/>
                    <a:p>
                      <a:pPr>
                        <a:buNone/>
                      </a:pPr>
                      <a:r>
                        <a:rPr lang="en-GB" sz="1200" dirty="0">
                          <a:latin typeface="Times New Roman"/>
                          <a:cs typeface="Times New Roman"/>
                        </a:rPr>
                        <a:t>1</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buFont typeface="+mj-lt"/>
                        <a:buNone/>
                      </a:pPr>
                      <a:r>
                        <a:rPr lang="en-GB" sz="1200" b="1" dirty="0">
                          <a:latin typeface="Times New Roman"/>
                          <a:cs typeface="Times New Roman"/>
                        </a:rPr>
                        <a:t>Please describe the access control applied on data</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buNone/>
                      </a:pPr>
                      <a:r>
                        <a:rPr lang="en-GB" sz="1200" dirty="0">
                          <a:latin typeface="Times New Roman"/>
                          <a:cs typeface="Times New Roman"/>
                        </a:rPr>
                        <a:t>N/A since we are not a centralized system. The application runs locally on every users VD.</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83876419"/>
                  </a:ext>
                </a:extLst>
              </a:tr>
              <a:tr h="1152439">
                <a:tc>
                  <a:txBody>
                    <a:bodyPr/>
                    <a:lstStyle/>
                    <a:p>
                      <a:pPr>
                        <a:buNone/>
                      </a:pPr>
                      <a:r>
                        <a:rPr lang="en-GB" sz="1200" dirty="0">
                          <a:latin typeface="Times New Roman"/>
                          <a:cs typeface="Times New Roman"/>
                        </a:rPr>
                        <a:t>2</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buFont typeface="+mj-lt"/>
                        <a:buNone/>
                      </a:pPr>
                      <a:r>
                        <a:rPr lang="en-GB" sz="1200" b="1" dirty="0">
                          <a:latin typeface="Times New Roman"/>
                          <a:cs typeface="Times New Roman"/>
                        </a:rPr>
                        <a:t>Is Role-Based Access Control (RBAC) being enforced? </a:t>
                      </a:r>
                      <a:endParaRPr lang="en-US" sz="1200"/>
                    </a:p>
                    <a:p>
                      <a:pPr marL="0" indent="0">
                        <a:buFont typeface="+mj-lt"/>
                        <a:buNone/>
                      </a:pPr>
                      <a:r>
                        <a:rPr lang="en-GB" sz="1200" b="1" dirty="0">
                          <a:latin typeface="Times New Roman"/>
                          <a:cs typeface="Times New Roman"/>
                        </a:rPr>
                        <a:t>*</a:t>
                      </a:r>
                      <a:r>
                        <a:rPr lang="en-GB" sz="1200" i="1" dirty="0">
                          <a:latin typeface="Times New Roman"/>
                          <a:cs typeface="Times New Roman"/>
                        </a:rPr>
                        <a:t>Please refer to </a:t>
                      </a:r>
                      <a:r>
                        <a:rPr lang="en-GB" sz="1200" i="1" dirty="0">
                          <a:latin typeface="Times New Roman"/>
                          <a:cs typeface="Times New Roman"/>
                          <a:hlinkClick r:id="rId2"/>
                        </a:rPr>
                        <a:t>SOP 6 Data Access</a:t>
                      </a:r>
                      <a:endParaRPr lang="en-GB" sz="1200" i="1" dirty="0">
                        <a:latin typeface="Times New Roman"/>
                        <a:cs typeface="Times New Roman"/>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l">
                        <a:buNone/>
                      </a:pPr>
                      <a:r>
                        <a:rPr lang="en-GB" sz="1200" dirty="0">
                          <a:latin typeface="Times New Roman"/>
                          <a:cs typeface="Times New Roman"/>
                        </a:rPr>
                        <a:t>N/A, since the only user that can access the data </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91415294"/>
                  </a:ext>
                </a:extLst>
              </a:tr>
              <a:tr h="1610029">
                <a:tc>
                  <a:txBody>
                    <a:bodyPr/>
                    <a:lstStyle/>
                    <a:p>
                      <a:pPr lvl="0">
                        <a:buNone/>
                      </a:pPr>
                      <a:r>
                        <a:rPr lang="en-GB" sz="1200" dirty="0">
                          <a:latin typeface="Times New Roman"/>
                          <a:cs typeface="Times New Roman"/>
                        </a:rPr>
                        <a:t>3</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buNone/>
                      </a:pPr>
                      <a:r>
                        <a:rPr lang="en-GB" sz="1200" b="1" dirty="0">
                          <a:latin typeface="Times New Roman"/>
                          <a:cs typeface="Times New Roman"/>
                        </a:rPr>
                        <a:t>What information is tracked in audit logs? </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l">
                        <a:buNone/>
                      </a:pPr>
                      <a:r>
                        <a:rPr lang="en-GB" sz="1200" b="0" i="0" u="none" strike="noStrike" noProof="0" dirty="0">
                          <a:solidFill>
                            <a:srgbClr val="000000"/>
                          </a:solidFill>
                          <a:latin typeface="Times New Roman"/>
                        </a:rPr>
                        <a:t>- Log in and log out (excluding username and password) - authentication logging (user login) is done by backend windows domain controller and CMMP.  (In the security log of the server).  </a:t>
                      </a:r>
                      <a:endParaRPr lang="en-US" sz="1200"/>
                    </a:p>
                    <a:p>
                      <a:pPr lvl="0" algn="l">
                        <a:buNone/>
                      </a:pPr>
                      <a:r>
                        <a:rPr lang="en-GB" sz="1200" b="0" i="0" u="none" strike="noStrike" noProof="0" dirty="0">
                          <a:solidFill>
                            <a:srgbClr val="000000"/>
                          </a:solidFill>
                          <a:latin typeface="Times New Roman"/>
                        </a:rPr>
                        <a:t>- Fetch email via IMAP (excluding email contents)  </a:t>
                      </a:r>
                      <a:endParaRPr lang="en-GB" sz="1200" dirty="0"/>
                    </a:p>
                    <a:p>
                      <a:pPr lvl="0" algn="l">
                        <a:buNone/>
                      </a:pPr>
                      <a:r>
                        <a:rPr lang="en-GB" sz="1200" b="0" i="0" u="none" strike="noStrike" noProof="0" dirty="0">
                          <a:solidFill>
                            <a:srgbClr val="000000"/>
                          </a:solidFill>
                          <a:latin typeface="Times New Roman"/>
                        </a:rPr>
                        <a:t>- Call the SARA API (excluding payload content) </a:t>
                      </a:r>
                      <a:endParaRPr lang="en-GB" sz="1200" dirty="0"/>
                    </a:p>
                    <a:p>
                      <a:pPr lvl="0" algn="l">
                        <a:buNone/>
                      </a:pPr>
                      <a:endParaRPr lang="en-GB" sz="1600" dirty="0"/>
                    </a:p>
                    <a:p>
                      <a:pPr lvl="0" algn="l">
                        <a:buNone/>
                      </a:pPr>
                      <a:r>
                        <a:rPr lang="en-GB" sz="1200" b="0" i="0" u="none" strike="noStrike" noProof="0" dirty="0">
                          <a:solidFill>
                            <a:srgbClr val="000000"/>
                          </a:solidFill>
                          <a:latin typeface="Times New Roman"/>
                        </a:rPr>
                        <a:t>For below privileged user / AI actions, the log event should not contain any sensitive data.</a:t>
                      </a:r>
                      <a:endParaRPr lang="en-GB" sz="1200" dirty="0"/>
                    </a:p>
                    <a:p>
                      <a:pPr lvl="0" algn="l">
                        <a:buNone/>
                      </a:pPr>
                      <a:r>
                        <a:rPr lang="en-GB" sz="1200" b="0" i="0" u="none" strike="noStrike" noProof="0" dirty="0">
                          <a:solidFill>
                            <a:srgbClr val="000000"/>
                          </a:solidFill>
                          <a:latin typeface="Times New Roman"/>
                        </a:rPr>
                        <a:t>- Create folders through IMAP (excluding email contents and folder name) </a:t>
                      </a:r>
                      <a:endParaRPr lang="en-GB" sz="1200" dirty="0"/>
                    </a:p>
                    <a:p>
                      <a:pPr lvl="0" algn="l">
                        <a:buNone/>
                      </a:pPr>
                      <a:r>
                        <a:rPr lang="en-GB" sz="1200" b="0" i="0" u="none" strike="noStrike" noProof="0" dirty="0">
                          <a:solidFill>
                            <a:srgbClr val="000000"/>
                          </a:solidFill>
                          <a:latin typeface="Times New Roman"/>
                        </a:rPr>
                        <a:t>- Move emails into folders through IMAP (excluding email contents and folder name)</a:t>
                      </a:r>
                      <a:endParaRPr lang="en-GB" sz="1200" dirty="0"/>
                    </a:p>
                    <a:p>
                      <a:pPr lvl="0">
                        <a:buNone/>
                      </a:pPr>
                      <a:endParaRPr lang="en-GB" sz="1200" dirty="0">
                        <a:latin typeface="Times New Roman"/>
                        <a:cs typeface="Times New Roman"/>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96691317"/>
                  </a:ext>
                </a:extLst>
              </a:tr>
              <a:tr h="723900">
                <a:tc>
                  <a:txBody>
                    <a:bodyPr/>
                    <a:lstStyle/>
                    <a:p>
                      <a:pPr lvl="0">
                        <a:buNone/>
                      </a:pPr>
                      <a:r>
                        <a:rPr lang="en-GB" sz="1200" dirty="0">
                          <a:latin typeface="Times New Roman"/>
                          <a:cs typeface="Times New Roman"/>
                        </a:rPr>
                        <a:t>4</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l">
                        <a:buNone/>
                      </a:pPr>
                      <a:r>
                        <a:rPr lang="en-GB" sz="1200" b="1" i="0" u="none" strike="noStrike" noProof="0" dirty="0">
                          <a:solidFill>
                            <a:srgbClr val="000000"/>
                          </a:solidFill>
                          <a:latin typeface="Times New Roman"/>
                        </a:rPr>
                        <a:t>How long will the audit logs be stored? </a:t>
                      </a:r>
                      <a:endParaRPr lang="en-US" sz="1200"/>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l">
                        <a:buNone/>
                      </a:pPr>
                      <a:r>
                        <a:rPr lang="en-GB" sz="1200" dirty="0">
                          <a:latin typeface="Times New Roman"/>
                          <a:cs typeface="Times New Roman"/>
                        </a:rPr>
                        <a:t>180 days</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79955206"/>
                  </a:ext>
                </a:extLst>
              </a:tr>
            </a:tbl>
          </a:graphicData>
        </a:graphic>
      </p:graphicFrame>
      <p:sp>
        <p:nvSpPr>
          <p:cNvPr id="2" name="Title 1"/>
          <p:cNvSpPr>
            <a:spLocks noGrp="1"/>
          </p:cNvSpPr>
          <p:nvPr>
            <p:ph type="title"/>
          </p:nvPr>
        </p:nvSpPr>
        <p:spPr/>
        <p:txBody>
          <a:bodyPr/>
          <a:lstStyle/>
          <a:p>
            <a:r>
              <a:rPr lang="en-GB" dirty="0">
                <a:latin typeface="Times New Roman" panose="02020603050405020304" pitchFamily="18" charset="0"/>
                <a:cs typeface="Times New Roman" panose="02020603050405020304" pitchFamily="18" charset="0"/>
              </a:rPr>
              <a:t>D. Data Access</a:t>
            </a:r>
          </a:p>
        </p:txBody>
      </p:sp>
      <p:grpSp>
        <p:nvGrpSpPr>
          <p:cNvPr id="22" name="Group 21"/>
          <p:cNvGrpSpPr/>
          <p:nvPr/>
        </p:nvGrpSpPr>
        <p:grpSpPr>
          <a:xfrm>
            <a:off x="8166100" y="2863851"/>
            <a:ext cx="3498015" cy="934324"/>
            <a:chOff x="2073241" y="3248043"/>
            <a:chExt cx="9512606" cy="2724860"/>
          </a:xfrm>
        </p:grpSpPr>
        <p:cxnSp>
          <p:nvCxnSpPr>
            <p:cNvPr id="4" name="Straight Arrow Connector 3"/>
            <p:cNvCxnSpPr>
              <a:stCxn id="6" idx="3"/>
              <a:endCxn id="7" idx="1"/>
            </p:cNvCxnSpPr>
            <p:nvPr/>
          </p:nvCxnSpPr>
          <p:spPr>
            <a:xfrm>
              <a:off x="7143183" y="4262174"/>
              <a:ext cx="3542664" cy="1571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3">
              <a:duotone>
                <a:schemeClr val="accent2">
                  <a:shade val="45000"/>
                  <a:satMod val="135000"/>
                </a:schemeClr>
                <a:prstClr val="white"/>
              </a:duotone>
            </a:blip>
            <a:stretch>
              <a:fillRect/>
            </a:stretch>
          </p:blipFill>
          <p:spPr>
            <a:xfrm>
              <a:off x="2353901" y="3812175"/>
              <a:ext cx="522083" cy="522083"/>
            </a:xfrm>
            <a:prstGeom prst="rect">
              <a:avLst/>
            </a:prstGeom>
          </p:spPr>
        </p:pic>
        <p:pic>
          <p:nvPicPr>
            <p:cNvPr id="6" name="Picture 5"/>
            <p:cNvPicPr>
              <a:picLocks noChangeAspect="1"/>
            </p:cNvPicPr>
            <p:nvPr/>
          </p:nvPicPr>
          <p:blipFill>
            <a:blip r:embed="rId4"/>
            <a:stretch>
              <a:fillRect/>
            </a:stretch>
          </p:blipFill>
          <p:spPr>
            <a:xfrm>
              <a:off x="5761022" y="3571093"/>
              <a:ext cx="1382161" cy="1382161"/>
            </a:xfrm>
            <a:prstGeom prst="rect">
              <a:avLst/>
            </a:prstGeom>
          </p:spPr>
        </p:pic>
        <p:pic>
          <p:nvPicPr>
            <p:cNvPr id="7" name="Picture 6"/>
            <p:cNvPicPr>
              <a:picLocks noChangeAspect="1"/>
            </p:cNvPicPr>
            <p:nvPr/>
          </p:nvPicPr>
          <p:blipFill>
            <a:blip r:embed="rId5"/>
            <a:stretch>
              <a:fillRect/>
            </a:stretch>
          </p:blipFill>
          <p:spPr>
            <a:xfrm>
              <a:off x="10685847" y="3969333"/>
              <a:ext cx="900000" cy="900000"/>
            </a:xfrm>
            <a:prstGeom prst="rect">
              <a:avLst/>
            </a:prstGeom>
          </p:spPr>
        </p:pic>
        <p:pic>
          <p:nvPicPr>
            <p:cNvPr id="8" name="Picture 7"/>
            <p:cNvPicPr>
              <a:picLocks noChangeAspect="1"/>
            </p:cNvPicPr>
            <p:nvPr/>
          </p:nvPicPr>
          <p:blipFill>
            <a:blip r:embed="rId3">
              <a:duotone>
                <a:schemeClr val="accent6">
                  <a:shade val="45000"/>
                  <a:satMod val="135000"/>
                </a:schemeClr>
                <a:prstClr val="white"/>
              </a:duotone>
            </a:blip>
            <a:stretch>
              <a:fillRect/>
            </a:stretch>
          </p:blipFill>
          <p:spPr>
            <a:xfrm>
              <a:off x="2353900" y="4532600"/>
              <a:ext cx="522083" cy="522083"/>
            </a:xfrm>
            <a:prstGeom prst="rect">
              <a:avLst/>
            </a:prstGeom>
          </p:spPr>
        </p:pic>
        <p:pic>
          <p:nvPicPr>
            <p:cNvPr id="9" name="Picture 8"/>
            <p:cNvPicPr>
              <a:picLocks noChangeAspect="1"/>
            </p:cNvPicPr>
            <p:nvPr/>
          </p:nvPicPr>
          <p:blipFill>
            <a:blip r:embed="rId3">
              <a:duotone>
                <a:schemeClr val="accent6">
                  <a:shade val="45000"/>
                  <a:satMod val="135000"/>
                </a:schemeClr>
                <a:prstClr val="white"/>
              </a:duotone>
            </a:blip>
            <a:stretch>
              <a:fillRect/>
            </a:stretch>
          </p:blipFill>
          <p:spPr>
            <a:xfrm>
              <a:off x="2353900" y="5249483"/>
              <a:ext cx="522083" cy="522083"/>
            </a:xfrm>
            <a:prstGeom prst="rect">
              <a:avLst/>
            </a:prstGeom>
          </p:spPr>
        </p:pic>
        <p:sp>
          <p:nvSpPr>
            <p:cNvPr id="10" name="TextBox 9"/>
            <p:cNvSpPr txBox="1"/>
            <p:nvPr/>
          </p:nvSpPr>
          <p:spPr>
            <a:xfrm>
              <a:off x="2073241" y="3248043"/>
              <a:ext cx="1117575" cy="390057"/>
            </a:xfrm>
            <a:prstGeom prst="rect">
              <a:avLst/>
            </a:prstGeom>
            <a:noFill/>
          </p:spPr>
          <p:txBody>
            <a:bodyPr wrap="none" rtlCol="0">
              <a:spAutoFit/>
            </a:bodyPr>
            <a:lstStyle/>
            <a:p>
              <a:r>
                <a:rPr lang="en-GB" sz="1200" b="1" dirty="0"/>
                <a:t>Individuals</a:t>
              </a:r>
            </a:p>
          </p:txBody>
        </p:sp>
        <p:sp>
          <p:nvSpPr>
            <p:cNvPr id="11" name="TextBox 10"/>
            <p:cNvSpPr txBox="1"/>
            <p:nvPr/>
          </p:nvSpPr>
          <p:spPr>
            <a:xfrm>
              <a:off x="5624279" y="3300387"/>
              <a:ext cx="1662251" cy="390057"/>
            </a:xfrm>
            <a:prstGeom prst="rect">
              <a:avLst/>
            </a:prstGeom>
            <a:noFill/>
          </p:spPr>
          <p:txBody>
            <a:bodyPr wrap="none" rtlCol="0">
              <a:spAutoFit/>
            </a:bodyPr>
            <a:lstStyle/>
            <a:p>
              <a:r>
                <a:rPr lang="en-GB" sz="1200" b="1" dirty="0"/>
                <a:t>Grouped by Roles</a:t>
              </a:r>
            </a:p>
          </p:txBody>
        </p:sp>
        <p:pic>
          <p:nvPicPr>
            <p:cNvPr id="12" name="Picture 11"/>
            <p:cNvPicPr>
              <a:picLocks noChangeAspect="1"/>
            </p:cNvPicPr>
            <p:nvPr/>
          </p:nvPicPr>
          <p:blipFill>
            <a:blip r:embed="rId6"/>
            <a:stretch>
              <a:fillRect/>
            </a:stretch>
          </p:blipFill>
          <p:spPr>
            <a:xfrm>
              <a:off x="9324724" y="5072903"/>
              <a:ext cx="900000" cy="900000"/>
            </a:xfrm>
            <a:prstGeom prst="rect">
              <a:avLst/>
            </a:prstGeom>
          </p:spPr>
        </p:pic>
        <p:pic>
          <p:nvPicPr>
            <p:cNvPr id="13" name="Picture 12"/>
            <p:cNvPicPr>
              <a:picLocks noChangeAspect="1"/>
            </p:cNvPicPr>
            <p:nvPr/>
          </p:nvPicPr>
          <p:blipFill>
            <a:blip r:embed="rId7"/>
            <a:stretch>
              <a:fillRect/>
            </a:stretch>
          </p:blipFill>
          <p:spPr>
            <a:xfrm>
              <a:off x="10685847" y="5072903"/>
              <a:ext cx="900000" cy="900000"/>
            </a:xfrm>
            <a:prstGeom prst="rect">
              <a:avLst/>
            </a:prstGeom>
          </p:spPr>
        </p:pic>
        <p:sp>
          <p:nvSpPr>
            <p:cNvPr id="14" name="TextBox 13"/>
            <p:cNvSpPr txBox="1"/>
            <p:nvPr/>
          </p:nvSpPr>
          <p:spPr>
            <a:xfrm>
              <a:off x="10069065" y="3284686"/>
              <a:ext cx="884003" cy="390057"/>
            </a:xfrm>
            <a:prstGeom prst="rect">
              <a:avLst/>
            </a:prstGeom>
            <a:noFill/>
          </p:spPr>
          <p:txBody>
            <a:bodyPr wrap="none" rtlCol="0">
              <a:spAutoFit/>
            </a:bodyPr>
            <a:lstStyle/>
            <a:p>
              <a:r>
                <a:rPr lang="en-GB" sz="1200" b="1" dirty="0"/>
                <a:t>Systems</a:t>
              </a:r>
            </a:p>
          </p:txBody>
        </p:sp>
        <p:cxnSp>
          <p:nvCxnSpPr>
            <p:cNvPr id="15" name="Straight Arrow Connector 14"/>
            <p:cNvCxnSpPr>
              <a:stCxn id="5" idx="3"/>
              <a:endCxn id="6" idx="1"/>
            </p:cNvCxnSpPr>
            <p:nvPr/>
          </p:nvCxnSpPr>
          <p:spPr>
            <a:xfrm>
              <a:off x="2875984" y="4073217"/>
              <a:ext cx="2885038" cy="1889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8" idx="3"/>
              <a:endCxn id="6" idx="1"/>
            </p:cNvCxnSpPr>
            <p:nvPr/>
          </p:nvCxnSpPr>
          <p:spPr>
            <a:xfrm flipV="1">
              <a:off x="2875983" y="4262174"/>
              <a:ext cx="2885039" cy="5314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9" idx="3"/>
              <a:endCxn id="6" idx="1"/>
            </p:cNvCxnSpPr>
            <p:nvPr/>
          </p:nvCxnSpPr>
          <p:spPr>
            <a:xfrm flipV="1">
              <a:off x="2875983" y="4262174"/>
              <a:ext cx="2885039" cy="12483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6" idx="3"/>
              <a:endCxn id="20" idx="1"/>
            </p:cNvCxnSpPr>
            <p:nvPr/>
          </p:nvCxnSpPr>
          <p:spPr>
            <a:xfrm>
              <a:off x="7143183" y="4262174"/>
              <a:ext cx="2294849" cy="1214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6" idx="3"/>
              <a:endCxn id="12" idx="1"/>
            </p:cNvCxnSpPr>
            <p:nvPr/>
          </p:nvCxnSpPr>
          <p:spPr>
            <a:xfrm>
              <a:off x="7143183" y="4262174"/>
              <a:ext cx="2181541" cy="12607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0" name="Picture 19"/>
            <p:cNvPicPr>
              <a:picLocks noChangeAspect="1"/>
            </p:cNvPicPr>
            <p:nvPr/>
          </p:nvPicPr>
          <p:blipFill>
            <a:blip r:embed="rId8"/>
            <a:stretch>
              <a:fillRect/>
            </a:stretch>
          </p:blipFill>
          <p:spPr>
            <a:xfrm>
              <a:off x="9438032" y="3933615"/>
              <a:ext cx="900000" cy="900000"/>
            </a:xfrm>
            <a:prstGeom prst="rect">
              <a:avLst/>
            </a:prstGeom>
          </p:spPr>
        </p:pic>
        <p:cxnSp>
          <p:nvCxnSpPr>
            <p:cNvPr id="21" name="Straight Arrow Connector 20"/>
            <p:cNvCxnSpPr>
              <a:stCxn id="6" idx="3"/>
              <a:endCxn id="13" idx="1"/>
            </p:cNvCxnSpPr>
            <p:nvPr/>
          </p:nvCxnSpPr>
          <p:spPr>
            <a:xfrm>
              <a:off x="7143183" y="4262174"/>
              <a:ext cx="3542664" cy="12607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3" name="Rounded Rectangular Callout 5"/>
          <p:cNvSpPr/>
          <p:nvPr/>
        </p:nvSpPr>
        <p:spPr>
          <a:xfrm>
            <a:off x="12406918" y="1270459"/>
            <a:ext cx="1892710" cy="1840101"/>
          </a:xfrm>
          <a:prstGeom prst="wedgeRoundRectCallout">
            <a:avLst>
              <a:gd name="adj1" fmla="val -56995"/>
              <a:gd name="adj2" fmla="val -26500"/>
              <a:gd name="adj3" fmla="val 16667"/>
            </a:avLst>
          </a:prstGeom>
          <a:solidFill>
            <a:schemeClr val="tx2">
              <a:lumMod val="20000"/>
              <a:lumOff val="80000"/>
            </a:schemeClr>
          </a:solidFill>
          <a:ln>
            <a:solidFill>
              <a:srgbClr val="4D0F5A"/>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GB" sz="1000" b="1" u="sng" dirty="0">
                <a:solidFill>
                  <a:schemeClr val="tx1"/>
                </a:solidFill>
                <a:latin typeface="Times New Roman" panose="02020603050405020304" pitchFamily="18" charset="0"/>
                <a:cs typeface="Times New Roman" panose="02020603050405020304" pitchFamily="18" charset="0"/>
              </a:rPr>
              <a:t>Instruction</a:t>
            </a:r>
          </a:p>
          <a:p>
            <a:endParaRPr lang="en-GB" sz="1000" dirty="0">
              <a:solidFill>
                <a:srgbClr val="000000"/>
              </a:solidFill>
              <a:latin typeface="Times New Roman"/>
              <a:cs typeface="Times New Roman"/>
            </a:endParaRPr>
          </a:p>
          <a:p>
            <a:pPr marL="171450" indent="-171450">
              <a:buFont typeface="Arial"/>
              <a:buChar char="•"/>
            </a:pPr>
            <a:r>
              <a:rPr lang="en-GB" sz="1000" dirty="0">
                <a:solidFill>
                  <a:srgbClr val="000000"/>
                </a:solidFill>
                <a:latin typeface="Times New Roman"/>
                <a:cs typeface="Times New Roman"/>
              </a:rPr>
              <a:t>Role-based access control should be applied. </a:t>
            </a:r>
          </a:p>
          <a:p>
            <a:pPr marL="171450" indent="-171450">
              <a:buFont typeface="Arial"/>
              <a:buChar char="•"/>
            </a:pPr>
            <a:endParaRPr lang="en-GB" sz="1000" dirty="0">
              <a:solidFill>
                <a:srgbClr val="000000"/>
              </a:solidFill>
              <a:latin typeface="Times New Roman"/>
              <a:cs typeface="Times New Roman"/>
            </a:endParaRPr>
          </a:p>
          <a:p>
            <a:pPr marL="171450" indent="-171450">
              <a:buFont typeface="Arial"/>
              <a:buChar char="•"/>
            </a:pPr>
            <a:r>
              <a:rPr lang="en-GB" sz="1000" dirty="0">
                <a:solidFill>
                  <a:srgbClr val="000000"/>
                </a:solidFill>
                <a:latin typeface="Times New Roman"/>
                <a:cs typeface="Times New Roman"/>
              </a:rPr>
              <a:t>Data usage should be identified, reviewed and tracked relevant to the business process.</a:t>
            </a:r>
          </a:p>
        </p:txBody>
      </p:sp>
    </p:spTree>
    <p:extLst>
      <p:ext uri="{BB962C8B-B14F-4D97-AF65-F5344CB8AC3E}">
        <p14:creationId xmlns:p14="http://schemas.microsoft.com/office/powerpoint/2010/main" val="21247927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Times New Roman" panose="02020603050405020304" pitchFamily="18" charset="0"/>
                <a:cs typeface="Times New Roman" panose="02020603050405020304" pitchFamily="18" charset="0"/>
              </a:rPr>
              <a:t>E. Data Usage</a:t>
            </a:r>
          </a:p>
        </p:txBody>
      </p:sp>
      <p:graphicFrame>
        <p:nvGraphicFramePr>
          <p:cNvPr id="5" name="Table 4"/>
          <p:cNvGraphicFramePr>
            <a:graphicFrameLocks noGrp="1"/>
          </p:cNvGraphicFramePr>
          <p:nvPr>
            <p:extLst>
              <p:ext uri="{D42A27DB-BD31-4B8C-83A1-F6EECF244321}">
                <p14:modId xmlns:p14="http://schemas.microsoft.com/office/powerpoint/2010/main" val="3639021375"/>
              </p:ext>
            </p:extLst>
          </p:nvPr>
        </p:nvGraphicFramePr>
        <p:xfrm>
          <a:off x="696001" y="1509535"/>
          <a:ext cx="10800000" cy="2565400"/>
        </p:xfrm>
        <a:graphic>
          <a:graphicData uri="http://schemas.openxmlformats.org/drawingml/2006/table">
            <a:tbl>
              <a:tblPr firstRow="1">
                <a:tableStyleId>{5C22544A-7EE6-4342-B048-85BDC9FD1C3A}</a:tableStyleId>
              </a:tblPr>
              <a:tblGrid>
                <a:gridCol w="211025">
                  <a:extLst>
                    <a:ext uri="{9D8B030D-6E8A-4147-A177-3AD203B41FA5}">
                      <a16:colId xmlns:a16="http://schemas.microsoft.com/office/drawing/2014/main" val="215512194"/>
                    </a:ext>
                  </a:extLst>
                </a:gridCol>
                <a:gridCol w="4254909">
                  <a:extLst>
                    <a:ext uri="{9D8B030D-6E8A-4147-A177-3AD203B41FA5}">
                      <a16:colId xmlns:a16="http://schemas.microsoft.com/office/drawing/2014/main" val="3513719145"/>
                    </a:ext>
                  </a:extLst>
                </a:gridCol>
                <a:gridCol w="2005781">
                  <a:extLst>
                    <a:ext uri="{9D8B030D-6E8A-4147-A177-3AD203B41FA5}">
                      <a16:colId xmlns:a16="http://schemas.microsoft.com/office/drawing/2014/main" val="2541505360"/>
                    </a:ext>
                  </a:extLst>
                </a:gridCol>
                <a:gridCol w="4328285">
                  <a:extLst>
                    <a:ext uri="{9D8B030D-6E8A-4147-A177-3AD203B41FA5}">
                      <a16:colId xmlns:a16="http://schemas.microsoft.com/office/drawing/2014/main" val="4223032881"/>
                    </a:ext>
                  </a:extLst>
                </a:gridCol>
              </a:tblGrid>
              <a:tr h="370840">
                <a:tc>
                  <a:txBody>
                    <a:bodyPr/>
                    <a:lstStyle/>
                    <a:p>
                      <a:pPr>
                        <a:buNone/>
                      </a:pPr>
                      <a:r>
                        <a:rPr lang="en-GB" sz="1400" dirty="0">
                          <a:latin typeface="Times New Roman" panose="02020603050405020304" pitchFamily="18" charset="0"/>
                          <a:cs typeface="Times New Roman" panose="02020603050405020304" pitchFamily="18" charset="0"/>
                        </a:rPr>
                        <a:t>#</a:t>
                      </a:r>
                    </a:p>
                  </a:txBody>
                  <a:tcPr marL="45720" marR="4572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D0F5A"/>
                    </a:solidFill>
                  </a:tcPr>
                </a:tc>
                <a:tc>
                  <a:txBody>
                    <a:bodyPr/>
                    <a:lstStyle/>
                    <a:p>
                      <a:r>
                        <a:rPr lang="en-GB" sz="1400" dirty="0">
                          <a:latin typeface="Times New Roman" panose="02020603050405020304" pitchFamily="18" charset="0"/>
                          <a:cs typeface="Times New Roman" panose="02020603050405020304" pitchFamily="18" charset="0"/>
                        </a:rPr>
                        <a:t>Question</a:t>
                      </a:r>
                    </a:p>
                  </a:txBody>
                  <a:tcPr marL="45720" marR="4572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D0F5A"/>
                    </a:solidFill>
                  </a:tcPr>
                </a:tc>
                <a:tc>
                  <a:txBody>
                    <a:bodyPr/>
                    <a:lstStyle/>
                    <a:p>
                      <a:r>
                        <a:rPr lang="en-GB" sz="1400" dirty="0">
                          <a:solidFill>
                            <a:schemeClr val="bg1"/>
                          </a:solidFill>
                          <a:latin typeface="Times New Roman" panose="02020603050405020304" pitchFamily="18" charset="0"/>
                          <a:cs typeface="Times New Roman" panose="02020603050405020304" pitchFamily="18" charset="0"/>
                        </a:rPr>
                        <a:t>Yes / No / Not Applicable</a:t>
                      </a:r>
                    </a:p>
                  </a:txBody>
                  <a:tcPr marL="45720" marR="4572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D0F5A"/>
                    </a:solidFill>
                  </a:tcPr>
                </a:tc>
                <a:tc>
                  <a:txBody>
                    <a:bodyPr/>
                    <a:lstStyle/>
                    <a:p>
                      <a:pPr>
                        <a:buNone/>
                      </a:pPr>
                      <a:r>
                        <a:rPr lang="en-GB" sz="1400" i="0" dirty="0">
                          <a:solidFill>
                            <a:srgbClr val="FFFFFF"/>
                          </a:solidFill>
                          <a:latin typeface="Times New Roman"/>
                          <a:cs typeface="Times New Roman"/>
                        </a:rPr>
                        <a:t>Artefact/ Justification</a:t>
                      </a:r>
                      <a:endParaRPr lang="en-GB" sz="1400" i="0" dirty="0">
                        <a:solidFill>
                          <a:schemeClr val="bg1"/>
                        </a:solidFill>
                        <a:latin typeface="Times New Roman" panose="02020603050405020304" pitchFamily="18" charset="0"/>
                        <a:cs typeface="Times New Roman" panose="02020603050405020304" pitchFamily="18" charset="0"/>
                      </a:endParaRPr>
                    </a:p>
                  </a:txBody>
                  <a:tcPr marL="45720" marR="45720">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D0F5A"/>
                    </a:solidFill>
                  </a:tcPr>
                </a:tc>
                <a:extLst>
                  <a:ext uri="{0D108BD9-81ED-4DB2-BD59-A6C34878D82A}">
                    <a16:rowId xmlns:a16="http://schemas.microsoft.com/office/drawing/2014/main" val="3239964996"/>
                  </a:ext>
                </a:extLst>
              </a:tr>
              <a:tr h="370840">
                <a:tc>
                  <a:txBody>
                    <a:bodyPr/>
                    <a:lstStyle/>
                    <a:p>
                      <a:r>
                        <a:rPr lang="en-GB" sz="1400" dirty="0">
                          <a:latin typeface="Times New Roman" panose="02020603050405020304" pitchFamily="18" charset="0"/>
                          <a:cs typeface="Times New Roman" panose="02020603050405020304" pitchFamily="18" charset="0"/>
                        </a:rPr>
                        <a:t>1</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b="1" dirty="0">
                          <a:latin typeface="Times New Roman"/>
                          <a:cs typeface="Times New Roman"/>
                        </a:rPr>
                        <a:t>Are the compliance requirements identified and documented? (</a:t>
                      </a:r>
                      <a:r>
                        <a:rPr lang="en-GB" sz="1400" b="0" dirty="0">
                          <a:latin typeface="Times New Roman"/>
                          <a:cs typeface="Times New Roman"/>
                        </a:rPr>
                        <a:t>Including a</a:t>
                      </a:r>
                      <a:r>
                        <a:rPr lang="en-GB" sz="1400" b="0" i="0" u="none" strike="noStrike" noProof="0" dirty="0">
                          <a:solidFill>
                            <a:srgbClr val="000000"/>
                          </a:solidFill>
                          <a:latin typeface="Times New Roman"/>
                        </a:rPr>
                        <a:t>ll relevant statutory, legal, regulatory and contractual requirements applicable to the operations of data in the HKMA and systems used to process the data </a:t>
                      </a:r>
                      <a:r>
                        <a:rPr lang="en-GB" sz="1400" b="1" dirty="0">
                          <a:latin typeface="Times New Roman"/>
                          <a:cs typeface="Times New Roman"/>
                        </a:rPr>
                        <a:t>)</a:t>
                      </a:r>
                      <a:endParaRPr lang="en-GB" sz="1400" b="1" dirty="0">
                        <a:latin typeface="Times New Roman" panose="02020603050405020304" pitchFamily="18" charset="0"/>
                        <a:cs typeface="Times New Roman" panose="02020603050405020304" pitchFamily="18" charset="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kumimoji="0" lang="en-GB" sz="1400" b="0" i="0" u="none" strike="noStrike" kern="1200" cap="none" spc="0" normalizeH="0" baseline="0" noProof="0" dirty="0">
                          <a:ln>
                            <a:noFill/>
                          </a:ln>
                          <a:solidFill>
                            <a:srgbClr val="000000"/>
                          </a:solidFill>
                          <a:effectLst/>
                          <a:uLnTx/>
                          <a:uFillTx/>
                          <a:latin typeface="Times New Roman"/>
                          <a:ea typeface="+mn-ea"/>
                          <a:cs typeface="Times New Roman"/>
                        </a:rPr>
                        <a:t>N/A</a:t>
                      </a:r>
                      <a:endParaRPr lang="en-GB" sz="1400" dirty="0">
                        <a:solidFill>
                          <a:srgbClr val="000000"/>
                        </a:solidFill>
                        <a:latin typeface="Times New Roman"/>
                        <a:cs typeface="Times New Roman"/>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400" i="1" dirty="0">
                          <a:latin typeface="Times New Roman"/>
                          <a:cs typeface="Times New Roman"/>
                        </a:rPr>
                        <a:t>The application will not process or store any sensitive data. </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83876419"/>
                  </a:ext>
                </a:extLst>
              </a:tr>
              <a:tr h="370840">
                <a:tc>
                  <a:txBody>
                    <a:bodyPr/>
                    <a:lstStyle/>
                    <a:p>
                      <a:r>
                        <a:rPr lang="en-GB" sz="1400" dirty="0">
                          <a:latin typeface="Times New Roman" panose="02020603050405020304" pitchFamily="18" charset="0"/>
                          <a:cs typeface="Times New Roman" panose="02020603050405020304" pitchFamily="18" charset="0"/>
                        </a:rPr>
                        <a:t>2</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b="1" dirty="0">
                          <a:latin typeface="Times New Roman"/>
                          <a:cs typeface="Times New Roman"/>
                        </a:rPr>
                        <a:t>Is there any </a:t>
                      </a:r>
                      <a:r>
                        <a:rPr lang="en-GB" sz="1400" b="1" i="1" dirty="0">
                          <a:latin typeface="Times New Roman"/>
                          <a:cs typeface="Times New Roman"/>
                        </a:rPr>
                        <a:t>Data Sharing Agreement </a:t>
                      </a:r>
                      <a:r>
                        <a:rPr lang="en-GB" sz="1400" b="1" i="0" dirty="0">
                          <a:latin typeface="Times New Roman"/>
                          <a:cs typeface="Times New Roman"/>
                        </a:rPr>
                        <a:t>applied</a:t>
                      </a:r>
                      <a:r>
                        <a:rPr lang="en-GB" sz="1400" b="1" i="1" dirty="0">
                          <a:latin typeface="Times New Roman"/>
                          <a:cs typeface="Times New Roman"/>
                        </a:rPr>
                        <a:t>?</a:t>
                      </a:r>
                      <a:endParaRPr lang="en-GB" sz="1400" b="1" dirty="0">
                        <a:latin typeface="Times New Roman"/>
                        <a:cs typeface="Times New Rom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400" b="0" i="1" dirty="0">
                          <a:latin typeface="Times New Roman" panose="02020603050405020304" pitchFamily="18" charset="0"/>
                          <a:cs typeface="Times New Roman" panose="02020603050405020304" pitchFamily="18" charset="0"/>
                        </a:rPr>
                        <a:t>*</a:t>
                      </a:r>
                      <a:r>
                        <a:rPr lang="en-GB" sz="1400" b="0" i="1" baseline="0" dirty="0">
                          <a:latin typeface="Times New Roman" panose="02020603050405020304" pitchFamily="18" charset="0"/>
                          <a:cs typeface="Times New Roman" panose="02020603050405020304" pitchFamily="18" charset="0"/>
                        </a:rPr>
                        <a:t> Please refer to </a:t>
                      </a:r>
                      <a:r>
                        <a:rPr lang="en-GB" sz="1400" b="0" i="1" baseline="0" dirty="0">
                          <a:latin typeface="Times New Roman" panose="02020603050405020304" pitchFamily="18" charset="0"/>
                          <a:cs typeface="Times New Roman" panose="02020603050405020304" pitchFamily="18" charset="0"/>
                          <a:hlinkClick r:id="rId2"/>
                        </a:rPr>
                        <a:t>SOP 9c</a:t>
                      </a:r>
                      <a:endParaRPr lang="en-GB" sz="1400" b="0" i="1" dirty="0">
                        <a:latin typeface="Times New Roman" panose="02020603050405020304" pitchFamily="18" charset="0"/>
                        <a:cs typeface="Times New Roman" panose="02020603050405020304" pitchFamily="18" charset="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400" b="0" i="0" u="none" strike="noStrike" kern="1200" cap="none" spc="0" baseline="0" noProof="0" dirty="0">
                          <a:solidFill>
                            <a:srgbClr val="000000"/>
                          </a:solidFill>
                          <a:latin typeface="Times New Roman"/>
                          <a:ea typeface="+mn-ea"/>
                          <a:cs typeface="Times New Roman"/>
                        </a:rPr>
                        <a:t>No</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400" dirty="0">
                          <a:latin typeface="Times New Roman"/>
                          <a:cs typeface="Times New Roman"/>
                        </a:rPr>
                        <a:t>We are not using any 3rd party data</a:t>
                      </a:r>
                      <a:endParaRPr lang="en-GB" sz="1400" dirty="0">
                        <a:latin typeface="Times New Roman" panose="02020603050405020304" pitchFamily="18" charset="0"/>
                        <a:cs typeface="Times New Roman" panose="02020603050405020304" pitchFamily="18" charset="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91415294"/>
                  </a:ext>
                </a:extLst>
              </a:tr>
              <a:tr h="370840">
                <a:tc>
                  <a:txBody>
                    <a:bodyPr/>
                    <a:lstStyle/>
                    <a:p>
                      <a:r>
                        <a:rPr lang="en-GB" sz="1400" dirty="0">
                          <a:latin typeface="Times New Roman" panose="02020603050405020304" pitchFamily="18" charset="0"/>
                          <a:cs typeface="Times New Roman" panose="02020603050405020304" pitchFamily="18" charset="0"/>
                        </a:rPr>
                        <a:t>3</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b="1" dirty="0">
                          <a:latin typeface="Times New Roman"/>
                          <a:cs typeface="Times New Roman"/>
                        </a:rPr>
                        <a:t>Is the intended data lifecycle in compliant with the compliance requirements listed above?</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0" lang="en-GB"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N/A</a:t>
                      </a:r>
                      <a:endParaRPr lang="en-GB" sz="1400" dirty="0">
                        <a:latin typeface="Times New Roman" panose="02020603050405020304" pitchFamily="18" charset="0"/>
                        <a:cs typeface="Times New Roman" panose="02020603050405020304" pitchFamily="18" charset="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GB" sz="1400" dirty="0">
                        <a:latin typeface="Times New Roman" panose="02020603050405020304" pitchFamily="18" charset="0"/>
                        <a:cs typeface="Times New Roman" panose="02020603050405020304" pitchFamily="18" charset="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47496541"/>
                  </a:ext>
                </a:extLst>
              </a:tr>
            </a:tbl>
          </a:graphicData>
        </a:graphic>
      </p:graphicFrame>
      <p:sp>
        <p:nvSpPr>
          <p:cNvPr id="7" name="Rounded Rectangular Callout 4"/>
          <p:cNvSpPr/>
          <p:nvPr/>
        </p:nvSpPr>
        <p:spPr>
          <a:xfrm>
            <a:off x="12373180" y="1274965"/>
            <a:ext cx="1892710" cy="4785890"/>
          </a:xfrm>
          <a:prstGeom prst="wedgeRoundRectCallout">
            <a:avLst>
              <a:gd name="adj1" fmla="val -56995"/>
              <a:gd name="adj2" fmla="val -26500"/>
              <a:gd name="adj3" fmla="val 16667"/>
            </a:avLst>
          </a:prstGeom>
          <a:solidFill>
            <a:schemeClr val="tx2">
              <a:lumMod val="20000"/>
              <a:lumOff val="80000"/>
            </a:schemeClr>
          </a:solidFill>
          <a:ln>
            <a:solidFill>
              <a:srgbClr val="4D0F5A"/>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GB" sz="1000" b="1" u="sng" dirty="0">
                <a:solidFill>
                  <a:schemeClr val="tx1"/>
                </a:solidFill>
                <a:latin typeface="Times New Roman" panose="02020603050405020304" pitchFamily="18" charset="0"/>
                <a:cs typeface="Times New Roman" panose="02020603050405020304" pitchFamily="18" charset="0"/>
              </a:rPr>
              <a:t>Instruction</a:t>
            </a:r>
          </a:p>
          <a:p>
            <a:endParaRPr lang="en-GB" sz="1000" dirty="0">
              <a:solidFill>
                <a:schemeClr val="tx1"/>
              </a:solidFill>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GB" sz="1000" dirty="0">
                <a:solidFill>
                  <a:schemeClr val="tx1"/>
                </a:solidFill>
                <a:latin typeface="Times New Roman" panose="02020603050405020304" pitchFamily="18" charset="0"/>
                <a:cs typeface="Times New Roman" panose="02020603050405020304" pitchFamily="18" charset="0"/>
              </a:rPr>
              <a:t>All relevant statutory, legal, regulatory and contractual requirements applicable to the operations of data in the HKMA and systems used to process the data shall be identified and documented.</a:t>
            </a:r>
            <a:endParaRPr lang="en-GB" sz="1000" dirty="0">
              <a:solidFill>
                <a:srgbClr val="FFFFFF"/>
              </a:solidFill>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endParaRPr lang="en-GB" sz="1000" dirty="0">
              <a:solidFill>
                <a:srgbClr val="000000"/>
              </a:solidFill>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GB" sz="1000" b="1" dirty="0">
                <a:solidFill>
                  <a:srgbClr val="000000"/>
                </a:solidFill>
                <a:latin typeface="Times New Roman" panose="02020603050405020304" pitchFamily="18" charset="0"/>
                <a:cs typeface="Times New Roman" panose="02020603050405020304" pitchFamily="18" charset="0"/>
              </a:rPr>
              <a:t>Data Sharing Agreement</a:t>
            </a:r>
            <a:r>
              <a:rPr lang="en-GB" sz="1000" dirty="0">
                <a:solidFill>
                  <a:srgbClr val="000000"/>
                </a:solidFill>
                <a:latin typeface="Times New Roman" panose="02020603050405020304" pitchFamily="18" charset="0"/>
                <a:cs typeface="Times New Roman" panose="02020603050405020304" pitchFamily="18" charset="0"/>
              </a:rPr>
              <a:t> refer to data usage restrictions set out in any agreement with vendor of Third Party Data or consent-based agreement. </a:t>
            </a:r>
          </a:p>
        </p:txBody>
      </p:sp>
    </p:spTree>
    <p:extLst>
      <p:ext uri="{BB962C8B-B14F-4D97-AF65-F5344CB8AC3E}">
        <p14:creationId xmlns:p14="http://schemas.microsoft.com/office/powerpoint/2010/main" val="4349185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p:cNvGraphicFramePr>
            <a:graphicFrameLocks noGrp="1"/>
          </p:cNvGraphicFramePr>
          <p:nvPr>
            <p:extLst>
              <p:ext uri="{D42A27DB-BD31-4B8C-83A1-F6EECF244321}">
                <p14:modId xmlns:p14="http://schemas.microsoft.com/office/powerpoint/2010/main" val="4192797872"/>
              </p:ext>
            </p:extLst>
          </p:nvPr>
        </p:nvGraphicFramePr>
        <p:xfrm>
          <a:off x="696001" y="1509535"/>
          <a:ext cx="10800000" cy="889000"/>
        </p:xfrm>
        <a:graphic>
          <a:graphicData uri="http://schemas.openxmlformats.org/drawingml/2006/table">
            <a:tbl>
              <a:tblPr firstRow="1">
                <a:tableStyleId>{5C22544A-7EE6-4342-B048-85BDC9FD1C3A}</a:tableStyleId>
              </a:tblPr>
              <a:tblGrid>
                <a:gridCol w="211025">
                  <a:extLst>
                    <a:ext uri="{9D8B030D-6E8A-4147-A177-3AD203B41FA5}">
                      <a16:colId xmlns:a16="http://schemas.microsoft.com/office/drawing/2014/main" val="215512194"/>
                    </a:ext>
                  </a:extLst>
                </a:gridCol>
                <a:gridCol w="4254909">
                  <a:extLst>
                    <a:ext uri="{9D8B030D-6E8A-4147-A177-3AD203B41FA5}">
                      <a16:colId xmlns:a16="http://schemas.microsoft.com/office/drawing/2014/main" val="3513719145"/>
                    </a:ext>
                  </a:extLst>
                </a:gridCol>
                <a:gridCol w="2005781">
                  <a:extLst>
                    <a:ext uri="{9D8B030D-6E8A-4147-A177-3AD203B41FA5}">
                      <a16:colId xmlns:a16="http://schemas.microsoft.com/office/drawing/2014/main" val="2541505360"/>
                    </a:ext>
                  </a:extLst>
                </a:gridCol>
                <a:gridCol w="4328285">
                  <a:extLst>
                    <a:ext uri="{9D8B030D-6E8A-4147-A177-3AD203B41FA5}">
                      <a16:colId xmlns:a16="http://schemas.microsoft.com/office/drawing/2014/main" val="4223032881"/>
                    </a:ext>
                  </a:extLst>
                </a:gridCol>
              </a:tblGrid>
              <a:tr h="370840">
                <a:tc>
                  <a:txBody>
                    <a:bodyPr/>
                    <a:lstStyle/>
                    <a:p>
                      <a:r>
                        <a:rPr lang="en-GB" sz="1400" dirty="0">
                          <a:latin typeface="Times New Roman" panose="02020603050405020304" pitchFamily="18" charset="0"/>
                          <a:cs typeface="Times New Roman" panose="02020603050405020304" pitchFamily="18" charset="0"/>
                        </a:rPr>
                        <a:t>#</a:t>
                      </a:r>
                    </a:p>
                  </a:txBody>
                  <a:tcPr marL="45720" marR="4572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D0F5A"/>
                    </a:solidFill>
                  </a:tcPr>
                </a:tc>
                <a:tc>
                  <a:txBody>
                    <a:bodyPr/>
                    <a:lstStyle/>
                    <a:p>
                      <a:r>
                        <a:rPr lang="en-GB" sz="1400" dirty="0">
                          <a:latin typeface="Times New Roman" panose="02020603050405020304" pitchFamily="18" charset="0"/>
                          <a:cs typeface="Times New Roman" panose="02020603050405020304" pitchFamily="18" charset="0"/>
                        </a:rPr>
                        <a:t>Question</a:t>
                      </a:r>
                    </a:p>
                  </a:txBody>
                  <a:tcPr marL="45720" marR="4572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D0F5A"/>
                    </a:solidFill>
                  </a:tcPr>
                </a:tc>
                <a:tc>
                  <a:txBody>
                    <a:bodyPr/>
                    <a:lstStyle/>
                    <a:p>
                      <a:r>
                        <a:rPr lang="en-GB" sz="1400" dirty="0">
                          <a:solidFill>
                            <a:schemeClr val="bg1"/>
                          </a:solidFill>
                          <a:latin typeface="Times New Roman" panose="02020603050405020304" pitchFamily="18" charset="0"/>
                          <a:cs typeface="Times New Roman" panose="02020603050405020304" pitchFamily="18" charset="0"/>
                        </a:rPr>
                        <a:t>Yes / No / Not Applicable</a:t>
                      </a:r>
                    </a:p>
                  </a:txBody>
                  <a:tcPr marL="45720" marR="4572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D0F5A"/>
                    </a:solidFill>
                  </a:tcPr>
                </a:tc>
                <a:tc>
                  <a:txBody>
                    <a:bodyPr/>
                    <a:lstStyle/>
                    <a:p>
                      <a:r>
                        <a:rPr lang="en-GB" sz="1400" i="0" dirty="0">
                          <a:solidFill>
                            <a:schemeClr val="bg1"/>
                          </a:solidFill>
                          <a:latin typeface="Times New Roman" panose="02020603050405020304" pitchFamily="18" charset="0"/>
                          <a:cs typeface="Times New Roman" panose="02020603050405020304" pitchFamily="18" charset="0"/>
                        </a:rPr>
                        <a:t>Artefact</a:t>
                      </a:r>
                    </a:p>
                  </a:txBody>
                  <a:tcPr marL="45720" marR="45720">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D0F5A"/>
                    </a:solidFill>
                  </a:tcPr>
                </a:tc>
                <a:extLst>
                  <a:ext uri="{0D108BD9-81ED-4DB2-BD59-A6C34878D82A}">
                    <a16:rowId xmlns:a16="http://schemas.microsoft.com/office/drawing/2014/main" val="3239964996"/>
                  </a:ext>
                </a:extLst>
              </a:tr>
              <a:tr h="370840">
                <a:tc>
                  <a:txBody>
                    <a:bodyPr/>
                    <a:lstStyle/>
                    <a:p>
                      <a:r>
                        <a:rPr lang="en-GB" sz="1400" dirty="0">
                          <a:latin typeface="Times New Roman" panose="02020603050405020304" pitchFamily="18" charset="0"/>
                          <a:cs typeface="Times New Roman" panose="02020603050405020304" pitchFamily="18" charset="0"/>
                        </a:rPr>
                        <a:t>1</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mj-lt"/>
                        <a:buNone/>
                      </a:pPr>
                      <a:r>
                        <a:rPr lang="en-GB" sz="1400" b="1" dirty="0">
                          <a:latin typeface="Times New Roman" panose="02020603050405020304" pitchFamily="18" charset="0"/>
                          <a:cs typeface="Times New Roman" panose="02020603050405020304" pitchFamily="18" charset="0"/>
                        </a:rPr>
                        <a:t>Are the metadata clearly defined and documented? </a:t>
                      </a:r>
                    </a:p>
                    <a:p>
                      <a:r>
                        <a:rPr lang="en-GB" sz="1400" i="1" dirty="0">
                          <a:solidFill>
                            <a:schemeClr val="tx1"/>
                          </a:solidFill>
                          <a:latin typeface="Times New Roman" panose="02020603050405020304" pitchFamily="18" charset="0"/>
                          <a:cs typeface="Times New Roman" panose="02020603050405020304" pitchFamily="18" charset="0"/>
                        </a:rPr>
                        <a:t>* Please refer to </a:t>
                      </a:r>
                      <a:r>
                        <a:rPr lang="en-GB" sz="1400" i="1" dirty="0">
                          <a:solidFill>
                            <a:schemeClr val="tx1"/>
                          </a:solidFill>
                          <a:latin typeface="Times New Roman" panose="02020603050405020304" pitchFamily="18" charset="0"/>
                          <a:cs typeface="Times New Roman" panose="02020603050405020304" pitchFamily="18" charset="0"/>
                          <a:hlinkClick r:id="rId2"/>
                        </a:rPr>
                        <a:t>SOP 10 Metadata Management</a:t>
                      </a:r>
                      <a:endParaRPr lang="en-GB" sz="1400" i="1" dirty="0">
                        <a:latin typeface="Times New Roman" panose="02020603050405020304" pitchFamily="18" charset="0"/>
                        <a:cs typeface="Times New Roman" panose="02020603050405020304" pitchFamily="18" charset="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400" dirty="0">
                          <a:latin typeface="Times New Roman"/>
                          <a:cs typeface="Times New Roman"/>
                        </a:rPr>
                        <a:t>Yes</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i="0" dirty="0">
                          <a:latin typeface="Times New Roman" panose="02020603050405020304" pitchFamily="18" charset="0"/>
                          <a:cs typeface="Times New Roman" panose="02020603050405020304" pitchFamily="18" charset="0"/>
                        </a:rPr>
                        <a:t>Please</a:t>
                      </a:r>
                      <a:r>
                        <a:rPr lang="en-GB" sz="1400" i="0" baseline="0" dirty="0">
                          <a:latin typeface="Times New Roman" panose="02020603050405020304" pitchFamily="18" charset="0"/>
                          <a:cs typeface="Times New Roman" panose="02020603050405020304" pitchFamily="18" charset="0"/>
                        </a:rPr>
                        <a:t> fill in </a:t>
                      </a:r>
                      <a:r>
                        <a:rPr lang="en-GB" sz="1400" dirty="0">
                          <a:latin typeface="Times New Roman" panose="02020603050405020304" pitchFamily="18" charset="0"/>
                          <a:cs typeface="Times New Roman" panose="02020603050405020304" pitchFamily="18" charset="0"/>
                          <a:hlinkClick r:id="rId3"/>
                        </a:rPr>
                        <a:t>Metadata Template</a:t>
                      </a:r>
                      <a:r>
                        <a:rPr lang="en-GB" sz="1400" dirty="0">
                          <a:latin typeface="Times New Roman" panose="02020603050405020304" pitchFamily="18" charset="0"/>
                          <a:cs typeface="Times New Roman" panose="02020603050405020304" pitchFamily="18" charset="0"/>
                        </a:rPr>
                        <a:t> </a:t>
                      </a:r>
                      <a:r>
                        <a:rPr lang="en-GB" sz="1400" i="1" dirty="0">
                          <a:latin typeface="Times New Roman" panose="02020603050405020304" pitchFamily="18" charset="0"/>
                          <a:cs typeface="Times New Roman" panose="02020603050405020304" pitchFamily="18" charset="0"/>
                        </a:rPr>
                        <a:t>(*</a:t>
                      </a:r>
                      <a:r>
                        <a:rPr lang="en-GB" sz="1400" i="1" baseline="0" dirty="0">
                          <a:latin typeface="Times New Roman" panose="02020603050405020304" pitchFamily="18" charset="0"/>
                          <a:cs typeface="Times New Roman" panose="02020603050405020304" pitchFamily="18" charset="0"/>
                        </a:rPr>
                        <a:t>Sheet C)</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000" i="1" baseline="0" dirty="0">
                          <a:latin typeface="Times New Roman" panose="02020603050405020304" pitchFamily="18" charset="0"/>
                          <a:cs typeface="Times New Roman" panose="02020603050405020304" pitchFamily="18" charset="0"/>
                        </a:rPr>
                        <a:t>You may supplement </a:t>
                      </a:r>
                      <a:r>
                        <a:rPr lang="en-GB" sz="1100" i="1" baseline="0" dirty="0">
                          <a:latin typeface="Times New Roman" panose="02020603050405020304" pitchFamily="18" charset="0"/>
                          <a:cs typeface="Times New Roman" panose="02020603050405020304" pitchFamily="18" charset="0"/>
                        </a:rPr>
                        <a:t>artefact, e.g., data dictionary, if any</a:t>
                      </a:r>
                      <a:endParaRPr lang="en-GB" sz="1100" i="1" dirty="0">
                        <a:latin typeface="Times New Roman" panose="02020603050405020304" pitchFamily="18" charset="0"/>
                        <a:cs typeface="Times New Roman" panose="02020603050405020304" pitchFamily="18" charset="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83876419"/>
                  </a:ext>
                </a:extLst>
              </a:tr>
            </a:tbl>
          </a:graphicData>
        </a:graphic>
      </p:graphicFrame>
      <p:sp>
        <p:nvSpPr>
          <p:cNvPr id="2" name="Title 1"/>
          <p:cNvSpPr>
            <a:spLocks noGrp="1"/>
          </p:cNvSpPr>
          <p:nvPr>
            <p:ph type="title"/>
          </p:nvPr>
        </p:nvSpPr>
        <p:spPr/>
        <p:txBody>
          <a:bodyPr/>
          <a:lstStyle/>
          <a:p>
            <a:r>
              <a:rPr lang="en-GB" dirty="0">
                <a:latin typeface="Times New Roman" panose="02020603050405020304" pitchFamily="18" charset="0"/>
                <a:cs typeface="Times New Roman" panose="02020603050405020304" pitchFamily="18" charset="0"/>
              </a:rPr>
              <a:t>F. Metadata Management</a:t>
            </a:r>
          </a:p>
        </p:txBody>
      </p:sp>
      <p:sp>
        <p:nvSpPr>
          <p:cNvPr id="5" name="Rounded Rectangular Callout 4"/>
          <p:cNvSpPr/>
          <p:nvPr/>
        </p:nvSpPr>
        <p:spPr>
          <a:xfrm>
            <a:off x="12382705" y="1274965"/>
            <a:ext cx="1892710" cy="3814340"/>
          </a:xfrm>
          <a:prstGeom prst="wedgeRoundRectCallout">
            <a:avLst>
              <a:gd name="adj1" fmla="val -56995"/>
              <a:gd name="adj2" fmla="val -26500"/>
              <a:gd name="adj3" fmla="val 16667"/>
            </a:avLst>
          </a:prstGeom>
          <a:solidFill>
            <a:schemeClr val="tx2">
              <a:lumMod val="20000"/>
              <a:lumOff val="80000"/>
            </a:schemeClr>
          </a:solidFill>
          <a:ln>
            <a:solidFill>
              <a:srgbClr val="4D0F5A"/>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GB" sz="1000" b="1" u="sng" dirty="0">
                <a:solidFill>
                  <a:schemeClr val="tx1"/>
                </a:solidFill>
                <a:latin typeface="Times New Roman" panose="02020603050405020304" pitchFamily="18" charset="0"/>
                <a:cs typeface="Times New Roman" panose="02020603050405020304" pitchFamily="18" charset="0"/>
              </a:rPr>
              <a:t>Instruction</a:t>
            </a:r>
          </a:p>
          <a:p>
            <a:endParaRPr lang="en-GB" sz="1000" dirty="0">
              <a:solidFill>
                <a:schemeClr val="tx1"/>
              </a:solidFill>
              <a:latin typeface="Times New Roman" panose="02020603050405020304" pitchFamily="18" charset="0"/>
              <a:cs typeface="Times New Roman" panose="02020603050405020304" pitchFamily="18" charset="0"/>
            </a:endParaRPr>
          </a:p>
          <a:p>
            <a:r>
              <a:rPr lang="en-GB" sz="1000" dirty="0">
                <a:solidFill>
                  <a:schemeClr val="tx1"/>
                </a:solidFill>
                <a:latin typeface="Times New Roman" panose="02020603050405020304" pitchFamily="18" charset="0"/>
                <a:cs typeface="Times New Roman" panose="02020603050405020304" pitchFamily="18" charset="0"/>
              </a:rPr>
              <a:t>Data in the HKMA must be defined and have clear Data Definitions across all teams/departments.</a:t>
            </a:r>
            <a:endParaRPr lang="en-GB" dirty="0"/>
          </a:p>
          <a:p>
            <a:endParaRPr lang="en-GB" sz="1000" dirty="0">
              <a:solidFill>
                <a:schemeClr val="tx1"/>
              </a:solidFill>
              <a:latin typeface="Times New Roman" panose="02020603050405020304" pitchFamily="18" charset="0"/>
              <a:cs typeface="Times New Roman" panose="02020603050405020304" pitchFamily="18" charset="0"/>
            </a:endParaRPr>
          </a:p>
          <a:p>
            <a:r>
              <a:rPr lang="en-GB" sz="1000" dirty="0">
                <a:solidFill>
                  <a:schemeClr val="tx1"/>
                </a:solidFill>
                <a:latin typeface="Times New Roman" panose="02020603050405020304" pitchFamily="18" charset="0"/>
                <a:cs typeface="Times New Roman" panose="02020603050405020304" pitchFamily="18" charset="0"/>
              </a:rPr>
              <a:t>Business metadata are required on top of technical metadata</a:t>
            </a:r>
            <a:endParaRPr lang="en-GB" dirty="0"/>
          </a:p>
          <a:p>
            <a:endParaRPr lang="en-GB" sz="1000" dirty="0">
              <a:solidFill>
                <a:schemeClr val="tx1"/>
              </a:solidFill>
              <a:latin typeface="Times New Roman" panose="02020603050405020304" pitchFamily="18" charset="0"/>
              <a:cs typeface="Times New Roman" panose="02020603050405020304" pitchFamily="18" charset="0"/>
            </a:endParaRPr>
          </a:p>
          <a:p>
            <a:r>
              <a:rPr lang="en-GB" sz="1000" dirty="0">
                <a:solidFill>
                  <a:schemeClr val="tx1"/>
                </a:solidFill>
                <a:latin typeface="Times New Roman" panose="02020603050405020304" pitchFamily="18" charset="0"/>
                <a:cs typeface="Times New Roman" panose="02020603050405020304" pitchFamily="18" charset="0"/>
              </a:rPr>
              <a:t>Mandatory business metadata:</a:t>
            </a:r>
          </a:p>
          <a:p>
            <a:pPr marL="171450" indent="-171450">
              <a:buFont typeface="Arial" panose="020B0604020202020204" pitchFamily="34" charset="0"/>
              <a:buChar char="•"/>
            </a:pPr>
            <a:r>
              <a:rPr lang="en-GB" sz="1000" dirty="0">
                <a:solidFill>
                  <a:schemeClr val="tx1"/>
                </a:solidFill>
                <a:latin typeface="Times New Roman" panose="02020603050405020304" pitchFamily="18" charset="0"/>
                <a:cs typeface="Times New Roman" panose="02020603050405020304" pitchFamily="18" charset="0"/>
              </a:rPr>
              <a:t>Business Definition</a:t>
            </a:r>
          </a:p>
          <a:p>
            <a:pPr marL="171450" indent="-171450">
              <a:buFont typeface="Arial" panose="020B0604020202020204" pitchFamily="34" charset="0"/>
              <a:buChar char="•"/>
            </a:pPr>
            <a:r>
              <a:rPr lang="en-GB" sz="1000" dirty="0">
                <a:solidFill>
                  <a:schemeClr val="tx1"/>
                </a:solidFill>
                <a:latin typeface="Times New Roman" panose="02020603050405020304" pitchFamily="18" charset="0"/>
                <a:cs typeface="Times New Roman" panose="02020603050405020304" pitchFamily="18" charset="0"/>
              </a:rPr>
              <a:t>Data Owner </a:t>
            </a:r>
          </a:p>
          <a:p>
            <a:pPr marL="171450" indent="-171450">
              <a:buFont typeface="Arial" panose="020B0604020202020204" pitchFamily="34" charset="0"/>
              <a:buChar char="•"/>
            </a:pPr>
            <a:r>
              <a:rPr lang="en-GB" sz="1000" dirty="0">
                <a:solidFill>
                  <a:schemeClr val="tx1"/>
                </a:solidFill>
                <a:latin typeface="Times New Roman" panose="02020603050405020304" pitchFamily="18" charset="0"/>
                <a:cs typeface="Times New Roman" panose="02020603050405020304" pitchFamily="18" charset="0"/>
              </a:rPr>
              <a:t>Data Source</a:t>
            </a:r>
          </a:p>
          <a:p>
            <a:pPr marL="171450" indent="-171450">
              <a:buFont typeface="Arial" panose="020B0604020202020204" pitchFamily="34" charset="0"/>
              <a:buChar char="•"/>
            </a:pPr>
            <a:r>
              <a:rPr lang="en-GB" sz="1000" dirty="0">
                <a:solidFill>
                  <a:schemeClr val="tx1"/>
                </a:solidFill>
                <a:latin typeface="Times New Roman" panose="02020603050405020304" pitchFamily="18" charset="0"/>
                <a:cs typeface="Times New Roman" panose="02020603050405020304" pitchFamily="18" charset="0"/>
              </a:rPr>
              <a:t>Information Classification </a:t>
            </a:r>
          </a:p>
          <a:p>
            <a:pPr marL="171450" indent="-171450">
              <a:buFont typeface="Arial" panose="020B0604020202020204" pitchFamily="34" charset="0"/>
              <a:buChar char="•"/>
            </a:pPr>
            <a:r>
              <a:rPr lang="en-GB" sz="1000" dirty="0">
                <a:solidFill>
                  <a:schemeClr val="tx1"/>
                </a:solidFill>
                <a:latin typeface="Times New Roman" panose="02020603050405020304" pitchFamily="18" charset="0"/>
                <a:cs typeface="Times New Roman" panose="02020603050405020304" pitchFamily="18" charset="0"/>
              </a:rPr>
              <a:t>Is Personal Data?</a:t>
            </a:r>
            <a:endParaRPr lang="en-GB" sz="1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841768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G. Data Lineage</a:t>
            </a:r>
          </a:p>
        </p:txBody>
      </p:sp>
      <p:graphicFrame>
        <p:nvGraphicFramePr>
          <p:cNvPr id="5" name="Table 4"/>
          <p:cNvGraphicFramePr>
            <a:graphicFrameLocks noGrp="1"/>
          </p:cNvGraphicFramePr>
          <p:nvPr>
            <p:extLst>
              <p:ext uri="{D42A27DB-BD31-4B8C-83A1-F6EECF244321}">
                <p14:modId xmlns:p14="http://schemas.microsoft.com/office/powerpoint/2010/main" val="4027322541"/>
              </p:ext>
            </p:extLst>
          </p:nvPr>
        </p:nvGraphicFramePr>
        <p:xfrm>
          <a:off x="638851" y="1446035"/>
          <a:ext cx="11095950" cy="4860496"/>
        </p:xfrm>
        <a:graphic>
          <a:graphicData uri="http://schemas.openxmlformats.org/drawingml/2006/table">
            <a:tbl>
              <a:tblPr firstRow="1">
                <a:tableStyleId>{5C22544A-7EE6-4342-B048-85BDC9FD1C3A}</a:tableStyleId>
              </a:tblPr>
              <a:tblGrid>
                <a:gridCol w="361809">
                  <a:extLst>
                    <a:ext uri="{9D8B030D-6E8A-4147-A177-3AD203B41FA5}">
                      <a16:colId xmlns:a16="http://schemas.microsoft.com/office/drawing/2014/main" val="215512194"/>
                    </a:ext>
                  </a:extLst>
                </a:gridCol>
                <a:gridCol w="4092040">
                  <a:extLst>
                    <a:ext uri="{9D8B030D-6E8A-4147-A177-3AD203B41FA5}">
                      <a16:colId xmlns:a16="http://schemas.microsoft.com/office/drawing/2014/main" val="3513719145"/>
                    </a:ext>
                  </a:extLst>
                </a:gridCol>
                <a:gridCol w="6642101">
                  <a:extLst>
                    <a:ext uri="{9D8B030D-6E8A-4147-A177-3AD203B41FA5}">
                      <a16:colId xmlns:a16="http://schemas.microsoft.com/office/drawing/2014/main" val="2541505360"/>
                    </a:ext>
                  </a:extLst>
                </a:gridCol>
              </a:tblGrid>
              <a:tr h="336827">
                <a:tc>
                  <a:txBody>
                    <a:bodyPr/>
                    <a:lstStyle/>
                    <a:p>
                      <a:r>
                        <a:rPr lang="en-GB" sz="1400" dirty="0">
                          <a:latin typeface="Times New Roman" panose="02020603050405020304" pitchFamily="18" charset="0"/>
                          <a:cs typeface="Times New Roman" panose="02020603050405020304" pitchFamily="18" charset="0"/>
                        </a:rPr>
                        <a:t>#</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D0F5A"/>
                    </a:solidFill>
                  </a:tcPr>
                </a:tc>
                <a:tc>
                  <a:txBody>
                    <a:bodyPr/>
                    <a:lstStyle/>
                    <a:p>
                      <a:r>
                        <a:rPr lang="en-GB" sz="1400" dirty="0">
                          <a:latin typeface="Times New Roman" panose="02020603050405020304" pitchFamily="18" charset="0"/>
                          <a:cs typeface="Times New Roman" panose="02020603050405020304" pitchFamily="18" charset="0"/>
                        </a:rPr>
                        <a:t>Question</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D0F5A"/>
                    </a:solidFill>
                  </a:tcPr>
                </a:tc>
                <a:tc>
                  <a:txBody>
                    <a:bodyPr/>
                    <a:lstStyle/>
                    <a:p>
                      <a:r>
                        <a:rPr lang="en-GB" sz="1400" dirty="0">
                          <a:solidFill>
                            <a:schemeClr val="bg1"/>
                          </a:solidFill>
                          <a:latin typeface="Times New Roman" panose="02020603050405020304" pitchFamily="18" charset="0"/>
                          <a:cs typeface="Times New Roman" panose="02020603050405020304" pitchFamily="18" charset="0"/>
                        </a:rPr>
                        <a:t>Answer</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D0F5A"/>
                    </a:solidFill>
                  </a:tcPr>
                </a:tc>
                <a:extLst>
                  <a:ext uri="{0D108BD9-81ED-4DB2-BD59-A6C34878D82A}">
                    <a16:rowId xmlns:a16="http://schemas.microsoft.com/office/drawing/2014/main" val="3239964996"/>
                  </a:ext>
                </a:extLst>
              </a:tr>
              <a:tr h="508043">
                <a:tc>
                  <a:txBody>
                    <a:bodyPr/>
                    <a:lstStyle/>
                    <a:p>
                      <a:r>
                        <a:rPr lang="en-GB" sz="1400" dirty="0">
                          <a:latin typeface="Times New Roman" panose="02020603050405020304" pitchFamily="18" charset="0"/>
                          <a:cs typeface="Times New Roman" panose="02020603050405020304" pitchFamily="18" charset="0"/>
                        </a:rPr>
                        <a:t>1</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b="1" dirty="0">
                          <a:latin typeface="Times New Roman" panose="02020603050405020304" pitchFamily="18" charset="0"/>
                          <a:cs typeface="Times New Roman" panose="02020603050405020304" pitchFamily="18" charset="0"/>
                        </a:rPr>
                        <a:t>Are the data being/ going to be published internally or externally? </a:t>
                      </a:r>
                      <a:r>
                        <a:rPr lang="en-GB" sz="1400" b="0" i="1" dirty="0">
                          <a:latin typeface="Times New Roman" panose="02020603050405020304" pitchFamily="18" charset="0"/>
                          <a:cs typeface="Times New Roman" panose="02020603050405020304" pitchFamily="18" charset="0"/>
                        </a:rPr>
                        <a:t>Please provide</a:t>
                      </a:r>
                      <a:r>
                        <a:rPr lang="en-GB" sz="1400" b="0" i="1" baseline="0" dirty="0">
                          <a:latin typeface="Times New Roman" panose="02020603050405020304" pitchFamily="18" charset="0"/>
                          <a:cs typeface="Times New Roman" panose="02020603050405020304" pitchFamily="18" charset="0"/>
                        </a:rPr>
                        <a:t> details</a:t>
                      </a:r>
                      <a:endParaRPr lang="en-GB" sz="1400" b="0" i="1" dirty="0">
                        <a:latin typeface="Times New Roman" panose="02020603050405020304" pitchFamily="18" charset="0"/>
                        <a:cs typeface="Times New Roman" panose="02020603050405020304" pitchFamily="18" charset="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400" dirty="0">
                          <a:latin typeface="Times New Roman"/>
                          <a:cs typeface="Times New Roman"/>
                        </a:rPr>
                        <a:t>No</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83876419"/>
                  </a:ext>
                </a:extLst>
              </a:tr>
              <a:tr h="1135627">
                <a:tc>
                  <a:txBody>
                    <a:bodyPr/>
                    <a:lstStyle/>
                    <a:p>
                      <a:r>
                        <a:rPr lang="en-GB" sz="1400" dirty="0">
                          <a:latin typeface="Times New Roman" panose="02020603050405020304" pitchFamily="18" charset="0"/>
                          <a:cs typeface="Times New Roman" panose="02020603050405020304" pitchFamily="18" charset="0"/>
                        </a:rPr>
                        <a:t>2</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b="1" dirty="0">
                          <a:latin typeface="Times New Roman" panose="02020603050405020304" pitchFamily="18" charset="0"/>
                          <a:cs typeface="Times New Roman" panose="02020603050405020304" pitchFamily="18" charset="0"/>
                        </a:rPr>
                        <a:t>Please specify data lineage of which part of the data flow is captured and documented, manually or captured by tools.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400" i="1" dirty="0">
                          <a:latin typeface="Times New Roman" panose="02020603050405020304" pitchFamily="18" charset="0"/>
                          <a:cs typeface="Times New Roman" panose="02020603050405020304" pitchFamily="18" charset="0"/>
                        </a:rPr>
                        <a:t>If data lineage of any part of the data flow is missing, please justify. </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400" dirty="0">
                          <a:latin typeface="Times New Roman"/>
                          <a:cs typeface="Times New Roman"/>
                        </a:rPr>
                        <a:t>No, we only move the data outside our application to SARA. SARA does not store the content of the requests.</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91415294"/>
                  </a:ext>
                </a:extLst>
              </a:tr>
              <a:tr h="1186199">
                <a:tc>
                  <a:txBody>
                    <a:bodyPr/>
                    <a:lstStyle/>
                    <a:p>
                      <a:r>
                        <a:rPr lang="en-GB" sz="1400" dirty="0">
                          <a:latin typeface="Times New Roman" panose="02020603050405020304" pitchFamily="18" charset="0"/>
                          <a:cs typeface="Times New Roman" panose="02020603050405020304" pitchFamily="18" charset="0"/>
                        </a:rPr>
                        <a:t>3</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b="1" dirty="0">
                          <a:latin typeface="Times New Roman" panose="02020603050405020304" pitchFamily="18" charset="0"/>
                          <a:cs typeface="Times New Roman" panose="02020603050405020304" pitchFamily="18" charset="0"/>
                        </a:rPr>
                        <a:t>At what level the data lineage is captured and documented? </a:t>
                      </a:r>
                      <a:r>
                        <a:rPr lang="en-GB" sz="1400" dirty="0">
                          <a:latin typeface="Times New Roman" panose="02020603050405020304" pitchFamily="18" charset="0"/>
                          <a:cs typeface="Times New Roman" panose="02020603050405020304" pitchFamily="18" charset="0"/>
                        </a:rPr>
                        <a:t>(Column-level, Table-level or Entity-level, etc.) </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400" dirty="0">
                          <a:latin typeface="Times New Roman"/>
                          <a:cs typeface="Times New Roman"/>
                        </a:rPr>
                        <a:t>N/A</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47496541"/>
                  </a:ext>
                </a:extLst>
              </a:tr>
              <a:tr h="830535">
                <a:tc>
                  <a:txBody>
                    <a:bodyPr/>
                    <a:lstStyle/>
                    <a:p>
                      <a:r>
                        <a:rPr lang="en-GB" sz="1400" dirty="0">
                          <a:latin typeface="Times New Roman" panose="02020603050405020304" pitchFamily="18" charset="0"/>
                          <a:cs typeface="Times New Roman" panose="02020603050405020304" pitchFamily="18" charset="0"/>
                        </a:rPr>
                        <a:t>4</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b="1" dirty="0">
                          <a:latin typeface="Times New Roman" panose="02020603050405020304" pitchFamily="18" charset="0"/>
                          <a:cs typeface="Times New Roman" panose="02020603050405020304" pitchFamily="18" charset="0"/>
                        </a:rPr>
                        <a:t>Please provide the data lineage by filling in below template</a:t>
                      </a:r>
                      <a:r>
                        <a:rPr lang="en-GB" sz="1400" dirty="0">
                          <a:latin typeface="Times New Roman" panose="02020603050405020304" pitchFamily="18" charset="0"/>
                          <a:cs typeface="Times New Roman" panose="02020603050405020304" pitchFamily="18" charset="0"/>
                        </a:rPr>
                        <a:t> </a:t>
                      </a:r>
                      <a:endParaRPr lang="en-GB" sz="1400" i="1"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400" i="1" dirty="0">
                          <a:latin typeface="Times New Roman" panose="02020603050405020304" pitchFamily="18" charset="0"/>
                          <a:cs typeface="Times New Roman" panose="02020603050405020304" pitchFamily="18" charset="0"/>
                        </a:rPr>
                        <a:t>* Minimum requirement is in Entity-level</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400" dirty="0">
                          <a:latin typeface="Times New Roman" panose="02020603050405020304" pitchFamily="18" charset="0"/>
                          <a:cs typeface="Times New Roman" panose="02020603050405020304" pitchFamily="18" charset="0"/>
                        </a:rPr>
                        <a:t>N/A</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75174536"/>
                  </a:ext>
                </a:extLst>
              </a:tr>
              <a:tr h="830535">
                <a:tc>
                  <a:txBody>
                    <a:bodyPr/>
                    <a:lstStyle/>
                    <a:p>
                      <a:r>
                        <a:rPr lang="en-GB" sz="1400" dirty="0">
                          <a:latin typeface="Times New Roman" panose="02020603050405020304" pitchFamily="18" charset="0"/>
                          <a:cs typeface="Times New Roman" panose="02020603050405020304" pitchFamily="18" charset="0"/>
                        </a:rPr>
                        <a:t>5</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b="1" dirty="0">
                          <a:latin typeface="Times New Roman" panose="02020603050405020304" pitchFamily="18" charset="0"/>
                          <a:cs typeface="Times New Roman" panose="02020603050405020304" pitchFamily="18" charset="0"/>
                        </a:rPr>
                        <a:t>Is the</a:t>
                      </a:r>
                      <a:r>
                        <a:rPr lang="en-GB" sz="1400" b="1" baseline="0" dirty="0">
                          <a:latin typeface="Times New Roman" panose="02020603050405020304" pitchFamily="18" charset="0"/>
                          <a:cs typeface="Times New Roman" panose="02020603050405020304" pitchFamily="18" charset="0"/>
                        </a:rPr>
                        <a:t> </a:t>
                      </a:r>
                      <a:r>
                        <a:rPr lang="en-GB" sz="1400" b="1" dirty="0">
                          <a:latin typeface="Times New Roman" panose="02020603050405020304" pitchFamily="18" charset="0"/>
                          <a:cs typeface="Times New Roman" panose="02020603050405020304" pitchFamily="18" charset="0"/>
                        </a:rPr>
                        <a:t>data lineage </a:t>
                      </a:r>
                      <a:r>
                        <a:rPr lang="en-GB" sz="1400" b="1" baseline="0" dirty="0">
                          <a:latin typeface="Times New Roman" panose="02020603050405020304" pitchFamily="18" charset="0"/>
                          <a:cs typeface="Times New Roman" panose="02020603050405020304" pitchFamily="18" charset="0"/>
                        </a:rPr>
                        <a:t>(as described above) </a:t>
                      </a:r>
                      <a:r>
                        <a:rPr lang="en-GB" sz="1400" b="1" dirty="0">
                          <a:latin typeface="Times New Roman" panose="02020603050405020304" pitchFamily="18" charset="0"/>
                          <a:cs typeface="Times New Roman" panose="02020603050405020304" pitchFamily="18" charset="0"/>
                        </a:rPr>
                        <a:t>sufficient to facilitate issue management and usage review? </a:t>
                      </a:r>
                      <a:r>
                        <a:rPr lang="en-GB" sz="1400" i="1" dirty="0">
                          <a:latin typeface="Times New Roman" panose="02020603050405020304" pitchFamily="18" charset="0"/>
                          <a:cs typeface="Times New Roman" panose="02020603050405020304" pitchFamily="18" charset="0"/>
                        </a:rPr>
                        <a:t>Please provide justification. </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400" dirty="0">
                          <a:latin typeface="Times New Roman"/>
                          <a:cs typeface="Times New Roman"/>
                        </a:rPr>
                        <a:t>Yes, since there is no data lineage.</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8375310"/>
                  </a:ext>
                </a:extLst>
              </a:tr>
            </a:tbl>
          </a:graphicData>
        </a:graphic>
      </p:graphicFrame>
      <p:graphicFrame>
        <p:nvGraphicFramePr>
          <p:cNvPr id="6" name="Object 5"/>
          <p:cNvGraphicFramePr>
            <a:graphicFrameLocks noChangeAspect="1"/>
          </p:cNvGraphicFramePr>
          <p:nvPr>
            <p:extLst>
              <p:ext uri="{D42A27DB-BD31-4B8C-83A1-F6EECF244321}">
                <p14:modId xmlns:p14="http://schemas.microsoft.com/office/powerpoint/2010/main" val="1562693712"/>
              </p:ext>
            </p:extLst>
          </p:nvPr>
        </p:nvGraphicFramePr>
        <p:xfrm>
          <a:off x="7928248" y="4773774"/>
          <a:ext cx="914400" cy="771525"/>
        </p:xfrm>
        <a:graphic>
          <a:graphicData uri="http://schemas.openxmlformats.org/presentationml/2006/ole">
            <mc:AlternateContent xmlns:mc="http://schemas.openxmlformats.org/markup-compatibility/2006">
              <mc:Choice xmlns:v="urn:schemas-microsoft-com:vml" Requires="v">
                <p:oleObj spid="_x0000_s20481" name="Worksheet" showAsIcon="1" r:id="rId3" imgW="914400" imgH="771480" progId="Excel.Sheet.8">
                  <p:embed/>
                </p:oleObj>
              </mc:Choice>
              <mc:Fallback>
                <p:oleObj name="Worksheet" showAsIcon="1" r:id="rId3" imgW="914400" imgH="771480" progId="Excel.Sheet.8">
                  <p:embed/>
                  <p:pic>
                    <p:nvPicPr>
                      <p:cNvPr id="6" name="Object 5"/>
                      <p:cNvPicPr/>
                      <p:nvPr/>
                    </p:nvPicPr>
                    <p:blipFill>
                      <a:blip r:embed="rId4"/>
                      <a:stretch>
                        <a:fillRect/>
                      </a:stretch>
                    </p:blipFill>
                    <p:spPr>
                      <a:xfrm>
                        <a:off x="7928248" y="4773774"/>
                        <a:ext cx="914400" cy="771525"/>
                      </a:xfrm>
                      <a:prstGeom prst="rect">
                        <a:avLst/>
                      </a:prstGeom>
                    </p:spPr>
                  </p:pic>
                </p:oleObj>
              </mc:Fallback>
            </mc:AlternateContent>
          </a:graphicData>
        </a:graphic>
      </p:graphicFrame>
      <p:sp>
        <p:nvSpPr>
          <p:cNvPr id="3" name="Rounded Rectangular Callout 4"/>
          <p:cNvSpPr/>
          <p:nvPr/>
        </p:nvSpPr>
        <p:spPr>
          <a:xfrm>
            <a:off x="12395405" y="1274965"/>
            <a:ext cx="1892710" cy="2957090"/>
          </a:xfrm>
          <a:prstGeom prst="wedgeRoundRectCallout">
            <a:avLst>
              <a:gd name="adj1" fmla="val -56995"/>
              <a:gd name="adj2" fmla="val -26500"/>
              <a:gd name="adj3" fmla="val 16667"/>
            </a:avLst>
          </a:prstGeom>
          <a:solidFill>
            <a:schemeClr val="tx2">
              <a:lumMod val="20000"/>
              <a:lumOff val="80000"/>
            </a:schemeClr>
          </a:solidFill>
          <a:ln>
            <a:solidFill>
              <a:srgbClr val="4D0F5A"/>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GB" sz="1000" b="1" u="sng" dirty="0">
                <a:solidFill>
                  <a:schemeClr val="tx1"/>
                </a:solidFill>
                <a:latin typeface="Times New Roman" panose="02020603050405020304" pitchFamily="18" charset="0"/>
                <a:cs typeface="Times New Roman" panose="02020603050405020304" pitchFamily="18" charset="0"/>
              </a:rPr>
              <a:t>Instruction</a:t>
            </a:r>
          </a:p>
          <a:p>
            <a:endParaRPr lang="en-GB" sz="1000" dirty="0">
              <a:solidFill>
                <a:schemeClr val="tx1"/>
              </a:solidFill>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GB" sz="1000" dirty="0">
                <a:solidFill>
                  <a:schemeClr val="tx1"/>
                </a:solidFill>
                <a:latin typeface="Times New Roman" panose="02020603050405020304" pitchFamily="18" charset="0"/>
                <a:cs typeface="Times New Roman" panose="02020603050405020304" pitchFamily="18" charset="0"/>
              </a:rPr>
              <a:t>Data published externally/internally should be governed and tracked through the entire data flow of all relevant IT applications, from data capture to final submission</a:t>
            </a:r>
          </a:p>
          <a:p>
            <a:pPr marL="171450" indent="-171450">
              <a:buFont typeface="Arial" panose="020B0604020202020204" pitchFamily="34" charset="0"/>
              <a:buChar char="•"/>
            </a:pPr>
            <a:endParaRPr lang="en-GB" sz="1000" dirty="0">
              <a:solidFill>
                <a:schemeClr val="tx1"/>
              </a:solidFill>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GB" sz="1000" dirty="0">
                <a:solidFill>
                  <a:srgbClr val="000000"/>
                </a:solidFill>
                <a:latin typeface="Times New Roman" panose="02020603050405020304" pitchFamily="18" charset="0"/>
                <a:cs typeface="Times New Roman" panose="02020603050405020304" pitchFamily="18" charset="0"/>
              </a:rPr>
              <a:t>Data lineage must be defined/obtained to facilitate issue management, data usage review and system development.</a:t>
            </a:r>
          </a:p>
        </p:txBody>
      </p:sp>
    </p:spTree>
    <p:extLst>
      <p:ext uri="{BB962C8B-B14F-4D97-AF65-F5344CB8AC3E}">
        <p14:creationId xmlns:p14="http://schemas.microsoft.com/office/powerpoint/2010/main" val="22348978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Times New Roman" panose="02020603050405020304" pitchFamily="18" charset="0"/>
                <a:cs typeface="Times New Roman" panose="02020603050405020304" pitchFamily="18" charset="0"/>
              </a:rPr>
              <a:t>Instructions</a:t>
            </a:r>
          </a:p>
        </p:txBody>
      </p:sp>
      <p:sp>
        <p:nvSpPr>
          <p:cNvPr id="3" name="Rectangle 2"/>
          <p:cNvSpPr/>
          <p:nvPr/>
        </p:nvSpPr>
        <p:spPr>
          <a:xfrm>
            <a:off x="749300" y="2690811"/>
            <a:ext cx="3827056" cy="5476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Times New Roman" panose="02020603050405020304" pitchFamily="18" charset="0"/>
                <a:cs typeface="Times New Roman" panose="02020603050405020304" pitchFamily="18" charset="0"/>
                <a:hlinkClick r:id="rId2"/>
              </a:rPr>
              <a:t>Instruction for DG Review process</a:t>
            </a:r>
            <a:endParaRPr lang="en-GB" b="1" dirty="0">
              <a:solidFill>
                <a:schemeClr val="tx1"/>
              </a:solidFill>
              <a:latin typeface="Times New Roman" panose="02020603050405020304" pitchFamily="18" charset="0"/>
              <a:cs typeface="Times New Roman" panose="02020603050405020304" pitchFamily="18" charset="0"/>
            </a:endParaRPr>
          </a:p>
        </p:txBody>
      </p:sp>
      <p:sp>
        <p:nvSpPr>
          <p:cNvPr id="4" name="Rectangle 1"/>
          <p:cNvSpPr>
            <a:spLocks noChangeArrowheads="1"/>
          </p:cNvSpPr>
          <p:nvPr/>
        </p:nvSpPr>
        <p:spPr bwMode="auto">
          <a:xfrm>
            <a:off x="2254250" y="4659727"/>
            <a:ext cx="8648700" cy="103105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333399"/>
                </a:solidFill>
                <a:effectLst/>
                <a:latin typeface="Times New Roman" panose="02020603050405020304" pitchFamily="18" charset="0"/>
                <a:ea typeface="-apple-system"/>
                <a:cs typeface="Times New Roman" panose="02020603050405020304" pitchFamily="18" charset="0"/>
              </a:rPr>
              <a:t>Should you have any inquiries on Data Governance related topics, please feel free to contact us</a:t>
            </a:r>
            <a:r>
              <a:rPr kumimoji="0" lang="en-US" altLang="en-US" sz="1400" b="0" i="0" u="none" strike="noStrike" cap="none" normalizeH="0" baseline="0" dirty="0">
                <a:ln>
                  <a:noFill/>
                </a:ln>
                <a:solidFill>
                  <a:srgbClr val="333399"/>
                </a:solidFill>
                <a:effectLst/>
                <a:latin typeface="Times New Roman" panose="02020603050405020304" pitchFamily="18" charset="0"/>
                <a:ea typeface="-apple-system"/>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000" dirty="0">
              <a:solidFill>
                <a:srgbClr val="333399"/>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7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172B4D"/>
                </a:solidFill>
                <a:effectLst/>
                <a:latin typeface="Times New Roman" panose="02020603050405020304" pitchFamily="18" charset="0"/>
                <a:ea typeface="-apple-system"/>
                <a:cs typeface="Times New Roman" panose="02020603050405020304" pitchFamily="18" charset="0"/>
              </a:rPr>
              <a:t>DO Data Governance Team</a:t>
            </a:r>
            <a:r>
              <a:rPr kumimoji="0" lang="en-US" altLang="en-US" sz="1000" b="0" i="0" u="none" strike="noStrike" cap="none" normalizeH="0" baseline="0" dirty="0">
                <a:ln>
                  <a:noFill/>
                </a:ln>
                <a:solidFill>
                  <a:srgbClr val="172B4D"/>
                </a:solidFill>
                <a:effectLst/>
                <a:latin typeface="Times New Roman" panose="02020603050405020304" pitchFamily="18" charset="0"/>
                <a:ea typeface="-apple-system"/>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0052CC"/>
                </a:solidFill>
                <a:effectLst/>
                <a:latin typeface="Times New Roman" panose="02020603050405020304" pitchFamily="18" charset="0"/>
                <a:ea typeface="-apple-system"/>
                <a:cs typeface="Times New Roman" panose="02020603050405020304" pitchFamily="18" charset="0"/>
                <a:hlinkClick r:id="rId3"/>
              </a:rPr>
              <a:t>dgt@hkma.gov.hk</a:t>
            </a:r>
            <a:r>
              <a:rPr kumimoji="0" lang="en-US" altLang="en-US" sz="1400" b="1" i="0" u="none" strike="noStrike" cap="none" normalizeH="0" baseline="0" dirty="0">
                <a:ln>
                  <a:noFill/>
                </a:ln>
                <a:solidFill>
                  <a:srgbClr val="172B4D"/>
                </a:solidFill>
                <a:effectLst/>
                <a:latin typeface="Times New Roman" panose="02020603050405020304" pitchFamily="18" charset="0"/>
                <a:ea typeface="-apple-system"/>
                <a:cs typeface="Times New Roman" panose="02020603050405020304" pitchFamily="18" charset="0"/>
              </a:rPr>
              <a:t> </a:t>
            </a:r>
            <a:endParaRPr kumimoji="0" lang="en-US" altLang="en-US" sz="1000" b="1" i="0" u="none" strike="noStrike" cap="none" normalizeH="0" baseline="0" dirty="0">
              <a:ln>
                <a:noFill/>
              </a:ln>
              <a:solidFill>
                <a:srgbClr val="172B4D"/>
              </a:solidFill>
              <a:effectLst/>
              <a:latin typeface="Times New Roman" panose="02020603050405020304" pitchFamily="18" charset="0"/>
              <a:ea typeface="-apple-system"/>
              <a:cs typeface="Times New Roman" panose="02020603050405020304" pitchFamily="18" charset="0"/>
            </a:endParaRPr>
          </a:p>
        </p:txBody>
      </p:sp>
      <p:sp>
        <p:nvSpPr>
          <p:cNvPr id="5" name="AutoShape 2" descr="(lightbulb)"/>
          <p:cNvSpPr>
            <a:spLocks noChangeAspect="1" noChangeArrowheads="1"/>
          </p:cNvSpPr>
          <p:nvPr/>
        </p:nvSpPr>
        <p:spPr bwMode="auto">
          <a:xfrm>
            <a:off x="749300" y="4103687"/>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latin typeface="Times New Roman" panose="02020603050405020304" pitchFamily="18" charset="0"/>
              <a:cs typeface="Times New Roman" panose="02020603050405020304" pitchFamily="18" charset="0"/>
            </a:endParaRPr>
          </a:p>
        </p:txBody>
      </p:sp>
      <p:pic>
        <p:nvPicPr>
          <p:cNvPr id="3075" name="Picture 3" descr="https://encrypted-tbn0.gstatic.com/images?q=tbn:ANd9GcROhOckmohmBOZBODIW8A2ZHUlAfIRgE1rsBw&amp;usqp=CAU"/>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9300" y="4392612"/>
            <a:ext cx="1428750" cy="14287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388937"/>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HKMA_Alumni_Cov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HKMA_Alumni_Master_Titl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BC44FBE92949FF498A292267649BA32F" ma:contentTypeVersion="2" ma:contentTypeDescription="Create a new document." ma:contentTypeScope="" ma:versionID="aae89019408edec735598889a18020f4">
  <xsd:schema xmlns:xsd="http://www.w3.org/2001/XMLSchema" xmlns:xs="http://www.w3.org/2001/XMLSchema" xmlns:p="http://schemas.microsoft.com/office/2006/metadata/properties" xmlns:ns2="5b6591ad-ea12-4171-9f8d-d3da4e6d0b71" targetNamespace="http://schemas.microsoft.com/office/2006/metadata/properties" ma:root="true" ma:fieldsID="ff9dfd69c85da2a004e24f7fef732fe4" ns2:_="">
    <xsd:import namespace="5b6591ad-ea12-4171-9f8d-d3da4e6d0b71"/>
    <xsd:element name="properties">
      <xsd:complexType>
        <xsd:sequence>
          <xsd:element name="documentManagement">
            <xsd:complexType>
              <xsd:all>
                <xsd:element ref="ns2:SharedWithUsers" minOccurs="0"/>
                <xsd:element ref="ns2: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b6591ad-ea12-4171-9f8d-d3da4e6d0b71"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0900BE7-4EBA-4DB0-BC31-8CBF9DB05FD6}">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EB51F9CC-B662-4CE1-9431-C3C71DCC271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b6591ad-ea12-4171-9f8d-d3da4e6d0b7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E048947-326F-4E1B-867E-DC875D44E60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HKMA template</Template>
  <TotalTime>13912</TotalTime>
  <Words>1499</Words>
  <Application>Microsoft Office PowerPoint</Application>
  <PresentationFormat>Widescreen</PresentationFormat>
  <Paragraphs>245</Paragraphs>
  <Slides>13</Slides>
  <Notes>2</Notes>
  <HiddenSlides>0</HiddenSlides>
  <MMClips>0</MMClips>
  <ScaleCrop>false</ScaleCrop>
  <HeadingPairs>
    <vt:vector size="4" baseType="variant">
      <vt:variant>
        <vt:lpstr>Theme</vt:lpstr>
      </vt:variant>
      <vt:variant>
        <vt:i4>3</vt:i4>
      </vt:variant>
      <vt:variant>
        <vt:lpstr>Slide Titles</vt:lpstr>
      </vt:variant>
      <vt:variant>
        <vt:i4>13</vt:i4>
      </vt:variant>
    </vt:vector>
  </HeadingPairs>
  <TitlesOfParts>
    <vt:vector size="16" baseType="lpstr">
      <vt:lpstr>Custom Design</vt:lpstr>
      <vt:lpstr>HKMA_Alumni_Cover</vt:lpstr>
      <vt:lpstr>1_HKMA_Alumni_Master_Title</vt:lpstr>
      <vt:lpstr>Data Governance Review for [Spark – Team Mailbox Assistant] [9 Jan 2026]</vt:lpstr>
      <vt:lpstr>Table of Contents</vt:lpstr>
      <vt:lpstr>A. Project Background &amp; Overview</vt:lpstr>
      <vt:lpstr>A. Project Background &amp; Overview</vt:lpstr>
      <vt:lpstr>(Continued)</vt:lpstr>
      <vt:lpstr>Application Architecture</vt:lpstr>
      <vt:lpstr>B. Roles &amp; Responsibilities</vt:lpstr>
      <vt:lpstr>C. Types of Data &amp; Information Classification</vt:lpstr>
      <vt:lpstr>D. Data Access</vt:lpstr>
      <vt:lpstr>E. Data Usage</vt:lpstr>
      <vt:lpstr>F. Metadata Management</vt:lpstr>
      <vt:lpstr>G. Data Lineage</vt:lpstr>
      <vt:lpstr>Instructions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LEUNG Yee-hang, Ian</dc:creator>
  <cp:lastModifiedBy>ALI Syed-ayan, Ayan</cp:lastModifiedBy>
  <cp:revision>1310</cp:revision>
  <dcterms:created xsi:type="dcterms:W3CDTF">2021-08-16T03:09:55Z</dcterms:created>
  <dcterms:modified xsi:type="dcterms:W3CDTF">2026-01-14T08:16:43Z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0x010100BC44FBE92949FF498A292267649BA32F</vt:lpwstr>
  </property>
</Properties>
</file>