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84" r:id="rId5"/>
    <p:sldId id="290" r:id="rId6"/>
    <p:sldId id="299" r:id="rId7"/>
    <p:sldId id="303" r:id="rId8"/>
    <p:sldId id="265" r:id="rId9"/>
    <p:sldId id="293" r:id="rId10"/>
    <p:sldId id="294" r:id="rId11"/>
    <p:sldId id="29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1C1B1E-CDEA-BA3E-E738-E0F129703877}" name="OADOMAIN01\bems2_dev" initials="O" userId="OADOMAIN01\bems2_dev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 Wing-suet, Rosy" initials="CWR" lastIdx="3" clrIdx="0">
    <p:extLst>
      <p:ext uri="{19B8F6BF-5375-455C-9EA6-DF929625EA0E}">
        <p15:presenceInfo xmlns:p15="http://schemas.microsoft.com/office/powerpoint/2012/main" userId="S-1-5-21-55129486-1200372844-1231754661-756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EF6"/>
    <a:srgbClr val="E9DCEE"/>
    <a:srgbClr val="FFFFFF"/>
    <a:srgbClr val="E9DCE6"/>
    <a:srgbClr val="481F67"/>
    <a:srgbClr val="990033"/>
    <a:srgbClr val="111B0B"/>
    <a:srgbClr val="F3CFCF"/>
    <a:srgbClr val="3C1A56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23" autoAdjust="0"/>
    <p:restoredTop sz="96265" autoAdjust="0"/>
  </p:normalViewPr>
  <p:slideViewPr>
    <p:cSldViewPr snapToGrid="0">
      <p:cViewPr varScale="1">
        <p:scale>
          <a:sx n="95" d="100"/>
          <a:sy n="95" d="100"/>
        </p:scale>
        <p:origin x="9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1E83E-11D8-4D34-8662-563946D4199B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B95DF-DE24-4A0C-AFA8-0681F8E6A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963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F4B8A2-5BF1-4017-8D77-B6436F07A4A7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0535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4A08B-AD02-4DC7-9F43-8F1569C13BB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839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4A08B-AD02-4DC7-9F43-8F1569C13BB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31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4A08B-AD02-4DC7-9F43-8F1569C13BB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06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489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64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43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1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27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518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296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10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550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15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3A78-9AE4-4ACD-AAC7-C914B51454A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96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B3A78-9AE4-4ACD-AAC7-C914B51454A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026E6-970A-4577-A2C7-C26F74D342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34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1935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7796"/>
            <a:ext cx="3012140" cy="5446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78106"/>
            <a:ext cx="12192000" cy="217615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0" y="4096753"/>
            <a:ext cx="12192000" cy="1881353"/>
          </a:xfrm>
          <a:prstGeom prst="rect">
            <a:avLst/>
          </a:prstGeom>
          <a:solidFill>
            <a:srgbClr val="FFFFFF">
              <a:alpha val="7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72760" y="4230269"/>
            <a:ext cx="11723989" cy="1669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900" b="1" kern="0" dirty="0">
                <a:solidFill>
                  <a:srgbClr val="6732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Hong Kong Monetary Authority</a:t>
            </a:r>
          </a:p>
          <a:p>
            <a:endParaRPr lang="en-GB" sz="1900" b="1" kern="0" dirty="0">
              <a:solidFill>
                <a:srgbClr val="6732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>
              <a:lnSpc>
                <a:spcPct val="150000"/>
              </a:lnSpc>
            </a:pPr>
            <a:r>
              <a:rPr lang="en-GB" sz="3000" b="1" kern="0" dirty="0">
                <a:solidFill>
                  <a:srgbClr val="6732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Team SPARK - Team Mailbox Assistant – Sprint 3</a:t>
            </a:r>
            <a:endParaRPr lang="en-GB" sz="3000" b="1" kern="0" dirty="0">
              <a:solidFill>
                <a:srgbClr val="673280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6732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20500000000000000" charset="0"/>
                <a:cs typeface="Arial" panose="020B0604020202020204" pitchFamily="34" charset="0"/>
              </a:rPr>
              <a:t>SPARK Team  </a:t>
            </a:r>
            <a:r>
              <a:rPr lang="en-US" altLang="zh-TW" sz="2200" dirty="0">
                <a:solidFill>
                  <a:srgbClr val="6732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20500000000000000" charset="0"/>
                <a:cs typeface="Arial" panose="020B0604020202020204" pitchFamily="34" charset="0"/>
              </a:rPr>
              <a:t>December 2025</a:t>
            </a:r>
            <a:endParaRPr lang="en-GB" sz="2200" dirty="0">
              <a:solidFill>
                <a:srgbClr val="6732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Roboto" panose="0202050000000000000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102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77240" y="307611"/>
            <a:ext cx="10660152" cy="4879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i="1" kern="0" dirty="0">
                <a:latin typeface="+mn-lt"/>
                <a:ea typeface="Roboto" panose="02020500000000000000" charset="0"/>
                <a:cs typeface="Arial" panose="020B0604020202020204" pitchFamily="34" charset="0"/>
                <a:sym typeface="Roboto"/>
              </a:rPr>
              <a:t>Agenda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983310" y="4596562"/>
            <a:ext cx="9029243" cy="1502594"/>
            <a:chOff x="1983310" y="4652527"/>
            <a:chExt cx="9029243" cy="1502594"/>
          </a:xfrm>
        </p:grpSpPr>
        <p:sp>
          <p:nvSpPr>
            <p:cNvPr id="19" name="Rounded Rectangle 18"/>
            <p:cNvSpPr/>
            <p:nvPr/>
          </p:nvSpPr>
          <p:spPr>
            <a:xfrm>
              <a:off x="2433645" y="4692591"/>
              <a:ext cx="8578908" cy="146253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/>
            <p:cNvSpPr/>
            <p:nvPr/>
          </p:nvSpPr>
          <p:spPr>
            <a:xfrm>
              <a:off x="1983310" y="4652527"/>
              <a:ext cx="1506070" cy="146253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 w="730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i="1" dirty="0"/>
                <a:t>3</a:t>
              </a:r>
              <a:endParaRPr lang="en-GB" sz="6000" b="1" i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63541" y="5162246"/>
              <a:ext cx="72490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dirty="0"/>
                <a:t>Retrospective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77240" y="1089243"/>
            <a:ext cx="9821767" cy="1491151"/>
            <a:chOff x="477240" y="1089243"/>
            <a:chExt cx="9331943" cy="1491151"/>
          </a:xfrm>
        </p:grpSpPr>
        <p:sp>
          <p:nvSpPr>
            <p:cNvPr id="3" name="Rounded Rectangle 2"/>
            <p:cNvSpPr/>
            <p:nvPr/>
          </p:nvSpPr>
          <p:spPr>
            <a:xfrm>
              <a:off x="1230275" y="1117864"/>
              <a:ext cx="8578908" cy="14625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/>
            <p:cNvSpPr/>
            <p:nvPr/>
          </p:nvSpPr>
          <p:spPr>
            <a:xfrm>
              <a:off x="477240" y="1089243"/>
              <a:ext cx="1506070" cy="1462530"/>
            </a:xfrm>
            <a:prstGeom prst="ellipse">
              <a:avLst/>
            </a:prstGeom>
            <a:solidFill>
              <a:srgbClr val="002060"/>
            </a:solidFill>
            <a:ln w="730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i="1" dirty="0"/>
                <a:t>1</a:t>
              </a:r>
              <a:endParaRPr lang="en-GB" sz="6000" b="1" i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21445" y="1559644"/>
              <a:ext cx="530594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dirty="0"/>
                <a:t>Background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28396" y="1616405"/>
              <a:ext cx="42817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14400" lvl="1" indent="-457200">
                <a:buFont typeface="+mj-lt"/>
                <a:buAutoNum type="arabicPeriod"/>
              </a:pPr>
              <a:r>
                <a:rPr lang="en-US" sz="2000" i="1" dirty="0"/>
                <a:t>Sprint 3 objectives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4231677" y="1820508"/>
              <a:ext cx="457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/>
          <p:cNvGrpSpPr/>
          <p:nvPr/>
        </p:nvGrpSpPr>
        <p:grpSpPr>
          <a:xfrm>
            <a:off x="1230275" y="2837181"/>
            <a:ext cx="9174361" cy="1502594"/>
            <a:chOff x="1230275" y="2867661"/>
            <a:chExt cx="9174361" cy="1502594"/>
          </a:xfrm>
        </p:grpSpPr>
        <p:sp>
          <p:nvSpPr>
            <p:cNvPr id="18" name="Rounded Rectangle 17"/>
            <p:cNvSpPr/>
            <p:nvPr/>
          </p:nvSpPr>
          <p:spPr>
            <a:xfrm>
              <a:off x="1825728" y="2907725"/>
              <a:ext cx="8578908" cy="146253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/>
            <p:cNvSpPr/>
            <p:nvPr/>
          </p:nvSpPr>
          <p:spPr>
            <a:xfrm>
              <a:off x="1230275" y="2867661"/>
              <a:ext cx="1506070" cy="146253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730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i="1" dirty="0"/>
                <a:t>2</a:t>
              </a:r>
              <a:endParaRPr lang="en-GB" sz="6000" b="1" i="1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08380" y="3337316"/>
              <a:ext cx="30407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dirty="0"/>
                <a:t>Targets Achieved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01320" y="3244983"/>
              <a:ext cx="389768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00100" lvl="1" indent="-342900">
                <a:buFont typeface="+mj-lt"/>
                <a:buAutoNum type="arabicPeriod"/>
              </a:pPr>
              <a:r>
                <a:rPr lang="en-US" sz="2000" i="1" dirty="0"/>
                <a:t>Roadshow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US" sz="2000" i="1" dirty="0"/>
                <a:t>SLM research</a:t>
              </a:r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6096000" y="3598926"/>
              <a:ext cx="457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690A11E-CDF5-C56A-5BEF-520E93316ED7}"/>
              </a:ext>
            </a:extLst>
          </p:cNvPr>
          <p:cNvSpPr txBox="1"/>
          <p:nvPr/>
        </p:nvSpPr>
        <p:spPr>
          <a:xfrm>
            <a:off x="6806976" y="5162759"/>
            <a:ext cx="3897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n-US" sz="2000" i="1" dirty="0"/>
              <a:t>Next sprint story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A1E484-0A82-2315-0DD4-71D705B57F93}"/>
              </a:ext>
            </a:extLst>
          </p:cNvPr>
          <p:cNvCxnSpPr/>
          <p:nvPr/>
        </p:nvCxnSpPr>
        <p:spPr>
          <a:xfrm>
            <a:off x="6324600" y="5376053"/>
            <a:ext cx="45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5">
            <a:extLst>
              <a:ext uri="{FF2B5EF4-FFF2-40B4-BE49-F238E27FC236}">
                <a16:creationId xmlns:a16="http://schemas.microsoft.com/office/drawing/2014/main" id="{7069F687-8A98-C38F-6FD8-95625A449166}"/>
              </a:ext>
            </a:extLst>
          </p:cNvPr>
          <p:cNvGrpSpPr>
            <a:grpSpLocks noChangeAspect="1"/>
          </p:cNvGrpSpPr>
          <p:nvPr/>
        </p:nvGrpSpPr>
        <p:grpSpPr>
          <a:xfrm>
            <a:off x="181453" y="6313301"/>
            <a:ext cx="3012140" cy="544699"/>
            <a:chOff x="0" y="0"/>
            <a:chExt cx="6024280" cy="1089398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4472ABB-6353-2B0D-B876-5CE9276CA9D4}"/>
                </a:ext>
              </a:extLst>
            </p:cNvPr>
            <p:cNvSpPr/>
            <p:nvPr/>
          </p:nvSpPr>
          <p:spPr>
            <a:xfrm>
              <a:off x="0" y="0"/>
              <a:ext cx="6024245" cy="1089406"/>
            </a:xfrm>
            <a:custGeom>
              <a:avLst/>
              <a:gdLst/>
              <a:ahLst/>
              <a:cxnLst/>
              <a:rect l="l" t="t" r="r" b="b"/>
              <a:pathLst>
                <a:path w="6024245" h="1089406">
                  <a:moveTo>
                    <a:pt x="0" y="0"/>
                  </a:moveTo>
                  <a:lnTo>
                    <a:pt x="6024245" y="0"/>
                  </a:lnTo>
                  <a:lnTo>
                    <a:pt x="6024245" y="1089406"/>
                  </a:lnTo>
                  <a:lnTo>
                    <a:pt x="0" y="1089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875341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000" y="6298461"/>
            <a:ext cx="3012140" cy="544699"/>
          </a:xfrm>
          <a:prstGeom prst="rect">
            <a:avLst/>
          </a:prstGeom>
        </p:spPr>
      </p:pic>
      <p:sp>
        <p:nvSpPr>
          <p:cNvPr id="21" name="Title 1"/>
          <p:cNvSpPr txBox="1">
            <a:spLocks/>
          </p:cNvSpPr>
          <p:nvPr/>
        </p:nvSpPr>
        <p:spPr>
          <a:xfrm>
            <a:off x="424386" y="38622"/>
            <a:ext cx="8453712" cy="88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i="1" dirty="0">
                <a:latin typeface="+mn-lt"/>
                <a:ea typeface="Roboto" panose="02020500000000000000" charset="0"/>
                <a:cs typeface="Arial" panose="020B0604020202020204" pitchFamily="34" charset="0"/>
              </a:rPr>
              <a:t>Sprint 3 Objectives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4EE91F7-2D64-45A2-BBDD-3DFCC6BC4AF1}"/>
              </a:ext>
            </a:extLst>
          </p:cNvPr>
          <p:cNvSpPr txBox="1">
            <a:spLocks/>
          </p:cNvSpPr>
          <p:nvPr/>
        </p:nvSpPr>
        <p:spPr>
          <a:xfrm>
            <a:off x="7046033" y="2623734"/>
            <a:ext cx="5069768" cy="48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i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15DE40-76EF-7CDF-CC14-3552BA31C968}"/>
              </a:ext>
            </a:extLst>
          </p:cNvPr>
          <p:cNvSpPr/>
          <p:nvPr/>
        </p:nvSpPr>
        <p:spPr>
          <a:xfrm>
            <a:off x="1799697" y="2163558"/>
            <a:ext cx="8452127" cy="1106723"/>
          </a:xfrm>
          <a:prstGeom prst="rect">
            <a:avLst/>
          </a:prstGeom>
          <a:solidFill>
            <a:schemeClr val="accent6">
              <a:lumMod val="75000"/>
              <a:alpha val="8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b="1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00906F-3C56-1945-876B-E4732E77A2F4}"/>
              </a:ext>
            </a:extLst>
          </p:cNvPr>
          <p:cNvSpPr/>
          <p:nvPr/>
        </p:nvSpPr>
        <p:spPr>
          <a:xfrm>
            <a:off x="1799697" y="3583692"/>
            <a:ext cx="8452125" cy="1051293"/>
          </a:xfrm>
          <a:prstGeom prst="rect">
            <a:avLst/>
          </a:prstGeom>
          <a:solidFill>
            <a:schemeClr val="accent6">
              <a:lumMod val="75000"/>
              <a:alpha val="8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b="1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43FD753-DDE2-3B68-DC72-967F312B59D4}"/>
              </a:ext>
            </a:extLst>
          </p:cNvPr>
          <p:cNvCxnSpPr/>
          <p:nvPr/>
        </p:nvCxnSpPr>
        <p:spPr>
          <a:xfrm>
            <a:off x="1371681" y="2315722"/>
            <a:ext cx="3019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B7F565E-F8B3-AEB9-42C9-A499C69005AC}"/>
              </a:ext>
            </a:extLst>
          </p:cNvPr>
          <p:cNvCxnSpPr/>
          <p:nvPr/>
        </p:nvCxnSpPr>
        <p:spPr>
          <a:xfrm>
            <a:off x="1371681" y="3747450"/>
            <a:ext cx="3019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4022660A-9D97-F9E7-BEB9-81969A97F99F}"/>
              </a:ext>
            </a:extLst>
          </p:cNvPr>
          <p:cNvSpPr/>
          <p:nvPr/>
        </p:nvSpPr>
        <p:spPr>
          <a:xfrm>
            <a:off x="1609489" y="2272622"/>
            <a:ext cx="87700" cy="98224"/>
          </a:xfrm>
          <a:prstGeom prst="ellipse">
            <a:avLst/>
          </a:prstGeom>
          <a:solidFill>
            <a:srgbClr val="111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5E50C2D-844D-D006-A6A7-6CE1E9BFBB03}"/>
              </a:ext>
            </a:extLst>
          </p:cNvPr>
          <p:cNvSpPr/>
          <p:nvPr/>
        </p:nvSpPr>
        <p:spPr>
          <a:xfrm>
            <a:off x="1629756" y="3705958"/>
            <a:ext cx="87700" cy="98224"/>
          </a:xfrm>
          <a:prstGeom prst="ellipse">
            <a:avLst/>
          </a:prstGeom>
          <a:solidFill>
            <a:srgbClr val="111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A4AE0EA-A604-B2AA-DE92-7F888FA858C1}"/>
              </a:ext>
            </a:extLst>
          </p:cNvPr>
          <p:cNvCxnSpPr>
            <a:cxnSpLocks/>
          </p:cNvCxnSpPr>
          <p:nvPr/>
        </p:nvCxnSpPr>
        <p:spPr>
          <a:xfrm>
            <a:off x="1371681" y="1583541"/>
            <a:ext cx="0" cy="33734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F6F7FAB-6659-D58A-AEDB-87F22F657D67}"/>
              </a:ext>
            </a:extLst>
          </p:cNvPr>
          <p:cNvSpPr/>
          <p:nvPr/>
        </p:nvSpPr>
        <p:spPr>
          <a:xfrm>
            <a:off x="1814257" y="2167443"/>
            <a:ext cx="8437565" cy="330043"/>
          </a:xfrm>
          <a:prstGeom prst="rect">
            <a:avLst/>
          </a:prstGeom>
          <a:solidFill>
            <a:schemeClr val="accent6">
              <a:lumMod val="75000"/>
              <a:alpha val="8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b="1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B65881-9E6A-4F8E-DF5A-89922E5DF37E}"/>
              </a:ext>
            </a:extLst>
          </p:cNvPr>
          <p:cNvSpPr/>
          <p:nvPr/>
        </p:nvSpPr>
        <p:spPr>
          <a:xfrm>
            <a:off x="1799696" y="2137874"/>
            <a:ext cx="38490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i="1" dirty="0">
                <a:solidFill>
                  <a:schemeClr val="accent6">
                    <a:lumMod val="50000"/>
                  </a:schemeClr>
                </a:solidFill>
              </a:rPr>
              <a:t>Roadshow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F0109C-68A3-1A80-CB00-B3382743E3BE}"/>
              </a:ext>
            </a:extLst>
          </p:cNvPr>
          <p:cNvSpPr txBox="1"/>
          <p:nvPr/>
        </p:nvSpPr>
        <p:spPr>
          <a:xfrm>
            <a:off x="1806976" y="2357702"/>
            <a:ext cx="6097424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/>
              <a:t>Demonstrate SPARK to different teams in ITD for feedback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9C0FA6-4248-AA19-9121-51256A30787F}"/>
              </a:ext>
            </a:extLst>
          </p:cNvPr>
          <p:cNvSpPr/>
          <p:nvPr/>
        </p:nvSpPr>
        <p:spPr>
          <a:xfrm>
            <a:off x="1797824" y="3590233"/>
            <a:ext cx="30481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i="1" dirty="0">
                <a:solidFill>
                  <a:schemeClr val="accent6">
                    <a:lumMod val="50000"/>
                  </a:schemeClr>
                </a:solidFill>
              </a:rPr>
              <a:t>SLM Research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299D94-36D6-69CC-53AF-AA18034FB480}"/>
              </a:ext>
            </a:extLst>
          </p:cNvPr>
          <p:cNvSpPr/>
          <p:nvPr/>
        </p:nvSpPr>
        <p:spPr>
          <a:xfrm>
            <a:off x="1812990" y="3612268"/>
            <a:ext cx="8437565" cy="330043"/>
          </a:xfrm>
          <a:prstGeom prst="rect">
            <a:avLst/>
          </a:prstGeom>
          <a:solidFill>
            <a:schemeClr val="accent6">
              <a:lumMod val="75000"/>
              <a:alpha val="8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b="1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F4C9AB-EEF1-A012-97C6-38524C639355}"/>
              </a:ext>
            </a:extLst>
          </p:cNvPr>
          <p:cNvSpPr txBox="1"/>
          <p:nvPr/>
        </p:nvSpPr>
        <p:spPr>
          <a:xfrm>
            <a:off x="1806975" y="3759520"/>
            <a:ext cx="7147837" cy="568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/>
              <a:t>Initialise and conduct feasibility research on SLM capability in SPARK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544536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2866" y="3992010"/>
            <a:ext cx="8453712" cy="885625"/>
            <a:chOff x="0" y="0"/>
            <a:chExt cx="16907424" cy="1771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07424" cy="1771250"/>
            </a:xfrm>
            <a:custGeom>
              <a:avLst/>
              <a:gdLst/>
              <a:ahLst/>
              <a:cxnLst/>
              <a:rect l="l" t="t" r="r" b="b"/>
              <a:pathLst>
                <a:path w="16907424" h="1771250">
                  <a:moveTo>
                    <a:pt x="0" y="0"/>
                  </a:moveTo>
                  <a:lnTo>
                    <a:pt x="16907424" y="0"/>
                  </a:lnTo>
                  <a:lnTo>
                    <a:pt x="16907424" y="1771250"/>
                  </a:lnTo>
                  <a:lnTo>
                    <a:pt x="0" y="1771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6907424" cy="1837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4212"/>
                </a:lnSpc>
              </a:pPr>
              <a:r>
                <a:rPr lang="en-US" sz="3900" b="1" i="1" dirty="0">
                  <a:solidFill>
                    <a:srgbClr val="00000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Targets Achieved</a:t>
              </a: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81453" y="6313301"/>
            <a:ext cx="3012140" cy="544699"/>
            <a:chOff x="0" y="0"/>
            <a:chExt cx="6024280" cy="10893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24245" cy="1089406"/>
            </a:xfrm>
            <a:custGeom>
              <a:avLst/>
              <a:gdLst/>
              <a:ahLst/>
              <a:cxnLst/>
              <a:rect l="l" t="t" r="r" b="b"/>
              <a:pathLst>
                <a:path w="6024245" h="1089406">
                  <a:moveTo>
                    <a:pt x="0" y="0"/>
                  </a:moveTo>
                  <a:lnTo>
                    <a:pt x="6024245" y="0"/>
                  </a:lnTo>
                  <a:lnTo>
                    <a:pt x="6024245" y="1089406"/>
                  </a:lnTo>
                  <a:lnTo>
                    <a:pt x="0" y="1089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4DCB90E-BCE1-0F48-B9A5-5784B9C2621B}"/>
              </a:ext>
            </a:extLst>
          </p:cNvPr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7633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91488" y="69774"/>
            <a:ext cx="8453712" cy="885625"/>
          </a:xfrm>
          <a:custGeom>
            <a:avLst/>
            <a:gdLst/>
            <a:ahLst/>
            <a:cxnLst/>
            <a:rect l="l" t="t" r="r" b="b"/>
            <a:pathLst>
              <a:path w="16907424" h="1771250">
                <a:moveTo>
                  <a:pt x="0" y="0"/>
                </a:moveTo>
                <a:lnTo>
                  <a:pt x="16907424" y="0"/>
                </a:lnTo>
                <a:lnTo>
                  <a:pt x="16907424" y="1771250"/>
                </a:lnTo>
                <a:lnTo>
                  <a:pt x="0" y="177125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81453" y="6313301"/>
            <a:ext cx="3012140" cy="544699"/>
            <a:chOff x="0" y="0"/>
            <a:chExt cx="6024280" cy="10893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24245" cy="1089406"/>
            </a:xfrm>
            <a:custGeom>
              <a:avLst/>
              <a:gdLst/>
              <a:ahLst/>
              <a:cxnLst/>
              <a:rect l="l" t="t" r="r" b="b"/>
              <a:pathLst>
                <a:path w="6024245" h="1089406">
                  <a:moveTo>
                    <a:pt x="0" y="0"/>
                  </a:moveTo>
                  <a:lnTo>
                    <a:pt x="6024245" y="0"/>
                  </a:lnTo>
                  <a:lnTo>
                    <a:pt x="6024245" y="1089406"/>
                  </a:lnTo>
                  <a:lnTo>
                    <a:pt x="0" y="1089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2489972" y="1520284"/>
            <a:ext cx="3301574" cy="3817431"/>
            <a:chOff x="0" y="0"/>
            <a:chExt cx="3736132" cy="36823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36132" cy="3682310"/>
            </a:xfrm>
            <a:custGeom>
              <a:avLst/>
              <a:gdLst/>
              <a:ahLst/>
              <a:cxnLst/>
              <a:rect l="l" t="t" r="r" b="b"/>
              <a:pathLst>
                <a:path w="3736132" h="3682310">
                  <a:moveTo>
                    <a:pt x="0" y="0"/>
                  </a:moveTo>
                  <a:lnTo>
                    <a:pt x="3736132" y="0"/>
                  </a:lnTo>
                  <a:lnTo>
                    <a:pt x="3736132" y="3682310"/>
                  </a:lnTo>
                  <a:lnTo>
                    <a:pt x="0" y="368231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7328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3736132" cy="3758510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1680"/>
                </a:lnSpc>
              </a:pPr>
              <a:endParaRPr sz="12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98159" y="1520284"/>
            <a:ext cx="3301574" cy="3817431"/>
            <a:chOff x="0" y="0"/>
            <a:chExt cx="3736132" cy="36823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36132" cy="3682310"/>
            </a:xfrm>
            <a:custGeom>
              <a:avLst/>
              <a:gdLst/>
              <a:ahLst/>
              <a:cxnLst/>
              <a:rect l="l" t="t" r="r" b="b"/>
              <a:pathLst>
                <a:path w="3736132" h="3682310">
                  <a:moveTo>
                    <a:pt x="0" y="0"/>
                  </a:moveTo>
                  <a:lnTo>
                    <a:pt x="3736132" y="0"/>
                  </a:lnTo>
                  <a:lnTo>
                    <a:pt x="3736132" y="3682310"/>
                  </a:lnTo>
                  <a:lnTo>
                    <a:pt x="0" y="368231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7328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3736132" cy="3758510"/>
            </a:xfrm>
            <a:prstGeom prst="rect">
              <a:avLst/>
            </a:prstGeom>
          </p:spPr>
          <p:txBody>
            <a:bodyPr lIns="169333" tIns="169333" rIns="169333" bIns="169333" rtlCol="0" anchor="ctr"/>
            <a:lstStyle/>
            <a:p>
              <a:pPr>
                <a:lnSpc>
                  <a:spcPts val="1680"/>
                </a:lnSpc>
              </a:pPr>
              <a:endParaRPr sz="120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78482" y="2727641"/>
            <a:ext cx="2724553" cy="2193746"/>
            <a:chOff x="0" y="-76200"/>
            <a:chExt cx="5449107" cy="4387485"/>
          </a:xfrm>
        </p:grpSpPr>
        <p:sp>
          <p:nvSpPr>
            <p:cNvPr id="19" name="TextBox 19"/>
            <p:cNvSpPr txBox="1"/>
            <p:nvPr/>
          </p:nvSpPr>
          <p:spPr>
            <a:xfrm>
              <a:off x="0" y="702097"/>
              <a:ext cx="5449107" cy="3609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sessions held among Application &amp; Operation teams</a:t>
              </a:r>
            </a:p>
            <a:p>
              <a:pPr marL="285750" indent="-285750">
                <a:buFontTx/>
                <a:buChar char="-"/>
              </a:pPr>
              <a:endParaRPr lang="en-US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285750" indent="-285750">
                <a:buFontTx/>
                <a:buChar char="-"/>
              </a:pPr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30+ participants</a:t>
              </a:r>
            </a:p>
            <a:p>
              <a:pPr marL="285750" indent="-285750">
                <a:buFontTx/>
                <a:buChar char="-"/>
              </a:pPr>
              <a:endParaRPr lang="en-US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285750" indent="-285750">
                <a:buFontTx/>
                <a:buChar char="-"/>
              </a:pPr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Feedbacks from 4</a:t>
              </a:r>
              <a:r>
                <a:rPr lang="en-US" sz="146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teams </a:t>
              </a:r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 collected after roadshow </a:t>
              </a:r>
            </a:p>
            <a:p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5449107" cy="5597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53"/>
                </a:lnSpc>
              </a:pPr>
              <a:r>
                <a:rPr lang="en-US" sz="1733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ITD Roadshow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778483" y="1787644"/>
            <a:ext cx="807265" cy="807265"/>
            <a:chOff x="0" y="0"/>
            <a:chExt cx="1614529" cy="1614529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614529" cy="1614529"/>
              <a:chOff x="0" y="0"/>
              <a:chExt cx="6350000" cy="6350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73280"/>
              </a:solidFill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274836" y="364882"/>
              <a:ext cx="1064859" cy="853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666" b="1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86670" y="1787644"/>
            <a:ext cx="807265" cy="807265"/>
            <a:chOff x="0" y="0"/>
            <a:chExt cx="1614529" cy="1614529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614529" cy="1614529"/>
              <a:chOff x="0" y="0"/>
              <a:chExt cx="6350000" cy="63500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673280"/>
              </a:solidFill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74836" y="364882"/>
              <a:ext cx="1064859" cy="853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666" b="1">
                  <a:solidFill>
                    <a:srgbClr val="FFFFFF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02</a:t>
              </a:r>
            </a:p>
          </p:txBody>
        </p:sp>
      </p:grpSp>
      <p:grpSp>
        <p:nvGrpSpPr>
          <p:cNvPr id="39" name="Group 18">
            <a:extLst>
              <a:ext uri="{FF2B5EF4-FFF2-40B4-BE49-F238E27FC236}">
                <a16:creationId xmlns:a16="http://schemas.microsoft.com/office/drawing/2014/main" id="{08A97ADF-5E50-C41A-0EBA-71B1C8223720}"/>
              </a:ext>
            </a:extLst>
          </p:cNvPr>
          <p:cNvGrpSpPr/>
          <p:nvPr/>
        </p:nvGrpSpPr>
        <p:grpSpPr>
          <a:xfrm>
            <a:off x="6486670" y="2692820"/>
            <a:ext cx="2724553" cy="3096044"/>
            <a:chOff x="0" y="-76200"/>
            <a:chExt cx="5449107" cy="6192079"/>
          </a:xfrm>
        </p:grpSpPr>
        <p:sp>
          <p:nvSpPr>
            <p:cNvPr id="40" name="TextBox 19">
              <a:extLst>
                <a:ext uri="{FF2B5EF4-FFF2-40B4-BE49-F238E27FC236}">
                  <a16:creationId xmlns:a16="http://schemas.microsoft.com/office/drawing/2014/main" id="{9031BFFD-3942-D391-AEA4-DA8FD7277F43}"/>
                </a:ext>
              </a:extLst>
            </p:cNvPr>
            <p:cNvSpPr txBox="1"/>
            <p:nvPr/>
          </p:nvSpPr>
          <p:spPr>
            <a:xfrm>
              <a:off x="0" y="702097"/>
              <a:ext cx="5449107" cy="5413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 up testing pipeline on key areas</a:t>
              </a:r>
            </a:p>
            <a:p>
              <a:pPr marL="742950" lvl="1" indent="-285750">
                <a:buFontTx/>
                <a:buChar char="-"/>
              </a:pPr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Safety</a:t>
              </a:r>
            </a:p>
            <a:p>
              <a:pPr marL="742950" lvl="1" indent="-285750">
                <a:buFontTx/>
                <a:buChar char="-"/>
              </a:pPr>
              <a:r>
                <a:rPr lang="en-US" sz="1466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Categorisation</a:t>
              </a:r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and </a:t>
              </a:r>
              <a:r>
                <a:rPr lang="en-US" sz="1466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summarisation</a:t>
              </a:r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accuracy</a:t>
              </a:r>
            </a:p>
            <a:p>
              <a:pPr marL="742950" lvl="1" indent="-285750">
                <a:buFontTx/>
                <a:buChar char="-"/>
              </a:pPr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usage </a:t>
              </a:r>
            </a:p>
            <a:p>
              <a:pPr marL="285750" indent="-285750">
                <a:buFontTx/>
                <a:buChar char="-"/>
              </a:pPr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Conducted testing with 3 SLMs</a:t>
              </a:r>
            </a:p>
            <a:p>
              <a:pPr marL="623888" lvl="1" indent="-263525">
                <a:buFontTx/>
                <a:buChar char="-"/>
              </a:pPr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model: Qwen2.5-0.5B Instruct</a:t>
              </a:r>
            </a:p>
            <a:p>
              <a:pPr marL="742950" lvl="1" indent="-285750">
                <a:buFontTx/>
                <a:buChar char="-"/>
              </a:pPr>
              <a:endParaRPr lang="en-US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742950" lvl="1" indent="-285750">
                <a:buFontTx/>
                <a:buChar char="-"/>
              </a:pPr>
              <a:endParaRPr lang="en-US" sz="146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r>
                <a:rPr lang="en-US" sz="146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</p:txBody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C12F5AE2-CA00-C767-7F31-53D52104088E}"/>
                </a:ext>
              </a:extLst>
            </p:cNvPr>
            <p:cNvSpPr txBox="1"/>
            <p:nvPr/>
          </p:nvSpPr>
          <p:spPr>
            <a:xfrm>
              <a:off x="0" y="-76200"/>
              <a:ext cx="5449107" cy="5597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53"/>
                </a:lnSpc>
              </a:pPr>
              <a:r>
                <a:rPr lang="en-US" sz="1733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SLM Research</a:t>
              </a:r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F1837B24-508E-7C7E-9ABF-EAFC7ACBC2E1}"/>
              </a:ext>
            </a:extLst>
          </p:cNvPr>
          <p:cNvSpPr txBox="1">
            <a:spLocks/>
          </p:cNvSpPr>
          <p:nvPr/>
        </p:nvSpPr>
        <p:spPr>
          <a:xfrm>
            <a:off x="424386" y="38622"/>
            <a:ext cx="8453712" cy="88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i="1" dirty="0">
                <a:latin typeface="+mn-lt"/>
                <a:ea typeface="Roboto" panose="02020500000000000000" charset="0"/>
                <a:cs typeface="Arial" panose="020B0604020202020204" pitchFamily="34" charset="0"/>
              </a:rPr>
              <a:t>Targets Achieved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1C7D0-AD02-E21C-6B52-9A2D188B5FAE}"/>
              </a:ext>
            </a:extLst>
          </p:cNvPr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000" y="6298461"/>
            <a:ext cx="3012140" cy="544699"/>
          </a:xfrm>
          <a:prstGeom prst="rect">
            <a:avLst/>
          </a:prstGeom>
        </p:spPr>
      </p:pic>
      <p:sp>
        <p:nvSpPr>
          <p:cNvPr id="21" name="Title 1"/>
          <p:cNvSpPr txBox="1">
            <a:spLocks/>
          </p:cNvSpPr>
          <p:nvPr/>
        </p:nvSpPr>
        <p:spPr>
          <a:xfrm>
            <a:off x="4715195" y="2601252"/>
            <a:ext cx="2761610" cy="1331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000" b="1" kern="0" dirty="0">
                <a:latin typeface="+mn-lt"/>
                <a:ea typeface="Roboto" panose="02020500000000000000" charset="0"/>
                <a:cs typeface="Arial" panose="020B0604020202020204" pitchFamily="34" charset="0"/>
                <a:sym typeface="Roboto"/>
              </a:rPr>
              <a:t>Q &amp; A</a:t>
            </a:r>
            <a:endParaRPr lang="en-GB" sz="5000" dirty="0">
              <a:latin typeface="+mn-lt"/>
              <a:ea typeface="Roboto" panose="0202050000000000000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308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781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87796"/>
            <a:ext cx="3012140" cy="5446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78106"/>
            <a:ext cx="12192000" cy="217615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5969959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759200"/>
            <a:ext cx="10515600" cy="1375229"/>
          </a:xfrm>
        </p:spPr>
        <p:txBody>
          <a:bodyPr>
            <a:normAutofit/>
          </a:bodyPr>
          <a:lstStyle/>
          <a:p>
            <a:r>
              <a:rPr lang="en-GB" sz="4800" b="1" dirty="0">
                <a:solidFill>
                  <a:srgbClr val="4C245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36735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3C2668"/>
              </a:gs>
              <a:gs pos="39000">
                <a:srgbClr val="8C3C94"/>
              </a:gs>
              <a:gs pos="75000">
                <a:srgbClr val="D2E1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000" y="6298461"/>
            <a:ext cx="3012140" cy="544699"/>
          </a:xfrm>
          <a:prstGeom prst="rect">
            <a:avLst/>
          </a:prstGeom>
        </p:spPr>
      </p:pic>
      <p:sp>
        <p:nvSpPr>
          <p:cNvPr id="21" name="Title 1"/>
          <p:cNvSpPr txBox="1">
            <a:spLocks/>
          </p:cNvSpPr>
          <p:nvPr/>
        </p:nvSpPr>
        <p:spPr>
          <a:xfrm>
            <a:off x="440629" y="212738"/>
            <a:ext cx="8453712" cy="88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3200" i="1" dirty="0">
              <a:latin typeface="+mn-lt"/>
              <a:ea typeface="Roboto" panose="02020500000000000000" charset="0"/>
              <a:cs typeface="Arial" panose="020B060402020202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4EE91F7-2D64-45A2-BBDD-3DFCC6BC4AF1}"/>
              </a:ext>
            </a:extLst>
          </p:cNvPr>
          <p:cNvSpPr txBox="1">
            <a:spLocks/>
          </p:cNvSpPr>
          <p:nvPr/>
        </p:nvSpPr>
        <p:spPr>
          <a:xfrm>
            <a:off x="7171832" y="2853696"/>
            <a:ext cx="5673835" cy="5960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i="1" dirty="0">
              <a:solidFill>
                <a:schemeClr val="bg1"/>
              </a:solidFill>
            </a:endParaRP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84148530-A742-2A1A-D879-6C384E79C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95312"/>
              </p:ext>
            </p:extLst>
          </p:nvPr>
        </p:nvGraphicFramePr>
        <p:xfrm>
          <a:off x="2568005" y="1696600"/>
          <a:ext cx="9330213" cy="311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071">
                  <a:extLst>
                    <a:ext uri="{9D8B030D-6E8A-4147-A177-3AD203B41FA5}">
                      <a16:colId xmlns:a16="http://schemas.microsoft.com/office/drawing/2014/main" val="425015407"/>
                    </a:ext>
                  </a:extLst>
                </a:gridCol>
                <a:gridCol w="3110071">
                  <a:extLst>
                    <a:ext uri="{9D8B030D-6E8A-4147-A177-3AD203B41FA5}">
                      <a16:colId xmlns:a16="http://schemas.microsoft.com/office/drawing/2014/main" val="1518000575"/>
                    </a:ext>
                  </a:extLst>
                </a:gridCol>
                <a:gridCol w="3110071">
                  <a:extLst>
                    <a:ext uri="{9D8B030D-6E8A-4147-A177-3AD203B41FA5}">
                      <a16:colId xmlns:a16="http://schemas.microsoft.com/office/drawing/2014/main" val="955697995"/>
                    </a:ext>
                  </a:extLst>
                </a:gridCol>
              </a:tblGrid>
              <a:tr h="618639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Senior level</a:t>
                      </a:r>
                    </a:p>
                  </a:txBody>
                  <a:tcPr anchor="b">
                    <a:solidFill>
                      <a:srgbClr val="481F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Team lead level</a:t>
                      </a:r>
                    </a:p>
                  </a:txBody>
                  <a:tcPr anchor="b">
                    <a:solidFill>
                      <a:srgbClr val="481F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Working level</a:t>
                      </a:r>
                    </a:p>
                  </a:txBody>
                  <a:tcPr anchor="b">
                    <a:solidFill>
                      <a:srgbClr val="481F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40972"/>
                  </a:ext>
                </a:extLst>
              </a:tr>
              <a:tr h="1067788">
                <a:tc>
                  <a:txBody>
                    <a:bodyPr/>
                    <a:lstStyle/>
                    <a:p>
                      <a:pPr algn="ctr"/>
                      <a:b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</a:br>
                      <a:endParaRPr lang="en-US" sz="16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Receive team weekly/monthly report</a:t>
                      </a:r>
                      <a:endParaRPr lang="en-GB" sz="1600" dirty="0"/>
                    </a:p>
                  </a:txBody>
                  <a:tcPr>
                    <a:solidFill>
                      <a:srgbClr val="E9D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br>
                        <a:rPr lang="en-US" sz="18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</a:br>
                      <a:endParaRPr lang="en-US" sz="18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Frequency of types that teams received</a:t>
                      </a:r>
                      <a:endParaRPr lang="en-GB" sz="1600" dirty="0"/>
                    </a:p>
                  </a:txBody>
                  <a:tcPr>
                    <a:solidFill>
                      <a:srgbClr val="E9D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US" altLang="zh-CN" sz="1600" dirty="0">
                          <a:latin typeface="Hind" panose="02000000000000000000" pitchFamily="2" charset="0"/>
                          <a:cs typeface="Hind" panose="02000000000000000000" pitchFamily="2" charset="0"/>
                        </a:rPr>
                        <a:t>Summary of tasks that are assigned to them</a:t>
                      </a:r>
                      <a:endParaRPr lang="en-GB" sz="1600" dirty="0">
                        <a:latin typeface="Hind" panose="02000000000000000000" pitchFamily="2" charset="0"/>
                        <a:cs typeface="Hind" panose="02000000000000000000" pitchFamily="2" charset="0"/>
                      </a:endParaRPr>
                    </a:p>
                  </a:txBody>
                  <a:tcPr>
                    <a:solidFill>
                      <a:srgbClr val="E9D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314113"/>
                  </a:ext>
                </a:extLst>
              </a:tr>
              <a:tr h="10677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Clarify the allocation of emails types received </a:t>
                      </a:r>
                      <a:endParaRPr lang="en-GB" sz="1600" dirty="0"/>
                    </a:p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4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algn="ctr"/>
                      <a:endParaRPr lang="en-US" sz="16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Clarify the allocation of emails types received </a:t>
                      </a:r>
                      <a:endParaRPr lang="en-GB" sz="1600" dirty="0"/>
                    </a:p>
                  </a:txBody>
                  <a:tcPr>
                    <a:solidFill>
                      <a:srgbClr val="F4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algn="ctr"/>
                      <a:endParaRPr lang="en-US" sz="1600" dirty="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View the result of the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categorisation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 (Both in outlook &amp; SPARK)</a:t>
                      </a:r>
                      <a:endParaRPr lang="en-GB" sz="1600" dirty="0"/>
                    </a:p>
                  </a:txBody>
                  <a:tcPr>
                    <a:solidFill>
                      <a:srgbClr val="F4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06485"/>
                  </a:ext>
                </a:extLst>
              </a:tr>
            </a:tbl>
          </a:graphicData>
        </a:graphic>
      </p:graphicFrame>
      <p:pic>
        <p:nvPicPr>
          <p:cNvPr id="50" name="Picture 49">
            <a:extLst>
              <a:ext uri="{FF2B5EF4-FFF2-40B4-BE49-F238E27FC236}">
                <a16:creationId xmlns:a16="http://schemas.microsoft.com/office/drawing/2014/main" id="{5A611F08-552A-2125-210E-34BC25AA9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971" y="2386489"/>
            <a:ext cx="436084" cy="43608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D96FDD7-3953-E87F-FEBD-27287D7D8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069" y="2386489"/>
            <a:ext cx="436084" cy="43608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F20E221-8C10-579F-D6C7-FB8FC95BB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069" y="3498368"/>
            <a:ext cx="436084" cy="43608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9EADBBB-6CBE-2212-69F0-74261430B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7233" y="3485360"/>
            <a:ext cx="495759" cy="495759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79AF812-C7C4-089B-8F04-0AEA8C885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233" y="2386489"/>
            <a:ext cx="436084" cy="4360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B9EF7D-5885-233A-83CE-8012B2C0F4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0133" y="3460890"/>
            <a:ext cx="495759" cy="49575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00B5C99-1003-BDF2-957D-D3ED799435F9}"/>
              </a:ext>
            </a:extLst>
          </p:cNvPr>
          <p:cNvSpPr txBox="1">
            <a:spLocks/>
          </p:cNvSpPr>
          <p:nvPr/>
        </p:nvSpPr>
        <p:spPr>
          <a:xfrm>
            <a:off x="424386" y="38622"/>
            <a:ext cx="8453712" cy="88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i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Appendix: Feature Matrix for Roles</a:t>
            </a:r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id="{CD47CB3D-7C8E-9EB6-A773-20955039E9EE}"/>
              </a:ext>
            </a:extLst>
          </p:cNvPr>
          <p:cNvGrpSpPr/>
          <p:nvPr/>
        </p:nvGrpSpPr>
        <p:grpSpPr>
          <a:xfrm>
            <a:off x="414818" y="2543873"/>
            <a:ext cx="1879447" cy="557399"/>
            <a:chOff x="0" y="0"/>
            <a:chExt cx="3758894" cy="1114798"/>
          </a:xfrm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id="{E1F06643-7F24-E47A-9949-974D33E42FB0}"/>
                </a:ext>
              </a:extLst>
            </p:cNvPr>
            <p:cNvSpPr/>
            <p:nvPr/>
          </p:nvSpPr>
          <p:spPr>
            <a:xfrm>
              <a:off x="12700" y="12700"/>
              <a:ext cx="3733419" cy="1089406"/>
            </a:xfrm>
            <a:custGeom>
              <a:avLst/>
              <a:gdLst/>
              <a:ahLst/>
              <a:cxnLst/>
              <a:rect l="l" t="t" r="r" b="b"/>
              <a:pathLst>
                <a:path w="3733419" h="1089406">
                  <a:moveTo>
                    <a:pt x="0" y="181610"/>
                  </a:moveTo>
                  <a:cubicBezTo>
                    <a:pt x="0" y="81280"/>
                    <a:pt x="82677" y="0"/>
                    <a:pt x="184531" y="0"/>
                  </a:cubicBezTo>
                  <a:lnTo>
                    <a:pt x="3548888" y="0"/>
                  </a:lnTo>
                  <a:cubicBezTo>
                    <a:pt x="3650869" y="0"/>
                    <a:pt x="3733419" y="81280"/>
                    <a:pt x="3733419" y="181610"/>
                  </a:cubicBezTo>
                  <a:lnTo>
                    <a:pt x="3733419" y="907796"/>
                  </a:lnTo>
                  <a:cubicBezTo>
                    <a:pt x="3733419" y="1008126"/>
                    <a:pt x="3650742" y="1089406"/>
                    <a:pt x="3548888" y="1089406"/>
                  </a:cubicBezTo>
                  <a:lnTo>
                    <a:pt x="184531" y="1089406"/>
                  </a:lnTo>
                  <a:cubicBezTo>
                    <a:pt x="82677" y="1089406"/>
                    <a:pt x="0" y="1008126"/>
                    <a:pt x="0" y="907796"/>
                  </a:cubicBezTo>
                  <a:close/>
                </a:path>
              </a:pathLst>
            </a:custGeom>
            <a:solidFill>
              <a:srgbClr val="E9DCEE"/>
            </a:solidFill>
            <a:ln w="12700">
              <a:noFill/>
            </a:ln>
          </p:spPr>
        </p:sp>
        <p:sp>
          <p:nvSpPr>
            <p:cNvPr id="8" name="Freeform 20">
              <a:extLst>
                <a:ext uri="{FF2B5EF4-FFF2-40B4-BE49-F238E27FC236}">
                  <a16:creationId xmlns:a16="http://schemas.microsoft.com/office/drawing/2014/main" id="{C04F2AA7-B07D-8EA8-CF72-43E21656D9B4}"/>
                </a:ext>
              </a:extLst>
            </p:cNvPr>
            <p:cNvSpPr/>
            <p:nvPr/>
          </p:nvSpPr>
          <p:spPr>
            <a:xfrm>
              <a:off x="0" y="0"/>
              <a:ext cx="3758819" cy="1114806"/>
            </a:xfrm>
            <a:custGeom>
              <a:avLst/>
              <a:gdLst/>
              <a:ahLst/>
              <a:cxnLst/>
              <a:rect l="l" t="t" r="r" b="b"/>
              <a:pathLst>
                <a:path w="3758819" h="1114806">
                  <a:moveTo>
                    <a:pt x="0" y="194310"/>
                  </a:moveTo>
                  <a:cubicBezTo>
                    <a:pt x="0" y="86741"/>
                    <a:pt x="88519" y="0"/>
                    <a:pt x="197231" y="0"/>
                  </a:cubicBezTo>
                  <a:lnTo>
                    <a:pt x="3561588" y="0"/>
                  </a:lnTo>
                  <a:lnTo>
                    <a:pt x="3561588" y="12700"/>
                  </a:lnTo>
                  <a:lnTo>
                    <a:pt x="3561588" y="0"/>
                  </a:lnTo>
                  <a:cubicBezTo>
                    <a:pt x="3670300" y="0"/>
                    <a:pt x="3758819" y="86741"/>
                    <a:pt x="3758819" y="194310"/>
                  </a:cubicBezTo>
                  <a:lnTo>
                    <a:pt x="3746119" y="194310"/>
                  </a:lnTo>
                  <a:lnTo>
                    <a:pt x="3758819" y="194310"/>
                  </a:lnTo>
                  <a:lnTo>
                    <a:pt x="3758819" y="920496"/>
                  </a:lnTo>
                  <a:lnTo>
                    <a:pt x="3746119" y="920496"/>
                  </a:lnTo>
                  <a:lnTo>
                    <a:pt x="3758819" y="920496"/>
                  </a:lnTo>
                  <a:cubicBezTo>
                    <a:pt x="3758819" y="1027938"/>
                    <a:pt x="3670300" y="1114806"/>
                    <a:pt x="3561588" y="1114806"/>
                  </a:cubicBezTo>
                  <a:lnTo>
                    <a:pt x="3561588" y="1102106"/>
                  </a:lnTo>
                  <a:lnTo>
                    <a:pt x="3561588" y="1114806"/>
                  </a:lnTo>
                  <a:lnTo>
                    <a:pt x="197231" y="1114806"/>
                  </a:lnTo>
                  <a:lnTo>
                    <a:pt x="197231" y="1102106"/>
                  </a:lnTo>
                  <a:lnTo>
                    <a:pt x="197231" y="1114806"/>
                  </a:lnTo>
                  <a:cubicBezTo>
                    <a:pt x="88519" y="1114806"/>
                    <a:pt x="0" y="1028065"/>
                    <a:pt x="0" y="920496"/>
                  </a:cubicBezTo>
                  <a:lnTo>
                    <a:pt x="0" y="194310"/>
                  </a:lnTo>
                  <a:lnTo>
                    <a:pt x="12700" y="194310"/>
                  </a:lnTo>
                  <a:lnTo>
                    <a:pt x="0" y="194310"/>
                  </a:lnTo>
                  <a:moveTo>
                    <a:pt x="25400" y="194310"/>
                  </a:moveTo>
                  <a:lnTo>
                    <a:pt x="25400" y="920496"/>
                  </a:lnTo>
                  <a:lnTo>
                    <a:pt x="12700" y="920496"/>
                  </a:lnTo>
                  <a:lnTo>
                    <a:pt x="25400" y="920496"/>
                  </a:lnTo>
                  <a:cubicBezTo>
                    <a:pt x="25400" y="1013587"/>
                    <a:pt x="102108" y="1089406"/>
                    <a:pt x="197231" y="1089406"/>
                  </a:cubicBezTo>
                  <a:lnTo>
                    <a:pt x="3561588" y="1089406"/>
                  </a:lnTo>
                  <a:cubicBezTo>
                    <a:pt x="3656711" y="1089406"/>
                    <a:pt x="3733419" y="1013587"/>
                    <a:pt x="3733419" y="920496"/>
                  </a:cubicBezTo>
                  <a:lnTo>
                    <a:pt x="3733419" y="194310"/>
                  </a:lnTo>
                  <a:cubicBezTo>
                    <a:pt x="3733419" y="101219"/>
                    <a:pt x="3656711" y="25400"/>
                    <a:pt x="3561588" y="25400"/>
                  </a:cubicBezTo>
                  <a:lnTo>
                    <a:pt x="197231" y="25400"/>
                  </a:lnTo>
                  <a:lnTo>
                    <a:pt x="197231" y="12700"/>
                  </a:lnTo>
                  <a:lnTo>
                    <a:pt x="197231" y="25400"/>
                  </a:lnTo>
                  <a:cubicBezTo>
                    <a:pt x="102108" y="25400"/>
                    <a:pt x="25400" y="101219"/>
                    <a:pt x="25400" y="194310"/>
                  </a:cubicBezTo>
                  <a:close/>
                </a:path>
              </a:pathLst>
            </a:custGeom>
            <a:solidFill>
              <a:srgbClr val="D9D9D9"/>
            </a:solidFill>
            <a:ln w="12700">
              <a:noFill/>
            </a:ln>
          </p:spPr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A5D19AB7-EA8A-3864-39A4-74CCD2AAC0B5}"/>
                </a:ext>
              </a:extLst>
            </p:cNvPr>
            <p:cNvSpPr txBox="1"/>
            <p:nvPr/>
          </p:nvSpPr>
          <p:spPr>
            <a:xfrm>
              <a:off x="0" y="-57150"/>
              <a:ext cx="3758894" cy="1171948"/>
            </a:xfrm>
            <a:prstGeom prst="rect">
              <a:avLst/>
            </a:prstGeom>
            <a:ln>
              <a:noFill/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60"/>
                </a:lnSpc>
              </a:pPr>
              <a:r>
                <a:rPr lang="en-US" b="1" dirty="0" err="1">
                  <a:solidFill>
                    <a:srgbClr val="4C2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Summarisation</a:t>
              </a:r>
              <a:endParaRPr lang="en-US" b="1" dirty="0">
                <a:solidFill>
                  <a:srgbClr val="4C245E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10" name="Group 18">
            <a:extLst>
              <a:ext uri="{FF2B5EF4-FFF2-40B4-BE49-F238E27FC236}">
                <a16:creationId xmlns:a16="http://schemas.microsoft.com/office/drawing/2014/main" id="{FF05E706-29E4-849E-859D-6F3B8FC5F286}"/>
              </a:ext>
            </a:extLst>
          </p:cNvPr>
          <p:cNvGrpSpPr/>
          <p:nvPr/>
        </p:nvGrpSpPr>
        <p:grpSpPr>
          <a:xfrm>
            <a:off x="392397" y="3842732"/>
            <a:ext cx="1879447" cy="557399"/>
            <a:chOff x="0" y="0"/>
            <a:chExt cx="3758894" cy="1114798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042979E4-3745-9257-A1A5-239A9418D074}"/>
                </a:ext>
              </a:extLst>
            </p:cNvPr>
            <p:cNvSpPr/>
            <p:nvPr/>
          </p:nvSpPr>
          <p:spPr>
            <a:xfrm>
              <a:off x="12700" y="12700"/>
              <a:ext cx="3733419" cy="1089406"/>
            </a:xfrm>
            <a:custGeom>
              <a:avLst/>
              <a:gdLst/>
              <a:ahLst/>
              <a:cxnLst/>
              <a:rect l="l" t="t" r="r" b="b"/>
              <a:pathLst>
                <a:path w="3733419" h="1089406">
                  <a:moveTo>
                    <a:pt x="0" y="181610"/>
                  </a:moveTo>
                  <a:cubicBezTo>
                    <a:pt x="0" y="81280"/>
                    <a:pt x="82677" y="0"/>
                    <a:pt x="184531" y="0"/>
                  </a:cubicBezTo>
                  <a:lnTo>
                    <a:pt x="3548888" y="0"/>
                  </a:lnTo>
                  <a:cubicBezTo>
                    <a:pt x="3650869" y="0"/>
                    <a:pt x="3733419" y="81280"/>
                    <a:pt x="3733419" y="181610"/>
                  </a:cubicBezTo>
                  <a:lnTo>
                    <a:pt x="3733419" y="907796"/>
                  </a:lnTo>
                  <a:cubicBezTo>
                    <a:pt x="3733419" y="1008126"/>
                    <a:pt x="3650742" y="1089406"/>
                    <a:pt x="3548888" y="1089406"/>
                  </a:cubicBezTo>
                  <a:lnTo>
                    <a:pt x="184531" y="1089406"/>
                  </a:lnTo>
                  <a:cubicBezTo>
                    <a:pt x="82677" y="1089406"/>
                    <a:pt x="0" y="1008126"/>
                    <a:pt x="0" y="907796"/>
                  </a:cubicBezTo>
                  <a:close/>
                </a:path>
              </a:pathLst>
            </a:custGeom>
            <a:solidFill>
              <a:srgbClr val="E9DCEE"/>
            </a:solidFill>
            <a:ln w="12700">
              <a:noFill/>
            </a:ln>
          </p:spPr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E20E0FB3-7B30-219C-0A8F-20DA2D7F676A}"/>
                </a:ext>
              </a:extLst>
            </p:cNvPr>
            <p:cNvSpPr/>
            <p:nvPr/>
          </p:nvSpPr>
          <p:spPr>
            <a:xfrm>
              <a:off x="0" y="0"/>
              <a:ext cx="3758819" cy="1114806"/>
            </a:xfrm>
            <a:custGeom>
              <a:avLst/>
              <a:gdLst/>
              <a:ahLst/>
              <a:cxnLst/>
              <a:rect l="l" t="t" r="r" b="b"/>
              <a:pathLst>
                <a:path w="3758819" h="1114806">
                  <a:moveTo>
                    <a:pt x="0" y="194310"/>
                  </a:moveTo>
                  <a:cubicBezTo>
                    <a:pt x="0" y="86741"/>
                    <a:pt x="88519" y="0"/>
                    <a:pt x="197231" y="0"/>
                  </a:cubicBezTo>
                  <a:lnTo>
                    <a:pt x="3561588" y="0"/>
                  </a:lnTo>
                  <a:lnTo>
                    <a:pt x="3561588" y="12700"/>
                  </a:lnTo>
                  <a:lnTo>
                    <a:pt x="3561588" y="0"/>
                  </a:lnTo>
                  <a:cubicBezTo>
                    <a:pt x="3670300" y="0"/>
                    <a:pt x="3758819" y="86741"/>
                    <a:pt x="3758819" y="194310"/>
                  </a:cubicBezTo>
                  <a:lnTo>
                    <a:pt x="3746119" y="194310"/>
                  </a:lnTo>
                  <a:lnTo>
                    <a:pt x="3758819" y="194310"/>
                  </a:lnTo>
                  <a:lnTo>
                    <a:pt x="3758819" y="920496"/>
                  </a:lnTo>
                  <a:lnTo>
                    <a:pt x="3746119" y="920496"/>
                  </a:lnTo>
                  <a:lnTo>
                    <a:pt x="3758819" y="920496"/>
                  </a:lnTo>
                  <a:cubicBezTo>
                    <a:pt x="3758819" y="1027938"/>
                    <a:pt x="3670300" y="1114806"/>
                    <a:pt x="3561588" y="1114806"/>
                  </a:cubicBezTo>
                  <a:lnTo>
                    <a:pt x="3561588" y="1102106"/>
                  </a:lnTo>
                  <a:lnTo>
                    <a:pt x="3561588" y="1114806"/>
                  </a:lnTo>
                  <a:lnTo>
                    <a:pt x="197231" y="1114806"/>
                  </a:lnTo>
                  <a:lnTo>
                    <a:pt x="197231" y="1102106"/>
                  </a:lnTo>
                  <a:lnTo>
                    <a:pt x="197231" y="1114806"/>
                  </a:lnTo>
                  <a:cubicBezTo>
                    <a:pt x="88519" y="1114806"/>
                    <a:pt x="0" y="1028065"/>
                    <a:pt x="0" y="920496"/>
                  </a:cubicBezTo>
                  <a:lnTo>
                    <a:pt x="0" y="194310"/>
                  </a:lnTo>
                  <a:lnTo>
                    <a:pt x="12700" y="194310"/>
                  </a:lnTo>
                  <a:lnTo>
                    <a:pt x="0" y="194310"/>
                  </a:lnTo>
                  <a:moveTo>
                    <a:pt x="25400" y="194310"/>
                  </a:moveTo>
                  <a:lnTo>
                    <a:pt x="25400" y="920496"/>
                  </a:lnTo>
                  <a:lnTo>
                    <a:pt x="12700" y="920496"/>
                  </a:lnTo>
                  <a:lnTo>
                    <a:pt x="25400" y="920496"/>
                  </a:lnTo>
                  <a:cubicBezTo>
                    <a:pt x="25400" y="1013587"/>
                    <a:pt x="102108" y="1089406"/>
                    <a:pt x="197231" y="1089406"/>
                  </a:cubicBezTo>
                  <a:lnTo>
                    <a:pt x="3561588" y="1089406"/>
                  </a:lnTo>
                  <a:cubicBezTo>
                    <a:pt x="3656711" y="1089406"/>
                    <a:pt x="3733419" y="1013587"/>
                    <a:pt x="3733419" y="920496"/>
                  </a:cubicBezTo>
                  <a:lnTo>
                    <a:pt x="3733419" y="194310"/>
                  </a:lnTo>
                  <a:cubicBezTo>
                    <a:pt x="3733419" y="101219"/>
                    <a:pt x="3656711" y="25400"/>
                    <a:pt x="3561588" y="25400"/>
                  </a:cubicBezTo>
                  <a:lnTo>
                    <a:pt x="197231" y="25400"/>
                  </a:lnTo>
                  <a:lnTo>
                    <a:pt x="197231" y="12700"/>
                  </a:lnTo>
                  <a:lnTo>
                    <a:pt x="197231" y="25400"/>
                  </a:lnTo>
                  <a:cubicBezTo>
                    <a:pt x="102108" y="25400"/>
                    <a:pt x="25400" y="101219"/>
                    <a:pt x="25400" y="194310"/>
                  </a:cubicBezTo>
                  <a:close/>
                </a:path>
              </a:pathLst>
            </a:custGeom>
            <a:solidFill>
              <a:srgbClr val="D9D9D9"/>
            </a:solidFill>
            <a:ln w="12700">
              <a:noFill/>
            </a:ln>
          </p:spPr>
        </p:sp>
        <p:sp>
          <p:nvSpPr>
            <p:cNvPr id="13" name="TextBox 21">
              <a:extLst>
                <a:ext uri="{FF2B5EF4-FFF2-40B4-BE49-F238E27FC236}">
                  <a16:creationId xmlns:a16="http://schemas.microsoft.com/office/drawing/2014/main" id="{F77A6E26-E7C9-38E5-3F13-95A29B5D7EBA}"/>
                </a:ext>
              </a:extLst>
            </p:cNvPr>
            <p:cNvSpPr txBox="1"/>
            <p:nvPr/>
          </p:nvSpPr>
          <p:spPr>
            <a:xfrm>
              <a:off x="0" y="-57150"/>
              <a:ext cx="3758894" cy="1171948"/>
            </a:xfrm>
            <a:prstGeom prst="rect">
              <a:avLst/>
            </a:prstGeom>
            <a:ln>
              <a:noFill/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160"/>
                </a:lnSpc>
              </a:pPr>
              <a:r>
                <a:rPr lang="en-US" b="1" dirty="0" err="1">
                  <a:solidFill>
                    <a:srgbClr val="4C2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Categorisation</a:t>
              </a:r>
              <a:endParaRPr lang="en-US" b="1" dirty="0">
                <a:solidFill>
                  <a:srgbClr val="4C245E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992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44FBE92949FF498A292267649BA32F" ma:contentTypeVersion="2" ma:contentTypeDescription="Create a new document." ma:contentTypeScope="" ma:versionID="aae89019408edec735598889a18020f4">
  <xsd:schema xmlns:xsd="http://www.w3.org/2001/XMLSchema" xmlns:xs="http://www.w3.org/2001/XMLSchema" xmlns:p="http://schemas.microsoft.com/office/2006/metadata/properties" xmlns:ns2="5b6591ad-ea12-4171-9f8d-d3da4e6d0b71" targetNamespace="http://schemas.microsoft.com/office/2006/metadata/properties" ma:root="true" ma:fieldsID="ff9dfd69c85da2a004e24f7fef732fe4" ns2:_="">
    <xsd:import namespace="5b6591ad-ea12-4171-9f8d-d3da4e6d0b7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6591ad-ea12-4171-9f8d-d3da4e6d0b7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CC4CF1-44BD-453B-891B-2A44097BD429}">
  <ds:schemaRefs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0F3B2F3-80E0-4FF4-94A8-C60C9800B7BD}"/>
</file>

<file path=customXml/itemProps3.xml><?xml version="1.0" encoding="utf-8"?>
<ds:datastoreItem xmlns:ds="http://schemas.openxmlformats.org/officeDocument/2006/customXml" ds:itemID="{D9930AB0-7A63-4AE8-BD1A-808D47E493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4666</TotalTime>
  <Words>188</Words>
  <Application>Microsoft Office PowerPoint</Application>
  <PresentationFormat>Widescreen</PresentationFormat>
  <Paragraphs>69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Calibri (MS)</vt:lpstr>
      <vt:lpstr>Calibri (MS) Bold</vt:lpstr>
      <vt:lpstr>Calibri (MS) Bold Italics</vt:lpstr>
      <vt:lpstr>Muli Semi-Bold</vt:lpstr>
      <vt:lpstr>Space Grotesk</vt:lpstr>
      <vt:lpstr>Arial</vt:lpstr>
      <vt:lpstr>Calibri</vt:lpstr>
      <vt:lpstr>Calibri Light</vt:lpstr>
      <vt:lpstr>Hind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Increase Productivity by corporate mobile   Complete the implementation of application tunnelling - WSO</dc:title>
  <dc:creator>CHAN Wing-suet, Rosy</dc:creator>
  <cp:lastModifiedBy>LAM Yeuk-yu, Oscar</cp:lastModifiedBy>
  <cp:revision>110</cp:revision>
  <dcterms:created xsi:type="dcterms:W3CDTF">2025-06-04T13:35:33Z</dcterms:created>
  <dcterms:modified xsi:type="dcterms:W3CDTF">2025-12-19T07:49:16Z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0x010100BC44FBE92949FF498A292267649BA32F</vt:lpwstr>
  </property>
</Properties>
</file>