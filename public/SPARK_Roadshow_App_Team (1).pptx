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84" r:id="rId5"/>
    <p:sldId id="297" r:id="rId6"/>
    <p:sldId id="303" r:id="rId7"/>
    <p:sldId id="265" r:id="rId8"/>
    <p:sldId id="304" r:id="rId9"/>
    <p:sldId id="296" r:id="rId10"/>
    <p:sldId id="267" r:id="rId11"/>
    <p:sldId id="299" r:id="rId12"/>
    <p:sldId id="293" r:id="rId13"/>
    <p:sldId id="2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 Wing-suet, Rosy" initials="CWR" lastIdx="3" clrIdx="0">
    <p:extLst>
      <p:ext uri="{19B8F6BF-5375-455C-9EA6-DF929625EA0E}">
        <p15:presenceInfo xmlns:p15="http://schemas.microsoft.com/office/powerpoint/2012/main" userId="S-1-5-21-55129486-1200372844-1231754661-756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E6E6E6"/>
    <a:srgbClr val="990033"/>
    <a:srgbClr val="111B0B"/>
    <a:srgbClr val="F3CFCF"/>
    <a:srgbClr val="3C1A56"/>
    <a:srgbClr val="660066"/>
    <a:srgbClr val="481F67"/>
    <a:srgbClr val="9999FF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6265" autoAdjust="0"/>
  </p:normalViewPr>
  <p:slideViewPr>
    <p:cSldViewPr snapToGrid="0">
      <p:cViewPr varScale="1">
        <p:scale>
          <a:sx n="99" d="100"/>
          <a:sy n="99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1E83E-11D8-4D34-8662-563946D4199B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B95DF-DE24-4A0C-AFA8-0681F8E6A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96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F4B8A2-5BF1-4017-8D77-B6436F07A4A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535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4A08B-AD02-4DC7-9F43-8F1569C13BB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538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4A08B-AD02-4DC7-9F43-8F1569C13BB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062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4A08B-AD02-4DC7-9F43-8F1569C13BB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215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4A08B-AD02-4DC7-9F43-8F1569C13BB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48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6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43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1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27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518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29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1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55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15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96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B3A78-9AE4-4ACD-AAC7-C914B51454A8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34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935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7796"/>
            <a:ext cx="3012140" cy="544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78106"/>
            <a:ext cx="12192000" cy="21761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4096753"/>
            <a:ext cx="12192000" cy="1881353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72760" y="4230269"/>
            <a:ext cx="11723989" cy="1669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900" b="1" kern="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Hong Kong Monetary Authority</a:t>
            </a:r>
          </a:p>
          <a:p>
            <a:endParaRPr lang="en-GB" sz="1900" b="1" kern="0" dirty="0">
              <a:solidFill>
                <a:srgbClr val="6732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>
              <a:lnSpc>
                <a:spcPct val="150000"/>
              </a:lnSpc>
            </a:pPr>
            <a:r>
              <a:rPr lang="en-GB" sz="3000" b="1" kern="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Team Mailbox Assistant (SPARK) – Roadshow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20500000000000000" charset="0"/>
                <a:cs typeface="Arial" panose="020B0604020202020204" pitchFamily="34" charset="0"/>
              </a:rPr>
              <a:t>SPARK Team  D</a:t>
            </a:r>
            <a:r>
              <a:rPr lang="en-US" altLang="zh-CN" sz="220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20500000000000000" charset="0"/>
                <a:cs typeface="Arial" panose="020B0604020202020204" pitchFamily="34" charset="0"/>
              </a:rPr>
              <a:t>ec</a:t>
            </a:r>
            <a:r>
              <a:rPr lang="en-US" altLang="zh-TW" sz="220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20500000000000000" charset="0"/>
                <a:cs typeface="Arial" panose="020B0604020202020204" pitchFamily="34" charset="0"/>
              </a:rPr>
              <a:t> 2025</a:t>
            </a:r>
            <a:endParaRPr lang="en-GB" sz="2200" dirty="0">
              <a:solidFill>
                <a:srgbClr val="6732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2050000000000000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10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69;p36">
            <a:extLst>
              <a:ext uri="{FF2B5EF4-FFF2-40B4-BE49-F238E27FC236}">
                <a16:creationId xmlns:a16="http://schemas.microsoft.com/office/drawing/2014/main" id="{2C788F6A-13DC-E80B-EB77-5EE58A4D49EF}"/>
              </a:ext>
            </a:extLst>
          </p:cNvPr>
          <p:cNvSpPr txBox="1"/>
          <p:nvPr/>
        </p:nvSpPr>
        <p:spPr>
          <a:xfrm>
            <a:off x="815238" y="5114069"/>
            <a:ext cx="4022997" cy="77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" name="Google Shape;264;p36">
            <a:extLst>
              <a:ext uri="{FF2B5EF4-FFF2-40B4-BE49-F238E27FC236}">
                <a16:creationId xmlns:a16="http://schemas.microsoft.com/office/drawing/2014/main" id="{44F30313-EB6F-2B01-F04F-594C40CCF098}"/>
              </a:ext>
            </a:extLst>
          </p:cNvPr>
          <p:cNvSpPr txBox="1"/>
          <p:nvPr/>
        </p:nvSpPr>
        <p:spPr>
          <a:xfrm>
            <a:off x="1016108" y="1314630"/>
            <a:ext cx="4351939" cy="64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endParaRPr lang="en-GB"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endParaRPr lang="en-GB"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endParaRPr lang="en-GB"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r>
              <a:rPr lang="en-GB" sz="2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SPARK</a:t>
            </a:r>
            <a:endParaRPr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" name="Google Shape;265;p36">
            <a:extLst>
              <a:ext uri="{FF2B5EF4-FFF2-40B4-BE49-F238E27FC236}">
                <a16:creationId xmlns:a16="http://schemas.microsoft.com/office/drawing/2014/main" id="{38644BE5-A9E3-D0DB-2688-11EFB2EF183F}"/>
              </a:ext>
            </a:extLst>
          </p:cNvPr>
          <p:cNvSpPr txBox="1"/>
          <p:nvPr/>
        </p:nvSpPr>
        <p:spPr>
          <a:xfrm>
            <a:off x="1016108" y="1907989"/>
            <a:ext cx="4351939" cy="82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6" name="Google Shape;266;p36">
            <a:extLst>
              <a:ext uri="{FF2B5EF4-FFF2-40B4-BE49-F238E27FC236}">
                <a16:creationId xmlns:a16="http://schemas.microsoft.com/office/drawing/2014/main" id="{0D8B5ACB-6CB5-D746-76EE-A9197E946A71}"/>
              </a:ext>
            </a:extLst>
          </p:cNvPr>
          <p:cNvSpPr txBox="1"/>
          <p:nvPr/>
        </p:nvSpPr>
        <p:spPr>
          <a:xfrm>
            <a:off x="6261813" y="3093253"/>
            <a:ext cx="4351939" cy="64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SPARK Differs</a:t>
            </a:r>
            <a:endParaRPr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" name="Google Shape;272;p36">
            <a:extLst>
              <a:ext uri="{FF2B5EF4-FFF2-40B4-BE49-F238E27FC236}">
                <a16:creationId xmlns:a16="http://schemas.microsoft.com/office/drawing/2014/main" id="{6FF0DE4C-FF66-81AC-3A6A-54209543DBB5}"/>
              </a:ext>
            </a:extLst>
          </p:cNvPr>
          <p:cNvSpPr txBox="1"/>
          <p:nvPr/>
        </p:nvSpPr>
        <p:spPr>
          <a:xfrm>
            <a:off x="1000328" y="4793636"/>
            <a:ext cx="4351939" cy="64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SPARK benefits users</a:t>
            </a:r>
          </a:p>
        </p:txBody>
      </p:sp>
      <p:sp>
        <p:nvSpPr>
          <p:cNvPr id="13" name="Google Shape;273;p36">
            <a:extLst>
              <a:ext uri="{FF2B5EF4-FFF2-40B4-BE49-F238E27FC236}">
                <a16:creationId xmlns:a16="http://schemas.microsoft.com/office/drawing/2014/main" id="{0645A6E0-A272-82B0-1E47-A5E0500C9695}"/>
              </a:ext>
            </a:extLst>
          </p:cNvPr>
          <p:cNvSpPr txBox="1"/>
          <p:nvPr/>
        </p:nvSpPr>
        <p:spPr>
          <a:xfrm>
            <a:off x="987874" y="5329864"/>
            <a:ext cx="4351939" cy="829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4" name="Google Shape;274;p36">
            <a:extLst>
              <a:ext uri="{FF2B5EF4-FFF2-40B4-BE49-F238E27FC236}">
                <a16:creationId xmlns:a16="http://schemas.microsoft.com/office/drawing/2014/main" id="{A3753CA5-DD39-FDB8-843E-B639B6562040}"/>
              </a:ext>
            </a:extLst>
          </p:cNvPr>
          <p:cNvSpPr txBox="1"/>
          <p:nvPr/>
        </p:nvSpPr>
        <p:spPr>
          <a:xfrm>
            <a:off x="6329172" y="4793636"/>
            <a:ext cx="4351939" cy="64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Q&amp;A</a:t>
            </a:r>
          </a:p>
        </p:txBody>
      </p:sp>
      <p:sp>
        <p:nvSpPr>
          <p:cNvPr id="16" name="Google Shape;276;p36">
            <a:extLst>
              <a:ext uri="{FF2B5EF4-FFF2-40B4-BE49-F238E27FC236}">
                <a16:creationId xmlns:a16="http://schemas.microsoft.com/office/drawing/2014/main" id="{EBC5CA3F-8FC3-5648-85BA-5C77C0BA24AA}"/>
              </a:ext>
            </a:extLst>
          </p:cNvPr>
          <p:cNvSpPr/>
          <p:nvPr/>
        </p:nvSpPr>
        <p:spPr>
          <a:xfrm>
            <a:off x="739993" y="1619201"/>
            <a:ext cx="162997" cy="16322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77;p36">
            <a:extLst>
              <a:ext uri="{FF2B5EF4-FFF2-40B4-BE49-F238E27FC236}">
                <a16:creationId xmlns:a16="http://schemas.microsoft.com/office/drawing/2014/main" id="{45A9378C-F61E-377A-1B47-B88934ABA34A}"/>
              </a:ext>
            </a:extLst>
          </p:cNvPr>
          <p:cNvSpPr/>
          <p:nvPr/>
        </p:nvSpPr>
        <p:spPr>
          <a:xfrm>
            <a:off x="739993" y="3424053"/>
            <a:ext cx="162997" cy="16322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278;p36">
            <a:extLst>
              <a:ext uri="{FF2B5EF4-FFF2-40B4-BE49-F238E27FC236}">
                <a16:creationId xmlns:a16="http://schemas.microsoft.com/office/drawing/2014/main" id="{3291782D-79A9-1567-ADAE-C06D5E020479}"/>
              </a:ext>
            </a:extLst>
          </p:cNvPr>
          <p:cNvSpPr/>
          <p:nvPr/>
        </p:nvSpPr>
        <p:spPr>
          <a:xfrm>
            <a:off x="739993" y="5115627"/>
            <a:ext cx="162997" cy="16322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279;p36">
            <a:extLst>
              <a:ext uri="{FF2B5EF4-FFF2-40B4-BE49-F238E27FC236}">
                <a16:creationId xmlns:a16="http://schemas.microsoft.com/office/drawing/2014/main" id="{07EB34CC-A493-68FF-BEB9-8CE988AEB2BB}"/>
              </a:ext>
            </a:extLst>
          </p:cNvPr>
          <p:cNvSpPr/>
          <p:nvPr/>
        </p:nvSpPr>
        <p:spPr>
          <a:xfrm>
            <a:off x="5848690" y="1619201"/>
            <a:ext cx="162997" cy="16322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280;p36">
            <a:extLst>
              <a:ext uri="{FF2B5EF4-FFF2-40B4-BE49-F238E27FC236}">
                <a16:creationId xmlns:a16="http://schemas.microsoft.com/office/drawing/2014/main" id="{C083EFCD-46A5-2CD3-66FC-BC972AEE568E}"/>
              </a:ext>
            </a:extLst>
          </p:cNvPr>
          <p:cNvSpPr/>
          <p:nvPr/>
        </p:nvSpPr>
        <p:spPr>
          <a:xfrm>
            <a:off x="5848690" y="3367414"/>
            <a:ext cx="162997" cy="16322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81;p36">
            <a:extLst>
              <a:ext uri="{FF2B5EF4-FFF2-40B4-BE49-F238E27FC236}">
                <a16:creationId xmlns:a16="http://schemas.microsoft.com/office/drawing/2014/main" id="{10B653D3-3137-AE9C-3BD6-935365C396FB}"/>
              </a:ext>
            </a:extLst>
          </p:cNvPr>
          <p:cNvSpPr/>
          <p:nvPr/>
        </p:nvSpPr>
        <p:spPr>
          <a:xfrm>
            <a:off x="5848690" y="5115627"/>
            <a:ext cx="162997" cy="16322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" name="Google Shape;282;p36">
            <a:extLst>
              <a:ext uri="{FF2B5EF4-FFF2-40B4-BE49-F238E27FC236}">
                <a16:creationId xmlns:a16="http://schemas.microsoft.com/office/drawing/2014/main" id="{C4DA43E3-4A7E-8647-CBBF-59C868FCBB33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>
            <a:off x="821492" y="1782428"/>
            <a:ext cx="0" cy="16416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83;p36">
            <a:extLst>
              <a:ext uri="{FF2B5EF4-FFF2-40B4-BE49-F238E27FC236}">
                <a16:creationId xmlns:a16="http://schemas.microsoft.com/office/drawing/2014/main" id="{5532E6C6-71BD-9DD5-7B68-D957C62656DD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>
            <a:off x="821492" y="3587279"/>
            <a:ext cx="0" cy="15283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284;p36">
            <a:extLst>
              <a:ext uri="{FF2B5EF4-FFF2-40B4-BE49-F238E27FC236}">
                <a16:creationId xmlns:a16="http://schemas.microsoft.com/office/drawing/2014/main" id="{133FA659-DB85-53F1-77A5-F895442B789E}"/>
              </a:ext>
            </a:extLst>
          </p:cNvPr>
          <p:cNvCxnSpPr>
            <a:cxnSpLocks/>
            <a:endCxn id="19" idx="2"/>
          </p:cNvCxnSpPr>
          <p:nvPr/>
        </p:nvCxnSpPr>
        <p:spPr>
          <a:xfrm rot="10800000" flipH="1">
            <a:off x="5368109" y="1700799"/>
            <a:ext cx="480531" cy="3496441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Google Shape;285;p36">
            <a:extLst>
              <a:ext uri="{FF2B5EF4-FFF2-40B4-BE49-F238E27FC236}">
                <a16:creationId xmlns:a16="http://schemas.microsoft.com/office/drawing/2014/main" id="{45A677A7-1EDE-223E-6429-E0841AC2CA0D}"/>
              </a:ext>
            </a:extLst>
          </p:cNvPr>
          <p:cNvCxnSpPr>
            <a:stCxn id="19" idx="4"/>
            <a:endCxn id="20" idx="0"/>
          </p:cNvCxnSpPr>
          <p:nvPr/>
        </p:nvCxnSpPr>
        <p:spPr>
          <a:xfrm>
            <a:off x="5930188" y="1782428"/>
            <a:ext cx="0" cy="1584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286;p36">
            <a:extLst>
              <a:ext uri="{FF2B5EF4-FFF2-40B4-BE49-F238E27FC236}">
                <a16:creationId xmlns:a16="http://schemas.microsoft.com/office/drawing/2014/main" id="{904ACB74-BEE8-F419-DF61-E0715487067B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>
            <a:off x="5930188" y="3530641"/>
            <a:ext cx="0" cy="1584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1F7D827-DE29-6A8B-0CCB-C1F5EFF64F04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29EF03F-22BD-9223-99B7-F028030CDF4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313301"/>
            <a:ext cx="3012140" cy="54469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20A1710E-BA02-33DC-D474-F9CE3EDDEB30}"/>
              </a:ext>
            </a:extLst>
          </p:cNvPr>
          <p:cNvSpPr txBox="1">
            <a:spLocks/>
          </p:cNvSpPr>
          <p:nvPr/>
        </p:nvSpPr>
        <p:spPr>
          <a:xfrm>
            <a:off x="291488" y="69774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i="1" dirty="0">
                <a:latin typeface="+mn-lt"/>
                <a:ea typeface="Roboto" panose="02020500000000000000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9" name="Google Shape;279;p36">
            <a:extLst>
              <a:ext uri="{FF2B5EF4-FFF2-40B4-BE49-F238E27FC236}">
                <a16:creationId xmlns:a16="http://schemas.microsoft.com/office/drawing/2014/main" id="{2D207B81-30FE-8556-BC9B-45CBE9912121}"/>
              </a:ext>
            </a:extLst>
          </p:cNvPr>
          <p:cNvSpPr/>
          <p:nvPr/>
        </p:nvSpPr>
        <p:spPr>
          <a:xfrm>
            <a:off x="5848640" y="5115627"/>
            <a:ext cx="162997" cy="163226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266;p36">
            <a:extLst>
              <a:ext uri="{FF2B5EF4-FFF2-40B4-BE49-F238E27FC236}">
                <a16:creationId xmlns:a16="http://schemas.microsoft.com/office/drawing/2014/main" id="{B7C076DE-77DA-AF50-0E45-5E72E1D75FA3}"/>
              </a:ext>
            </a:extLst>
          </p:cNvPr>
          <p:cNvSpPr txBox="1"/>
          <p:nvPr/>
        </p:nvSpPr>
        <p:spPr>
          <a:xfrm>
            <a:off x="1019371" y="3156688"/>
            <a:ext cx="4351939" cy="64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SPARK </a:t>
            </a:r>
            <a:endParaRPr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" name="Google Shape;266;p36">
            <a:extLst>
              <a:ext uri="{FF2B5EF4-FFF2-40B4-BE49-F238E27FC236}">
                <a16:creationId xmlns:a16="http://schemas.microsoft.com/office/drawing/2014/main" id="{18D628A7-1BFA-9EBC-47C9-74519AEAA1EA}"/>
              </a:ext>
            </a:extLst>
          </p:cNvPr>
          <p:cNvSpPr txBox="1"/>
          <p:nvPr/>
        </p:nvSpPr>
        <p:spPr>
          <a:xfrm>
            <a:off x="6261812" y="1319220"/>
            <a:ext cx="4351939" cy="64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Demo</a:t>
            </a:r>
            <a:endParaRPr sz="2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" name="Google Shape;265;p36">
            <a:extLst>
              <a:ext uri="{FF2B5EF4-FFF2-40B4-BE49-F238E27FC236}">
                <a16:creationId xmlns:a16="http://schemas.microsoft.com/office/drawing/2014/main" id="{490C7C84-3FB2-89AD-015C-5ED97ECB0B96}"/>
              </a:ext>
            </a:extLst>
          </p:cNvPr>
          <p:cNvSpPr txBox="1"/>
          <p:nvPr/>
        </p:nvSpPr>
        <p:spPr>
          <a:xfrm>
            <a:off x="1044560" y="3681421"/>
            <a:ext cx="4351939" cy="82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  <p:extLst>
      <p:ext uri="{BB962C8B-B14F-4D97-AF65-F5344CB8AC3E}">
        <p14:creationId xmlns:p14="http://schemas.microsoft.com/office/powerpoint/2010/main" val="97621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98461"/>
            <a:ext cx="3012140" cy="544699"/>
          </a:xfrm>
          <a:prstGeom prst="rect">
            <a:avLst/>
          </a:prstGeom>
        </p:spPr>
      </p:pic>
      <p:cxnSp>
        <p:nvCxnSpPr>
          <p:cNvPr id="20" name="Google Shape;1558;p47">
            <a:extLst>
              <a:ext uri="{FF2B5EF4-FFF2-40B4-BE49-F238E27FC236}">
                <a16:creationId xmlns:a16="http://schemas.microsoft.com/office/drawing/2014/main" id="{AD0D6ABE-03AC-A310-EFC9-34D0BF356B0B}"/>
              </a:ext>
            </a:extLst>
          </p:cNvPr>
          <p:cNvCxnSpPr>
            <a:cxnSpLocks/>
          </p:cNvCxnSpPr>
          <p:nvPr/>
        </p:nvCxnSpPr>
        <p:spPr>
          <a:xfrm rot="10800000" flipH="1">
            <a:off x="537075" y="4079917"/>
            <a:ext cx="3825529" cy="13503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" name="Google Shape;1561;p47">
            <a:extLst>
              <a:ext uri="{FF2B5EF4-FFF2-40B4-BE49-F238E27FC236}">
                <a16:creationId xmlns:a16="http://schemas.microsoft.com/office/drawing/2014/main" id="{2FF20B6B-9E2E-B34E-F049-E321ED8F9D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537075" y="5194273"/>
            <a:ext cx="3825529" cy="1964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" name="Google Shape;1564;p47">
            <a:extLst>
              <a:ext uri="{FF2B5EF4-FFF2-40B4-BE49-F238E27FC236}">
                <a16:creationId xmlns:a16="http://schemas.microsoft.com/office/drawing/2014/main" id="{E6301113-FF8C-1B64-7542-C4A7031D34F0}"/>
              </a:ext>
            </a:extLst>
          </p:cNvPr>
          <p:cNvCxnSpPr>
            <a:cxnSpLocks/>
          </p:cNvCxnSpPr>
          <p:nvPr/>
        </p:nvCxnSpPr>
        <p:spPr>
          <a:xfrm>
            <a:off x="537075" y="3012061"/>
            <a:ext cx="3825529" cy="0"/>
          </a:xfrm>
          <a:prstGeom prst="straightConnector1">
            <a:avLst/>
          </a:prstGeom>
          <a:noFill/>
          <a:ln w="19050" cap="flat" cmpd="sng">
            <a:solidFill>
              <a:schemeClr val="accent4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1555;p47">
            <a:extLst>
              <a:ext uri="{FF2B5EF4-FFF2-40B4-BE49-F238E27FC236}">
                <a16:creationId xmlns:a16="http://schemas.microsoft.com/office/drawing/2014/main" id="{45C036D2-D308-9A9C-4C89-5D49C6E9B971}"/>
              </a:ext>
            </a:extLst>
          </p:cNvPr>
          <p:cNvCxnSpPr>
            <a:cxnSpLocks/>
          </p:cNvCxnSpPr>
          <p:nvPr/>
        </p:nvCxnSpPr>
        <p:spPr>
          <a:xfrm flipV="1">
            <a:off x="537075" y="1831568"/>
            <a:ext cx="3825529" cy="1851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3D79A046-8888-0ACA-921E-26439E6235CD}"/>
              </a:ext>
            </a:extLst>
          </p:cNvPr>
          <p:cNvSpPr txBox="1">
            <a:spLocks/>
          </p:cNvSpPr>
          <p:nvPr/>
        </p:nvSpPr>
        <p:spPr>
          <a:xfrm>
            <a:off x="291488" y="69774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i="1" dirty="0">
                <a:latin typeface="+mn-lt"/>
                <a:ea typeface="Roboto" panose="02020500000000000000" charset="0"/>
                <a:cs typeface="Arial" panose="020B0604020202020204" pitchFamily="34" charset="0"/>
              </a:rPr>
              <a:t>Why need SPARK?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AE369B-EEB5-FBC7-1369-66FDC2E36DDB}"/>
              </a:ext>
            </a:extLst>
          </p:cNvPr>
          <p:cNvSpPr/>
          <p:nvPr/>
        </p:nvSpPr>
        <p:spPr>
          <a:xfrm>
            <a:off x="537075" y="1413789"/>
            <a:ext cx="2779002" cy="83555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0" dirty="0">
                <a:solidFill>
                  <a:srgbClr val="2B262B"/>
                </a:solidFill>
                <a:effectLst/>
              </a:rPr>
              <a:t>High volumes of emails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7C3C12-B26A-24AC-8D59-3A205D5CF0BE}"/>
              </a:ext>
            </a:extLst>
          </p:cNvPr>
          <p:cNvSpPr/>
          <p:nvPr/>
        </p:nvSpPr>
        <p:spPr>
          <a:xfrm>
            <a:off x="537075" y="2630098"/>
            <a:ext cx="2779002" cy="76150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0" dirty="0">
                <a:solidFill>
                  <a:srgbClr val="2B262B"/>
                </a:solidFill>
                <a:effectLst/>
              </a:rPr>
              <a:t>Lack of consolidated actions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27D13D-3618-D51A-4F76-FF684AC739A4}"/>
              </a:ext>
            </a:extLst>
          </p:cNvPr>
          <p:cNvSpPr/>
          <p:nvPr/>
        </p:nvSpPr>
        <p:spPr>
          <a:xfrm>
            <a:off x="537075" y="4865315"/>
            <a:ext cx="2779002" cy="76150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0" dirty="0">
                <a:solidFill>
                  <a:schemeClr val="bg1"/>
                </a:solidFill>
                <a:effectLst/>
              </a:rPr>
              <a:t>Limitations of Outlook’s rule‑based categorisation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AB26A5-ED8D-4F9E-1C99-AA501BC1A66F}"/>
              </a:ext>
            </a:extLst>
          </p:cNvPr>
          <p:cNvSpPr/>
          <p:nvPr/>
        </p:nvSpPr>
        <p:spPr>
          <a:xfrm>
            <a:off x="537075" y="3711483"/>
            <a:ext cx="2779002" cy="7615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0" dirty="0">
                <a:solidFill>
                  <a:srgbClr val="2B262B"/>
                </a:solidFill>
                <a:effectLst/>
              </a:rPr>
              <a:t>Inadequate management of team mailboxes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A68F1D-6891-674A-5F6C-D77E9CF11F05}"/>
              </a:ext>
            </a:extLst>
          </p:cNvPr>
          <p:cNvSpPr txBox="1"/>
          <p:nvPr/>
        </p:nvSpPr>
        <p:spPr>
          <a:xfrm>
            <a:off x="5143551" y="2508242"/>
            <a:ext cx="609783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incoming emails:</a:t>
            </a:r>
          </a:p>
          <a:p>
            <a:pPr algn="ctr"/>
            <a:r>
              <a:rPr lang="en-GB" sz="1600" b="0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action is required?</a:t>
            </a:r>
          </a:p>
          <a:p>
            <a:pPr lvl="1" algn="ctr"/>
            <a:r>
              <a:rPr lang="en-GB" sz="1600" b="0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Am I responsible for this email? Or is it for information only?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67AB5D-5A38-79E2-5D00-8D7E5B40DA64}"/>
              </a:ext>
            </a:extLst>
          </p:cNvPr>
          <p:cNvSpPr/>
          <p:nvPr/>
        </p:nvSpPr>
        <p:spPr>
          <a:xfrm>
            <a:off x="4559132" y="3557017"/>
            <a:ext cx="7266673" cy="1045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Management-level needs:</a:t>
            </a:r>
          </a:p>
          <a:p>
            <a:pPr lvl="1" algn="ctr"/>
            <a:r>
              <a:rPr lang="en-GB" sz="1600" b="0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 IT teams: frequency and trends of recurring alert types.</a:t>
            </a:r>
          </a:p>
          <a:p>
            <a:pPr lvl="1" algn="ctr"/>
            <a:r>
              <a:rPr lang="en-GB" sz="1600" b="0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Helpdesk: frequency and distribution of request types and common questions.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8E7112-A650-E21C-C123-AAA3B7514A6F}"/>
              </a:ext>
            </a:extLst>
          </p:cNvPr>
          <p:cNvSpPr txBox="1"/>
          <p:nvPr/>
        </p:nvSpPr>
        <p:spPr>
          <a:xfrm>
            <a:off x="4947020" y="4994217"/>
            <a:ext cx="6490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Keywords/condition-only rules:</a:t>
            </a:r>
          </a:p>
          <a:p>
            <a:pPr algn="ctr"/>
            <a:r>
              <a:rPr lang="en-GB" sz="1600" dirty="0">
                <a:solidFill>
                  <a:srgbClr val="2B262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 to define rules, context is not considered</a:t>
            </a:r>
            <a:endParaRPr lang="en-GB" sz="2000" b="1" i="0" dirty="0">
              <a:solidFill>
                <a:srgbClr val="2B262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D2C210-29FB-D635-4FDE-34F40AAE1130}"/>
              </a:ext>
            </a:extLst>
          </p:cNvPr>
          <p:cNvSpPr txBox="1"/>
          <p:nvPr/>
        </p:nvSpPr>
        <p:spPr>
          <a:xfrm>
            <a:off x="5664980" y="1501288"/>
            <a:ext cx="50549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Manual effort needed to consolidate:</a:t>
            </a:r>
            <a:endParaRPr lang="en-GB" b="0" i="0" dirty="0">
              <a:solidFill>
                <a:srgbClr val="2B262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600" b="0" i="0" dirty="0">
                <a:solidFill>
                  <a:srgbClr val="2B262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prioritisation or allocation of emails to owners.</a:t>
            </a:r>
          </a:p>
        </p:txBody>
      </p:sp>
    </p:spTree>
    <p:extLst>
      <p:ext uri="{BB962C8B-B14F-4D97-AF65-F5344CB8AC3E}">
        <p14:creationId xmlns:p14="http://schemas.microsoft.com/office/powerpoint/2010/main" val="28017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488" y="69774"/>
            <a:ext cx="8453712" cy="885625"/>
            <a:chOff x="0" y="0"/>
            <a:chExt cx="16907424" cy="1771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7424" cy="1771250"/>
            </a:xfrm>
            <a:custGeom>
              <a:avLst/>
              <a:gdLst/>
              <a:ahLst/>
              <a:cxnLst/>
              <a:rect l="l" t="t" r="r" b="b"/>
              <a:pathLst>
                <a:path w="16907424" h="1771250">
                  <a:moveTo>
                    <a:pt x="0" y="0"/>
                  </a:moveTo>
                  <a:lnTo>
                    <a:pt x="16907424" y="0"/>
                  </a:lnTo>
                  <a:lnTo>
                    <a:pt x="16907424" y="1771250"/>
                  </a:lnTo>
                  <a:lnTo>
                    <a:pt x="0" y="1771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6907424" cy="1837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en-GB" sz="3600" b="1" i="1" dirty="0">
                  <a:latin typeface="+mn-lt"/>
                  <a:ea typeface="Roboto" panose="02020500000000000000" charset="0"/>
                  <a:cs typeface="Arial" panose="020B0604020202020204" pitchFamily="34" charset="0"/>
                </a:rPr>
                <a:t>What is SPARK?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81453" y="6313301"/>
            <a:ext cx="3012140" cy="544699"/>
            <a:chOff x="0" y="0"/>
            <a:chExt cx="6024280" cy="10893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24245" cy="1089406"/>
            </a:xfrm>
            <a:custGeom>
              <a:avLst/>
              <a:gdLst/>
              <a:ahLst/>
              <a:cxnLst/>
              <a:rect l="l" t="t" r="r" b="b"/>
              <a:pathLst>
                <a:path w="6024245" h="1089406">
                  <a:moveTo>
                    <a:pt x="0" y="0"/>
                  </a:moveTo>
                  <a:lnTo>
                    <a:pt x="6024245" y="0"/>
                  </a:lnTo>
                  <a:lnTo>
                    <a:pt x="6024245" y="1089406"/>
                  </a:lnTo>
                  <a:lnTo>
                    <a:pt x="0" y="1089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81453" cy="6913380"/>
            <a:chOff x="0" y="0"/>
            <a:chExt cx="360000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0045" cy="13716000"/>
            </a:xfrm>
            <a:custGeom>
              <a:avLst/>
              <a:gdLst/>
              <a:ahLst/>
              <a:cxnLst/>
              <a:rect l="l" t="t" r="r" b="b"/>
              <a:pathLst>
                <a:path w="360045" h="13716000">
                  <a:moveTo>
                    <a:pt x="0" y="0"/>
                  </a:moveTo>
                  <a:lnTo>
                    <a:pt x="360045" y="0"/>
                  </a:lnTo>
                  <a:lnTo>
                    <a:pt x="36004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8C3C94">
                    <a:alpha val="100000"/>
                  </a:srgbClr>
                </a:gs>
                <a:gs pos="39000">
                  <a:srgbClr val="D2E1FF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3C2668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9" name="Group 9"/>
          <p:cNvGrpSpPr/>
          <p:nvPr/>
        </p:nvGrpSpPr>
        <p:grpSpPr>
          <a:xfrm>
            <a:off x="711413" y="1829685"/>
            <a:ext cx="3301574" cy="3254011"/>
            <a:chOff x="0" y="0"/>
            <a:chExt cx="3736132" cy="36823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7328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3736132" cy="375851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1680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19600" y="1829685"/>
            <a:ext cx="3301574" cy="3254011"/>
            <a:chOff x="0" y="0"/>
            <a:chExt cx="3736132" cy="36823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7328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3736132" cy="375851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1680"/>
                </a:lnSpc>
              </a:pPr>
              <a:endParaRPr sz="12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79013" y="1829685"/>
            <a:ext cx="3301574" cy="3254011"/>
            <a:chOff x="0" y="0"/>
            <a:chExt cx="3736132" cy="36823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7328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3736132" cy="375851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1680"/>
                </a:lnSpc>
              </a:pPr>
              <a:endParaRPr sz="120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9924" y="3158252"/>
            <a:ext cx="2724553" cy="1839803"/>
            <a:chOff x="0" y="-76200"/>
            <a:chExt cx="5449107" cy="3679601"/>
          </a:xfrm>
        </p:grpSpPr>
        <p:sp>
          <p:nvSpPr>
            <p:cNvPr id="19" name="TextBox 19"/>
            <p:cNvSpPr txBox="1"/>
            <p:nvPr/>
          </p:nvSpPr>
          <p:spPr>
            <a:xfrm>
              <a:off x="0" y="702097"/>
              <a:ext cx="5449107" cy="2901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lnSpc>
                  <a:spcPts val="1906"/>
                </a:lnSpc>
                <a:buFontTx/>
                <a:buChar char="-"/>
              </a:pPr>
              <a:r>
                <a:rPr lang="en-GB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data leaves the VDI environment</a:t>
              </a: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r>
                <a:rPr lang="en-GB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locally within your own VDI</a:t>
              </a: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>
                <a:lnSpc>
                  <a:spcPts val="1906"/>
                </a:lnSpc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5449107" cy="5597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53"/>
                </a:lnSpc>
              </a:pPr>
              <a:r>
                <a:rPr lang="en-US" sz="1733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VD-Native Application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08111" y="3158252"/>
            <a:ext cx="2724553" cy="1839803"/>
            <a:chOff x="0" y="-76200"/>
            <a:chExt cx="5449107" cy="3679606"/>
          </a:xfrm>
        </p:grpSpPr>
        <p:sp>
          <p:nvSpPr>
            <p:cNvPr id="22" name="TextBox 22"/>
            <p:cNvSpPr txBox="1"/>
            <p:nvPr/>
          </p:nvSpPr>
          <p:spPr>
            <a:xfrm>
              <a:off x="0" y="702098"/>
              <a:ext cx="5449107" cy="290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lnSpc>
                  <a:spcPts val="1906"/>
                </a:lnSpc>
                <a:buFontTx/>
                <a:buChar char="-"/>
              </a:pPr>
              <a:r>
                <a:rPr lang="en-GB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Summarization, Categorization, and Configurator</a:t>
              </a: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r>
                <a:rPr lang="en-GB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Further functional integrations will be delivered.</a:t>
              </a: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5449107" cy="559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53"/>
                </a:lnSpc>
              </a:pPr>
              <a:r>
                <a:rPr lang="en-US" sz="1733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Utility Services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67524" y="3158252"/>
            <a:ext cx="2763697" cy="2083459"/>
            <a:chOff x="0" y="-76200"/>
            <a:chExt cx="5527395" cy="4166912"/>
          </a:xfrm>
        </p:grpSpPr>
        <p:sp>
          <p:nvSpPr>
            <p:cNvPr id="25" name="TextBox 25"/>
            <p:cNvSpPr txBox="1"/>
            <p:nvPr/>
          </p:nvSpPr>
          <p:spPr>
            <a:xfrm>
              <a:off x="0" y="702097"/>
              <a:ext cx="5527395" cy="3388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lnSpc>
                  <a:spcPts val="1906"/>
                </a:lnSpc>
                <a:buFontTx/>
                <a:buChar char="-"/>
              </a:pPr>
              <a:r>
                <a:rPr lang="en-GB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usernames or passwords stored</a:t>
              </a: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r>
                <a:rPr lang="en-GB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emails content stored</a:t>
              </a:r>
            </a:p>
            <a:p>
              <a:pPr marL="285750" indent="-285750">
                <a:lnSpc>
                  <a:spcPts val="1906"/>
                </a:lnSpc>
                <a:buFontTx/>
                <a:buChar char="-"/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>
                <a:lnSpc>
                  <a:spcPts val="1906"/>
                </a:lnSpc>
              </a:pPr>
              <a:endParaRPr lang="en-GB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>
                <a:lnSpc>
                  <a:spcPts val="1906"/>
                </a:lnSpc>
              </a:pPr>
              <a:endParaRPr lang="en-US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5527395" cy="5597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53"/>
                </a:lnSpc>
              </a:pPr>
              <a:r>
                <a:rPr lang="en-US" sz="1733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personal data stored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9924" y="2097045"/>
            <a:ext cx="807265" cy="807265"/>
            <a:chOff x="0" y="0"/>
            <a:chExt cx="1614529" cy="1614529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73280"/>
              </a:solidFill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74836" y="364882"/>
              <a:ext cx="1064859" cy="853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666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08111" y="2097045"/>
            <a:ext cx="807265" cy="807265"/>
            <a:chOff x="0" y="0"/>
            <a:chExt cx="1614529" cy="1614529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73280"/>
              </a:solidFill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74836" y="364882"/>
              <a:ext cx="1064859" cy="853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666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467524" y="2097045"/>
            <a:ext cx="807265" cy="807265"/>
            <a:chOff x="0" y="0"/>
            <a:chExt cx="1614529" cy="1614529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73280"/>
              </a:solidFill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274836" y="364882"/>
              <a:ext cx="1064859" cy="853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666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66562"/>
            <a:ext cx="3012140" cy="54469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DFD8DA3-0E87-55C9-98DF-605D8B5156D3}"/>
              </a:ext>
            </a:extLst>
          </p:cNvPr>
          <p:cNvSpPr txBox="1">
            <a:spLocks/>
          </p:cNvSpPr>
          <p:nvPr/>
        </p:nvSpPr>
        <p:spPr>
          <a:xfrm>
            <a:off x="291488" y="69774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i="1" dirty="0">
                <a:latin typeface="+mn-lt"/>
                <a:ea typeface="Roboto" panose="02020500000000000000" charset="0"/>
                <a:cs typeface="Arial" panose="020B0604020202020204" pitchFamily="34" charset="0"/>
              </a:rPr>
              <a:t>LLM-Based Utility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A04D2-48A0-C07F-E2E7-A86353499057}"/>
              </a:ext>
            </a:extLst>
          </p:cNvPr>
          <p:cNvSpPr txBox="1"/>
          <p:nvPr/>
        </p:nvSpPr>
        <p:spPr>
          <a:xfrm>
            <a:off x="2211177" y="1655914"/>
            <a:ext cx="7769646" cy="338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Summarisation</a:t>
            </a:r>
            <a:r>
              <a:rPr lang="en-GB" sz="1800" b="1" i="0" dirty="0">
                <a:solidFill>
                  <a:srgbClr val="2B262B"/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en-GB" sz="1800" b="1" i="0" dirty="0">
                <a:solidFill>
                  <a:srgbClr val="2B262B"/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Generate batch summaries of incoming emails (Insights layer)</a:t>
            </a:r>
          </a:p>
          <a:p>
            <a:pPr algn="ctr">
              <a:lnSpc>
                <a:spcPct val="150000"/>
              </a:lnSpc>
            </a:pPr>
            <a:endParaRPr lang="en-GB" sz="1800" b="1" i="0" dirty="0">
              <a:solidFill>
                <a:schemeClr val="accent1">
                  <a:lumMod val="75000"/>
                </a:schemeClr>
              </a:solidFill>
              <a:effectLst/>
              <a:latin typeface="Hind" panose="02000000000000000000" pitchFamily="2" charset="0"/>
              <a:cs typeface="Hind" panose="020000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GB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Categorisation</a:t>
            </a:r>
            <a:r>
              <a:rPr lang="en-GB" sz="1800" b="1" i="0" dirty="0">
                <a:solidFill>
                  <a:srgbClr val="2B262B"/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en-GB" sz="1800" b="1" i="0" dirty="0">
                <a:solidFill>
                  <a:srgbClr val="2B262B"/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Apply batch categorisation to incoming emails (Action layer).</a:t>
            </a:r>
          </a:p>
          <a:p>
            <a:pPr algn="ctr">
              <a:lnSpc>
                <a:spcPct val="150000"/>
              </a:lnSpc>
            </a:pPr>
            <a:endParaRPr lang="en-GB" sz="1800" b="1" i="0" dirty="0">
              <a:solidFill>
                <a:schemeClr val="accent1">
                  <a:lumMod val="75000"/>
                </a:schemeClr>
              </a:solidFill>
              <a:effectLst/>
              <a:latin typeface="Hind" panose="02000000000000000000" pitchFamily="2" charset="0"/>
              <a:cs typeface="Hind" panose="020000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Hind" panose="02000000000000000000" pitchFamily="2" charset="0"/>
                <a:cs typeface="Hind" panose="02000000000000000000" pitchFamily="2" charset="0"/>
              </a:rPr>
              <a:t>Custom Configuration</a:t>
            </a:r>
            <a:r>
              <a:rPr lang="en-GB" sz="1800" b="1" i="0" dirty="0">
                <a:solidFill>
                  <a:srgbClr val="2B262B"/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en-GB" sz="1800" b="1" i="0" dirty="0">
                <a:solidFill>
                  <a:srgbClr val="2B262B"/>
                </a:solidFill>
                <a:effectLst/>
                <a:latin typeface="Hind" panose="02000000000000000000" pitchFamily="2" charset="0"/>
                <a:cs typeface="Hind" panose="02000000000000000000" pitchFamily="2" charset="0"/>
              </a:rPr>
              <a:t>Section for configurating categories and prompts for different needs.</a:t>
            </a:r>
          </a:p>
        </p:txBody>
      </p:sp>
    </p:spTree>
    <p:extLst>
      <p:ext uri="{BB962C8B-B14F-4D97-AF65-F5344CB8AC3E}">
        <p14:creationId xmlns:p14="http://schemas.microsoft.com/office/powerpoint/2010/main" val="179972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98461"/>
            <a:ext cx="3012140" cy="544699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440629" y="212738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SPARK benefits users</a:t>
            </a:r>
          </a:p>
          <a:p>
            <a:endParaRPr lang="en-GB" sz="3200" i="1" dirty="0">
              <a:latin typeface="+mn-lt"/>
              <a:ea typeface="Roboto" panose="02020500000000000000" charset="0"/>
              <a:cs typeface="Arial" panose="020B060402020202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4EE91F7-2D64-45A2-BBDD-3DFCC6BC4AF1}"/>
              </a:ext>
            </a:extLst>
          </p:cNvPr>
          <p:cNvSpPr txBox="1">
            <a:spLocks/>
          </p:cNvSpPr>
          <p:nvPr/>
        </p:nvSpPr>
        <p:spPr>
          <a:xfrm>
            <a:off x="7171832" y="2853696"/>
            <a:ext cx="5673835" cy="5960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i="1" dirty="0">
              <a:solidFill>
                <a:schemeClr val="bg1"/>
              </a:solidFill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84148530-A742-2A1A-D879-6C384E79C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169028"/>
              </p:ext>
            </p:extLst>
          </p:nvPr>
        </p:nvGraphicFramePr>
        <p:xfrm>
          <a:off x="2568005" y="1696600"/>
          <a:ext cx="9330213" cy="311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071">
                  <a:extLst>
                    <a:ext uri="{9D8B030D-6E8A-4147-A177-3AD203B41FA5}">
                      <a16:colId xmlns:a16="http://schemas.microsoft.com/office/drawing/2014/main" val="425015407"/>
                    </a:ext>
                  </a:extLst>
                </a:gridCol>
                <a:gridCol w="3110071">
                  <a:extLst>
                    <a:ext uri="{9D8B030D-6E8A-4147-A177-3AD203B41FA5}">
                      <a16:colId xmlns:a16="http://schemas.microsoft.com/office/drawing/2014/main" val="1518000575"/>
                    </a:ext>
                  </a:extLst>
                </a:gridCol>
                <a:gridCol w="3110071">
                  <a:extLst>
                    <a:ext uri="{9D8B030D-6E8A-4147-A177-3AD203B41FA5}">
                      <a16:colId xmlns:a16="http://schemas.microsoft.com/office/drawing/2014/main" val="955697995"/>
                    </a:ext>
                  </a:extLst>
                </a:gridCol>
              </a:tblGrid>
              <a:tr h="618639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Senior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Team lead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Working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40972"/>
                  </a:ext>
                </a:extLst>
              </a:tr>
              <a:tr h="1067788">
                <a:tc>
                  <a:txBody>
                    <a:bodyPr/>
                    <a:lstStyle/>
                    <a:p>
                      <a:pPr algn="ctr"/>
                      <a:b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</a:br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Receive team weekly/monthly report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8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</a:br>
                      <a:endParaRPr lang="en-US" sz="18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Frequency of types that teams received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US" altLang="zh-CN" sz="1600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Summary of tasks that are assigned to them</a:t>
                      </a:r>
                      <a:endParaRPr lang="en-GB" sz="1600" dirty="0">
                        <a:latin typeface="Hind" panose="02000000000000000000" pitchFamily="2" charset="0"/>
                        <a:cs typeface="Hind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314113"/>
                  </a:ext>
                </a:extLst>
              </a:tr>
              <a:tr h="10677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Clarify the allocation of emails types received </a:t>
                      </a:r>
                      <a:endParaRPr lang="en-GB" sz="1600" dirty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Clarify the allocation of emails types received 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View the result of the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categorisation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 (Both in outlook &amp; SPARK)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6485"/>
                  </a:ext>
                </a:extLst>
              </a:tr>
            </a:tbl>
          </a:graphicData>
        </a:graphic>
      </p:graphicFrame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7125B75-E958-EF84-9758-60FB9F1037C4}"/>
              </a:ext>
            </a:extLst>
          </p:cNvPr>
          <p:cNvSpPr/>
          <p:nvPr/>
        </p:nvSpPr>
        <p:spPr>
          <a:xfrm>
            <a:off x="440629" y="2604531"/>
            <a:ext cx="1866747" cy="544699"/>
          </a:xfrm>
          <a:prstGeom prst="roundRect">
            <a:avLst/>
          </a:prstGeom>
          <a:solidFill>
            <a:srgbClr val="E6E6E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70C0"/>
                </a:solidFill>
              </a:rPr>
              <a:t>Summarisation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7522A3F-3E17-0E40-57AE-3412C9765EFA}"/>
              </a:ext>
            </a:extLst>
          </p:cNvPr>
          <p:cNvSpPr/>
          <p:nvPr/>
        </p:nvSpPr>
        <p:spPr>
          <a:xfrm>
            <a:off x="440629" y="3708770"/>
            <a:ext cx="1866747" cy="544699"/>
          </a:xfrm>
          <a:prstGeom prst="roundRect">
            <a:avLst/>
          </a:prstGeom>
          <a:solidFill>
            <a:srgbClr val="E6E6E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70C0"/>
                </a:solidFill>
              </a:rPr>
              <a:t>Categorisation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A611F08-552A-2125-210E-34BC25AA9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971" y="2386489"/>
            <a:ext cx="436084" cy="43608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D96FDD7-3953-E87F-FEBD-27287D7D8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069" y="2386489"/>
            <a:ext cx="436084" cy="43608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F20E221-8C10-579F-D6C7-FB8FC95BB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069" y="3498368"/>
            <a:ext cx="436084" cy="43608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9EADBBB-6CBE-2212-69F0-74261430B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7233" y="3485360"/>
            <a:ext cx="495759" cy="49575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79AF812-C7C4-089B-8F04-0AEA8C885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233" y="2386489"/>
            <a:ext cx="436084" cy="4360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B9EF7D-5885-233A-83CE-8012B2C0F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0133" y="3460890"/>
            <a:ext cx="495759" cy="49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2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98461"/>
            <a:ext cx="3012140" cy="544699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533164" y="4497303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b="1" i="1" dirty="0">
                <a:latin typeface="+mn-lt"/>
                <a:ea typeface="Roboto" panose="02020500000000000000" charset="0"/>
                <a:cs typeface="Arial" panose="020B0604020202020204" pitchFamily="34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91100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66562"/>
            <a:ext cx="3012140" cy="544699"/>
          </a:xfrm>
          <a:prstGeom prst="rect">
            <a:avLst/>
          </a:prstGeom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id="{DC5CE5F9-B7FD-85B9-4EF7-4D14D461FCDC}"/>
              </a:ext>
            </a:extLst>
          </p:cNvPr>
          <p:cNvSpPr txBox="1">
            <a:spLocks/>
          </p:cNvSpPr>
          <p:nvPr/>
        </p:nvSpPr>
        <p:spPr>
          <a:xfrm>
            <a:off x="291488" y="69774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i="1" dirty="0">
                <a:latin typeface="+mn-lt"/>
                <a:ea typeface="Roboto" panose="02020500000000000000" charset="0"/>
                <a:cs typeface="Arial" panose="020B0604020202020204" pitchFamily="34" charset="0"/>
              </a:rPr>
              <a:t>How SPARK differs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12293E-7369-2CAF-7129-30C7D6866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87605"/>
              </p:ext>
            </p:extLst>
          </p:nvPr>
        </p:nvGraphicFramePr>
        <p:xfrm>
          <a:off x="2351487" y="1854402"/>
          <a:ext cx="9315375" cy="41608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5125">
                  <a:extLst>
                    <a:ext uri="{9D8B030D-6E8A-4147-A177-3AD203B41FA5}">
                      <a16:colId xmlns:a16="http://schemas.microsoft.com/office/drawing/2014/main" val="1502594647"/>
                    </a:ext>
                  </a:extLst>
                </a:gridCol>
                <a:gridCol w="3105125">
                  <a:extLst>
                    <a:ext uri="{9D8B030D-6E8A-4147-A177-3AD203B41FA5}">
                      <a16:colId xmlns:a16="http://schemas.microsoft.com/office/drawing/2014/main" val="4015506187"/>
                    </a:ext>
                  </a:extLst>
                </a:gridCol>
                <a:gridCol w="3105125">
                  <a:extLst>
                    <a:ext uri="{9D8B030D-6E8A-4147-A177-3AD203B41FA5}">
                      <a16:colId xmlns:a16="http://schemas.microsoft.com/office/drawing/2014/main" val="2270137567"/>
                    </a:ext>
                  </a:extLst>
                </a:gridCol>
              </a:tblGrid>
              <a:tr h="8321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1" dirty="0"/>
                        <a:t>SPARK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1" dirty="0"/>
                        <a:t>Outlook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1" dirty="0"/>
                        <a:t>NOVA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81764"/>
                  </a:ext>
                </a:extLst>
              </a:tr>
              <a:tr h="8321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87043"/>
                  </a:ext>
                </a:extLst>
              </a:tr>
              <a:tr h="8321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GB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Rule-based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85046"/>
                  </a:ext>
                </a:extLst>
              </a:tr>
              <a:tr h="8321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Team-based</a:t>
                      </a:r>
                      <a:endParaRPr lang="en-GB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473607"/>
                  </a:ext>
                </a:extLst>
              </a:tr>
              <a:tr h="8321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 alone application</a:t>
                      </a:r>
                      <a:endParaRPr lang="en-GB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Stand alone application</a:t>
                      </a:r>
                      <a:endParaRPr lang="en-GB" dirty="0"/>
                    </a:p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Office Add-In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0574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DB4F14-74FA-2826-741E-7F1D41AC7367}"/>
              </a:ext>
            </a:extLst>
          </p:cNvPr>
          <p:cNvSpPr/>
          <p:nvPr/>
        </p:nvSpPr>
        <p:spPr>
          <a:xfrm>
            <a:off x="332369" y="5296296"/>
            <a:ext cx="1866747" cy="544699"/>
          </a:xfrm>
          <a:prstGeom prst="roundRect">
            <a:avLst/>
          </a:prstGeom>
          <a:solidFill>
            <a:srgbClr val="E6E6E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Deployment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136D5A-ABBF-028D-3DB3-C28567F5DBC5}"/>
              </a:ext>
            </a:extLst>
          </p:cNvPr>
          <p:cNvSpPr/>
          <p:nvPr/>
        </p:nvSpPr>
        <p:spPr>
          <a:xfrm>
            <a:off x="332369" y="4460805"/>
            <a:ext cx="1866747" cy="544699"/>
          </a:xfrm>
          <a:prstGeom prst="roundRect">
            <a:avLst/>
          </a:prstGeom>
          <a:solidFill>
            <a:srgbClr val="E6E6E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Proposition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5BFFF7-C80D-9E95-D0FA-83524ADDFBD0}"/>
              </a:ext>
            </a:extLst>
          </p:cNvPr>
          <p:cNvSpPr/>
          <p:nvPr/>
        </p:nvSpPr>
        <p:spPr>
          <a:xfrm>
            <a:off x="343875" y="3625314"/>
            <a:ext cx="1866747" cy="544699"/>
          </a:xfrm>
          <a:prstGeom prst="roundRect">
            <a:avLst/>
          </a:prstGeom>
          <a:solidFill>
            <a:srgbClr val="E6E6E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70C0"/>
                </a:solidFill>
              </a:rPr>
              <a:t>Batch Operation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540AF2-F7E3-9D55-4ECA-F16802FE5BE2}"/>
              </a:ext>
            </a:extLst>
          </p:cNvPr>
          <p:cNvSpPr/>
          <p:nvPr/>
        </p:nvSpPr>
        <p:spPr>
          <a:xfrm>
            <a:off x="343875" y="2812565"/>
            <a:ext cx="1866747" cy="544699"/>
          </a:xfrm>
          <a:prstGeom prst="roundRect">
            <a:avLst/>
          </a:prstGeom>
          <a:solidFill>
            <a:srgbClr val="E6E6E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70C0"/>
                </a:solidFill>
              </a:rPr>
              <a:t>AI Capability</a:t>
            </a:r>
          </a:p>
        </p:txBody>
      </p:sp>
    </p:spTree>
    <p:extLst>
      <p:ext uri="{BB962C8B-B14F-4D97-AF65-F5344CB8AC3E}">
        <p14:creationId xmlns:p14="http://schemas.microsoft.com/office/powerpoint/2010/main" val="2066108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98461"/>
            <a:ext cx="3012140" cy="544699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4754881" y="2884587"/>
            <a:ext cx="2761610" cy="1331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000" b="1" kern="0" dirty="0">
                <a:latin typeface="+mn-lt"/>
                <a:ea typeface="Roboto" panose="02020500000000000000" charset="0"/>
                <a:cs typeface="Arial" panose="020B0604020202020204" pitchFamily="34" charset="0"/>
                <a:sym typeface="Roboto"/>
              </a:rPr>
              <a:t>Q &amp; A</a:t>
            </a:r>
            <a:endParaRPr lang="en-GB" sz="5000" dirty="0">
              <a:latin typeface="+mn-lt"/>
              <a:ea typeface="Roboto" panose="0202050000000000000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30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78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87796"/>
            <a:ext cx="3012140" cy="544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78106"/>
            <a:ext cx="12192000" cy="21761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5969959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759200"/>
            <a:ext cx="10515600" cy="1375229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rgbClr val="4C24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36735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44FBE92949FF498A292267649BA32F" ma:contentTypeVersion="2" ma:contentTypeDescription="Create a new document." ma:contentTypeScope="" ma:versionID="aae89019408edec735598889a18020f4">
  <xsd:schema xmlns:xsd="http://www.w3.org/2001/XMLSchema" xmlns:xs="http://www.w3.org/2001/XMLSchema" xmlns:p="http://schemas.microsoft.com/office/2006/metadata/properties" xmlns:ns2="5b6591ad-ea12-4171-9f8d-d3da4e6d0b71" targetNamespace="http://schemas.microsoft.com/office/2006/metadata/properties" ma:root="true" ma:fieldsID="ff9dfd69c85da2a004e24f7fef732fe4" ns2:_="">
    <xsd:import namespace="5b6591ad-ea12-4171-9f8d-d3da4e6d0b7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6591ad-ea12-4171-9f8d-d3da4e6d0b7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E0C779-4233-46AE-97DE-52E52F552918}"/>
</file>

<file path=customXml/itemProps2.xml><?xml version="1.0" encoding="utf-8"?>
<ds:datastoreItem xmlns:ds="http://schemas.openxmlformats.org/officeDocument/2006/customXml" ds:itemID="{4FCC4CF1-44BD-453B-891B-2A44097BD429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64fff0f4-b8b1-4c00-b231-c861646c274a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9930AB0-7A63-4AE8-BD1A-808D47E493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8709</TotalTime>
  <Words>330</Words>
  <Application>Microsoft Office PowerPoint</Application>
  <PresentationFormat>Widescreen</PresentationFormat>
  <Paragraphs>106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Calibri (MS)</vt:lpstr>
      <vt:lpstr>Calibri (MS) Bold</vt:lpstr>
      <vt:lpstr>Muli Semi-Bold</vt:lpstr>
      <vt:lpstr>Space Grotesk</vt:lpstr>
      <vt:lpstr>Arial</vt:lpstr>
      <vt:lpstr>Calibri</vt:lpstr>
      <vt:lpstr>Calibri Light</vt:lpstr>
      <vt:lpstr>Hind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Increase Productivity by corporate mobile   Complete the implementation of application tunnelling - WSO</dc:title>
  <dc:creator>CHAN Wing-suet, Rosy</dc:creator>
  <cp:lastModifiedBy>LAM Yeuk-yu, Oscar</cp:lastModifiedBy>
  <cp:revision>115</cp:revision>
  <dcterms:created xsi:type="dcterms:W3CDTF">2025-06-04T13:35:33Z</dcterms:created>
  <dcterms:modified xsi:type="dcterms:W3CDTF">2025-12-17T08:30:43Z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0x010100BC44FBE92949FF498A292267649BA32F</vt:lpwstr>
  </property>
</Properties>
</file>